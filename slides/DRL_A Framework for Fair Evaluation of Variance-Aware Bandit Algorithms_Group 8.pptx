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charts/chart2.xml" ContentType="application/vnd.openxmlformats-officedocument.drawingml.chart+xml"/>
  <Override PartName="/ppt/notesSlides/notesSlide17.xml" ContentType="application/vnd.openxmlformats-officedocument.presentationml.notesSlide+xml"/>
  <Override PartName="/ppt/charts/chart3.xml" ContentType="application/vnd.openxmlformats-officedocument.drawingml.chart+xml"/>
  <Override PartName="/ppt/notesSlides/notesSlide18.xml" ContentType="application/vnd.openxmlformats-officedocument.presentationml.notesSlide+xml"/>
  <Override PartName="/ppt/charts/chart4.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9" r:id="rId3"/>
    <p:sldId id="260" r:id="rId4"/>
    <p:sldId id="261" r:id="rId5"/>
    <p:sldId id="279" r:id="rId6"/>
    <p:sldId id="263" r:id="rId7"/>
    <p:sldId id="264" r:id="rId8"/>
    <p:sldId id="265" r:id="rId9"/>
    <p:sldId id="266" r:id="rId10"/>
    <p:sldId id="280" r:id="rId11"/>
    <p:sldId id="283" r:id="rId12"/>
    <p:sldId id="277" r:id="rId13"/>
    <p:sldId id="278" r:id="rId14"/>
    <p:sldId id="281" r:id="rId15"/>
    <p:sldId id="268" r:id="rId16"/>
    <p:sldId id="269" r:id="rId17"/>
    <p:sldId id="270" r:id="rId18"/>
    <p:sldId id="271" r:id="rId19"/>
    <p:sldId id="273" r:id="rId20"/>
    <p:sldId id="282" r:id="rId21"/>
    <p:sldId id="274" r:id="rId22"/>
    <p:sldId id="275" r:id="rId23"/>
    <p:sldId id="284"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3A4468"/>
                </a:solidFill>
                <a:latin typeface="Calibri"/>
              </a:defRPr>
            </a:pPr>
            <a:r>
              <a:rPr lang="en-US" sz="1250" b="0" i="0" u="none" strike="noStrike">
                <a:solidFill>
                  <a:srgbClr val="3A4468"/>
                </a:solidFill>
                <a:latin typeface="Calibri"/>
              </a:rPr>
              <a:t>Average Regret after 1M steps (lower is better)</a:t>
            </a:r>
          </a:p>
        </c:rich>
      </c:tx>
      <c:overlay val="0"/>
    </c:title>
    <c:autoTitleDeleted val="0"/>
    <c:plotArea>
      <c:layout/>
      <c:barChart>
        <c:barDir val="col"/>
        <c:grouping val="clustered"/>
        <c:varyColors val="0"/>
        <c:ser>
          <c:idx val="0"/>
          <c:order val="0"/>
          <c:tx>
            <c:strRef>
              <c:f>Sheet1!$B$1</c:f>
              <c:strCache>
                <c:ptCount val="1"/>
                <c:pt idx="0">
                  <c:v>Average Regret</c:v>
                </c:pt>
              </c:strCache>
            </c:strRef>
          </c:tx>
          <c:spPr>
            <a:solidFill>
              <a:srgbClr val="1E2761"/>
            </a:solidFill>
            <a:effectLst/>
          </c:spPr>
          <c:invertIfNegative val="0"/>
          <c:dLbls>
            <c:numFmt formatCode="#,##0.00" sourceLinked="0"/>
            <c:spPr>
              <a:noFill/>
              <a:ln>
                <a:noFill/>
              </a:ln>
              <a:effectLst/>
            </c:spPr>
            <c:txPr>
              <a:bodyPr/>
              <a:lstStyle/>
              <a:p>
                <a:pPr>
                  <a:defRPr sz="1000" b="0" i="0" u="none" strike="noStrike">
                    <a:solidFill>
                      <a:srgbClr val="1B1F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ETC
(m=100)</c:v>
                </c:pt>
                <c:pt idx="1">
                  <c:v>UCB-
Tuned</c:v>
                </c:pt>
                <c:pt idx="2">
                  <c:v>EUCBV</c:v>
                </c:pt>
                <c:pt idx="3">
                  <c:v>PAC-
UCB</c:v>
                </c:pt>
                <c:pt idx="4">
                  <c:v>UCB-V</c:v>
                </c:pt>
                <c:pt idx="5">
                  <c:v>UCB</c:v>
                </c:pt>
              </c:strCache>
            </c:strRef>
          </c:cat>
          <c:val>
            <c:numRef>
              <c:f>Sheet1!$B$2:$B$7</c:f>
              <c:numCache>
                <c:formatCode>General</c:formatCode>
                <c:ptCount val="6"/>
                <c:pt idx="0">
                  <c:v>10.1</c:v>
                </c:pt>
                <c:pt idx="1">
                  <c:v>30.67</c:v>
                </c:pt>
                <c:pt idx="2">
                  <c:v>47.73</c:v>
                </c:pt>
                <c:pt idx="3">
                  <c:v>99.5</c:v>
                </c:pt>
                <c:pt idx="4">
                  <c:v>109.93</c:v>
                </c:pt>
                <c:pt idx="5">
                  <c:v>238.17</c:v>
                </c:pt>
              </c:numCache>
            </c:numRef>
          </c:val>
          <c:extLst>
            <c:ext xmlns:c16="http://schemas.microsoft.com/office/drawing/2014/chart" uri="{C3380CC4-5D6E-409C-BE32-E72D297353CC}">
              <c16:uniqueId val="{00000000-C42B-4EAD-B2B0-3D54D0061C8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A4468"/>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5E9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A4468"/>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3A4468"/>
                </a:solidFill>
                <a:latin typeface="Calibri"/>
              </a:defRPr>
            </a:pPr>
            <a:r>
              <a:rPr lang="en-US" sz="1250" b="0" i="0" u="none" strike="noStrike">
                <a:solidFill>
                  <a:srgbClr val="3A4468"/>
                </a:solidFill>
                <a:latin typeface="Calibri"/>
              </a:rPr>
              <a:t>Average Regret after 1M steps (lower is better)</a:t>
            </a:r>
          </a:p>
        </c:rich>
      </c:tx>
      <c:overlay val="0"/>
    </c:title>
    <c:autoTitleDeleted val="0"/>
    <c:plotArea>
      <c:layout/>
      <c:barChart>
        <c:barDir val="col"/>
        <c:grouping val="clustered"/>
        <c:varyColors val="0"/>
        <c:ser>
          <c:idx val="0"/>
          <c:order val="0"/>
          <c:tx>
            <c:strRef>
              <c:f>Sheet1!$B$1</c:f>
              <c:strCache>
                <c:ptCount val="1"/>
                <c:pt idx="0">
                  <c:v>Average Regret</c:v>
                </c:pt>
              </c:strCache>
            </c:strRef>
          </c:tx>
          <c:spPr>
            <a:solidFill>
              <a:srgbClr val="6D2E46"/>
            </a:solidFill>
            <a:effectLst/>
          </c:spPr>
          <c:invertIfNegative val="0"/>
          <c:dLbls>
            <c:numFmt formatCode="#,##0.00" sourceLinked="0"/>
            <c:spPr>
              <a:noFill/>
              <a:ln>
                <a:noFill/>
              </a:ln>
              <a:effectLst/>
            </c:spPr>
            <c:txPr>
              <a:bodyPr/>
              <a:lstStyle/>
              <a:p>
                <a:pPr>
                  <a:defRPr sz="950" b="0" i="0" u="none" strike="noStrike">
                    <a:solidFill>
                      <a:srgbClr val="1B1F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ETC
(m=10k)</c:v>
                </c:pt>
                <c:pt idx="1">
                  <c:v>UCB-
Tuned</c:v>
                </c:pt>
                <c:pt idx="2">
                  <c:v>PAC-
UCB</c:v>
                </c:pt>
                <c:pt idx="3">
                  <c:v>UCB-V</c:v>
                </c:pt>
                <c:pt idx="4">
                  <c:v>EUCBV</c:v>
                </c:pt>
                <c:pt idx="5">
                  <c:v>Greedy
(ε=0.05)</c:v>
                </c:pt>
                <c:pt idx="6">
                  <c:v>UCB</c:v>
                </c:pt>
              </c:strCache>
            </c:strRef>
          </c:cat>
          <c:val>
            <c:numRef>
              <c:f>Sheet1!$B$2:$B$8</c:f>
              <c:numCache>
                <c:formatCode>General</c:formatCode>
                <c:ptCount val="7"/>
                <c:pt idx="0">
                  <c:v>150.66</c:v>
                </c:pt>
                <c:pt idx="1">
                  <c:v>212.21</c:v>
                </c:pt>
                <c:pt idx="2">
                  <c:v>395.89</c:v>
                </c:pt>
                <c:pt idx="3">
                  <c:v>346.58</c:v>
                </c:pt>
                <c:pt idx="4">
                  <c:v>461.36</c:v>
                </c:pt>
                <c:pt idx="5">
                  <c:v>361.97</c:v>
                </c:pt>
                <c:pt idx="6">
                  <c:v>1127.17</c:v>
                </c:pt>
              </c:numCache>
            </c:numRef>
          </c:val>
          <c:extLst>
            <c:ext xmlns:c16="http://schemas.microsoft.com/office/drawing/2014/chart" uri="{C3380CC4-5D6E-409C-BE32-E72D297353CC}">
              <c16:uniqueId val="{00000000-DD9D-4EB3-A161-132897D5FE5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3A4468"/>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5E9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A4468"/>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3A4468"/>
                </a:solidFill>
                <a:latin typeface="Calibri"/>
              </a:defRPr>
            </a:pPr>
            <a:r>
              <a:rPr lang="en-US" sz="1250" b="0" i="0" u="none" strike="noStrike">
                <a:solidFill>
                  <a:srgbClr val="3A4468"/>
                </a:solidFill>
                <a:latin typeface="Calibri"/>
              </a:rPr>
              <a:t>Average Regret after 1M steps (lower is better)</a:t>
            </a:r>
          </a:p>
        </c:rich>
      </c:tx>
      <c:overlay val="0"/>
    </c:title>
    <c:autoTitleDeleted val="0"/>
    <c:plotArea>
      <c:layout/>
      <c:barChart>
        <c:barDir val="col"/>
        <c:grouping val="clustered"/>
        <c:varyColors val="0"/>
        <c:ser>
          <c:idx val="0"/>
          <c:order val="0"/>
          <c:tx>
            <c:strRef>
              <c:f>Sheet1!$B$1</c:f>
              <c:strCache>
                <c:ptCount val="1"/>
                <c:pt idx="0">
                  <c:v>Average Regret</c:v>
                </c:pt>
              </c:strCache>
            </c:strRef>
          </c:tx>
          <c:spPr>
            <a:solidFill>
              <a:srgbClr val="3A4468"/>
            </a:solidFill>
            <a:effectLst/>
          </c:spPr>
          <c:invertIfNegative val="0"/>
          <c:dLbls>
            <c:numFmt formatCode="#,##0.00" sourceLinked="0"/>
            <c:spPr>
              <a:noFill/>
              <a:ln>
                <a:noFill/>
              </a:ln>
              <a:effectLst/>
            </c:spPr>
            <c:txPr>
              <a:bodyPr/>
              <a:lstStyle/>
              <a:p>
                <a:pPr>
                  <a:defRPr sz="900" b="0" i="0" u="none" strike="noStrike">
                    <a:solidFill>
                      <a:srgbClr val="1B1F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ETC
(m=10k)</c:v>
                </c:pt>
                <c:pt idx="1">
                  <c:v>Greedy
(ε=0.05)</c:v>
                </c:pt>
                <c:pt idx="2">
                  <c:v>ETC
(m=100k)</c:v>
                </c:pt>
                <c:pt idx="3">
                  <c:v>UCB-
Tuned</c:v>
                </c:pt>
                <c:pt idx="4">
                  <c:v>UCB-V</c:v>
                </c:pt>
                <c:pt idx="5">
                  <c:v>PAC-
UCB</c:v>
                </c:pt>
                <c:pt idx="6">
                  <c:v>EUCBV</c:v>
                </c:pt>
                <c:pt idx="7">
                  <c:v>UCB</c:v>
                </c:pt>
              </c:strCache>
            </c:strRef>
          </c:cat>
          <c:val>
            <c:numRef>
              <c:f>Sheet1!$B$2:$B$9</c:f>
              <c:numCache>
                <c:formatCode>General</c:formatCode>
                <c:ptCount val="8"/>
                <c:pt idx="0">
                  <c:v>170.53</c:v>
                </c:pt>
                <c:pt idx="1">
                  <c:v>301.55</c:v>
                </c:pt>
                <c:pt idx="2">
                  <c:v>500</c:v>
                </c:pt>
                <c:pt idx="3">
                  <c:v>226.09</c:v>
                </c:pt>
                <c:pt idx="4">
                  <c:v>367.65</c:v>
                </c:pt>
                <c:pt idx="5">
                  <c:v>417.34</c:v>
                </c:pt>
                <c:pt idx="6">
                  <c:v>476.31</c:v>
                </c:pt>
                <c:pt idx="7">
                  <c:v>1172.57</c:v>
                </c:pt>
              </c:numCache>
            </c:numRef>
          </c:val>
          <c:extLst>
            <c:ext xmlns:c16="http://schemas.microsoft.com/office/drawing/2014/chart" uri="{C3380CC4-5D6E-409C-BE32-E72D297353CC}">
              <c16:uniqueId val="{00000000-9323-45B8-8516-43CDF7F6B1E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A4468"/>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5E9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A4468"/>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3A4468"/>
                </a:solidFill>
                <a:latin typeface="Calibri"/>
              </a:defRPr>
            </a:pPr>
            <a:r>
              <a:rPr lang="en-US" sz="1200" b="0" i="0" u="none" strike="noStrike">
                <a:solidFill>
                  <a:srgbClr val="3A4468"/>
                </a:solidFill>
                <a:latin typeface="Calibri"/>
              </a:rPr>
              <a:t>Average Regret: classical UCB vs. UCB-Tuned</a:t>
            </a:r>
          </a:p>
        </c:rich>
      </c:tx>
      <c:overlay val="0"/>
    </c:title>
    <c:autoTitleDeleted val="0"/>
    <c:plotArea>
      <c:layout/>
      <c:barChart>
        <c:barDir val="col"/>
        <c:grouping val="clustered"/>
        <c:varyColors val="0"/>
        <c:ser>
          <c:idx val="0"/>
          <c:order val="0"/>
          <c:tx>
            <c:strRef>
              <c:f>Sheet1!$B$1</c:f>
              <c:strCache>
                <c:ptCount val="1"/>
                <c:pt idx="0">
                  <c:v>UCB</c:v>
                </c:pt>
              </c:strCache>
            </c:strRef>
          </c:tx>
          <c:spPr>
            <a:solidFill>
              <a:srgbClr val="3A4468"/>
            </a:solidFill>
            <a:effectLst/>
          </c:spPr>
          <c:invertIfNegative val="0"/>
          <c:dLbls>
            <c:numFmt formatCode="#,##0.00" sourceLinked="0"/>
            <c:spPr>
              <a:noFill/>
              <a:ln>
                <a:noFill/>
              </a:ln>
              <a:effectLst/>
            </c:spPr>
            <c:txPr>
              <a:bodyPr/>
              <a:lstStyle/>
              <a:p>
                <a:pPr>
                  <a:defRPr sz="900" b="0" i="0" u="none" strike="noStrike">
                    <a:solidFill>
                      <a:srgbClr val="1B1F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Scenario A
(gap=0.10)</c:v>
              </c:pt>
              <c:pt idx="1">
                <c:v>Scenario B
(gap=0.005, Micro-Gap 1)</c:v>
              </c:pt>
              <c:pt idx="2">
                <c:v>Scenario C
(gap=0.005, Micro-Gap 2)</c:v>
              </c:pt>
            </c:strLit>
          </c:cat>
          <c:val>
            <c:numRef>
              <c:f>Sheet1!$B$2:$B$4</c:f>
              <c:numCache>
                <c:formatCode>General</c:formatCode>
                <c:ptCount val="3"/>
                <c:pt idx="0">
                  <c:v>238.17</c:v>
                </c:pt>
                <c:pt idx="1">
                  <c:v>1127.17</c:v>
                </c:pt>
                <c:pt idx="2">
                  <c:v>1172.57</c:v>
                </c:pt>
              </c:numCache>
            </c:numRef>
          </c:val>
          <c:extLst>
            <c:ext xmlns:c16="http://schemas.microsoft.com/office/drawing/2014/chart" uri="{C3380CC4-5D6E-409C-BE32-E72D297353CC}">
              <c16:uniqueId val="{00000000-AFE6-437B-B9F1-8FFBA0EB0535}"/>
            </c:ext>
          </c:extLst>
        </c:ser>
        <c:ser>
          <c:idx val="1"/>
          <c:order val="1"/>
          <c:tx>
            <c:strRef>
              <c:f>Sheet1!$C$1</c:f>
              <c:strCache>
                <c:ptCount val="1"/>
                <c:pt idx="0">
                  <c:v>UCB-Tuned</c:v>
                </c:pt>
              </c:strCache>
            </c:strRef>
          </c:tx>
          <c:spPr>
            <a:solidFill>
              <a:srgbClr val="F2A93B"/>
            </a:solidFill>
            <a:effectLst/>
          </c:spPr>
          <c:invertIfNegative val="0"/>
          <c:dLbls>
            <c:numFmt formatCode="#,##0.00" sourceLinked="0"/>
            <c:spPr>
              <a:noFill/>
              <a:ln>
                <a:noFill/>
              </a:ln>
              <a:effectLst/>
            </c:spPr>
            <c:txPr>
              <a:bodyPr/>
              <a:lstStyle/>
              <a:p>
                <a:pPr>
                  <a:defRPr sz="900" b="0" i="0" u="none" strike="noStrike">
                    <a:solidFill>
                      <a:srgbClr val="1B1F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Scenario A
(gap=0.10)</c:v>
              </c:pt>
              <c:pt idx="1">
                <c:v>Scenario B
(gap=0.005, Micro-Gap 1)</c:v>
              </c:pt>
              <c:pt idx="2">
                <c:v>Scenario C
(gap=0.005, Micro-Gap 2)</c:v>
              </c:pt>
            </c:strLit>
          </c:cat>
          <c:val>
            <c:numRef>
              <c:f>Sheet1!$C$2:$C$4</c:f>
              <c:numCache>
                <c:formatCode>General</c:formatCode>
                <c:ptCount val="3"/>
                <c:pt idx="0">
                  <c:v>30.67</c:v>
                </c:pt>
                <c:pt idx="1">
                  <c:v>212.21</c:v>
                </c:pt>
                <c:pt idx="2">
                  <c:v>226.09</c:v>
                </c:pt>
              </c:numCache>
            </c:numRef>
          </c:val>
          <c:extLst>
            <c:ext xmlns:c16="http://schemas.microsoft.com/office/drawing/2014/chart" uri="{C3380CC4-5D6E-409C-BE32-E72D297353CC}">
              <c16:uniqueId val="{00000001-AFE6-437B-B9F1-8FFBA0EB0535}"/>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A4468"/>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5E9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3A4468"/>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1000">
              <a:solidFill>
                <a:srgbClr val="1B1F33"/>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7759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a:p>
        </p:txBody>
      </p:sp>
    </p:spTree>
    <p:extLst>
      <p:ext uri="{BB962C8B-B14F-4D97-AF65-F5344CB8AC3E}">
        <p14:creationId xmlns:p14="http://schemas.microsoft.com/office/powerpoint/2010/main" val="23820080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43762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rxiv.org/abs/2510.27001"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hyperlink" Target="https://colab.research.google.com/drive/12wYpQO9rKBayrKtyaUzfeYI8mZ7LpP2X?usp=sharing"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hyperlink" Target="https://github.com/CSB-sys/drl-group8-bandit-analysis"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eelisee/bandit_playground"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https://github.com/CSB-sys/drl-group8-bandit-analysis"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s://arxiv.org/abs/2510.27001"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8" Type="http://schemas.openxmlformats.org/officeDocument/2006/relationships/hyperlink" Target="https://drive.google.com/file/d/1SuPXFjT0oDmU_ZsAzD_fhdtOoxTqMz7e/view?usp=sharing" TargetMode="External"/><Relationship Id="rId3" Type="http://schemas.openxmlformats.org/officeDocument/2006/relationships/hyperlink" Target="https://arxiv.org/abs/2510.27001" TargetMode="External"/><Relationship Id="rId7" Type="http://schemas.openxmlformats.org/officeDocument/2006/relationships/hyperlink" Target="https://github.com/CSB-sys/drl-group8-bandit-analysis/tree/main/handwritten"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hyperlink" Target="https://colab.research.google.com/drive/12wYpQO9rKBayrKtyaUzfeYI8mZ7LpP2X?usp=sharing" TargetMode="External"/><Relationship Id="rId5" Type="http://schemas.openxmlformats.org/officeDocument/2006/relationships/hyperlink" Target="https://github.com/CSB-sys/drl-group8-bandit-analysis" TargetMode="External"/><Relationship Id="rId4" Type="http://schemas.openxmlformats.org/officeDocument/2006/relationships/hyperlink" Target="https://github.com/eelisee/bandit_playground"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371600"/>
          </a:xfrm>
          <a:prstGeom prst="rect">
            <a:avLst/>
          </a:prstGeom>
          <a:solidFill>
            <a:srgbClr val="141B45"/>
          </a:solidFill>
          <a:ln/>
        </p:spPr>
        <p:txBody>
          <a:bodyPr/>
          <a:lstStyle/>
          <a:p>
            <a:endParaRPr lang="en-US"/>
          </a:p>
        </p:txBody>
      </p:sp>
      <p:sp>
        <p:nvSpPr>
          <p:cNvPr id="3" name="Text 1"/>
          <p:cNvSpPr txBox="1"/>
          <p:nvPr/>
        </p:nvSpPr>
        <p:spPr>
          <a:xfrm>
            <a:off x="548640" y="256032"/>
            <a:ext cx="10972800" cy="320040"/>
          </a:xfrm>
          <a:prstGeom prst="rect">
            <a:avLst/>
          </a:prstGeom>
          <a:noFill/>
          <a:ln/>
        </p:spPr>
        <p:txBody>
          <a:bodyPr wrap="square" lIns="0" tIns="0" rIns="0" bIns="0" rtlCol="0" anchor="ctr"/>
          <a:lstStyle/>
          <a:p>
            <a:pPr marL="0" indent="0">
              <a:buNone/>
            </a:pPr>
            <a:r>
              <a:rPr lang="en-US" sz="1300" b="1" dirty="0">
                <a:solidFill>
                  <a:srgbClr val="F2A93B"/>
                </a:solidFill>
                <a:latin typeface="Calibri" pitchFamily="34" charset="0"/>
                <a:ea typeface="Calibri" pitchFamily="34" charset="-122"/>
                <a:cs typeface="Calibri" pitchFamily="34" charset="-120"/>
              </a:rPr>
              <a:t>BITS PILANI (WORK INTEGRATED LEARNING PROGRAMMES)</a:t>
            </a:r>
            <a:endParaRPr lang="en-US" sz="1300" dirty="0"/>
          </a:p>
        </p:txBody>
      </p:sp>
      <p:sp>
        <p:nvSpPr>
          <p:cNvPr id="4" name="Text 2"/>
          <p:cNvSpPr txBox="1"/>
          <p:nvPr/>
        </p:nvSpPr>
        <p:spPr>
          <a:xfrm>
            <a:off x="548640" y="658368"/>
            <a:ext cx="1097280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Deep Reinforcement Learning — Assignment Problem 1  </a:t>
            </a:r>
            <a:endParaRPr lang="en-US" sz="1300" dirty="0"/>
          </a:p>
        </p:txBody>
      </p:sp>
      <p:sp>
        <p:nvSpPr>
          <p:cNvPr id="5" name="Text 3"/>
          <p:cNvSpPr txBox="1"/>
          <p:nvPr/>
        </p:nvSpPr>
        <p:spPr>
          <a:xfrm>
            <a:off x="548640" y="1965960"/>
            <a:ext cx="11064240" cy="1554480"/>
          </a:xfrm>
          <a:prstGeom prst="rect">
            <a:avLst/>
          </a:prstGeom>
          <a:noFill/>
          <a:ln/>
        </p:spPr>
        <p:txBody>
          <a:bodyPr wrap="square" lIns="0" tIns="0" rIns="0" bIns="0" rtlCol="0" anchor="ctr"/>
          <a:lstStyle/>
          <a:p>
            <a:pPr marL="0" indent="0">
              <a:lnSpc>
                <a:spcPct val="110000"/>
              </a:lnSpc>
              <a:buNone/>
            </a:pPr>
            <a:r>
              <a:rPr lang="en-US" sz="3400" b="1" dirty="0">
                <a:solidFill>
                  <a:srgbClr val="1E2761"/>
                </a:solidFill>
                <a:latin typeface="Cambria" pitchFamily="34" charset="0"/>
                <a:ea typeface="Cambria" pitchFamily="34" charset="-122"/>
                <a:cs typeface="Cambria" pitchFamily="34" charset="-120"/>
              </a:rPr>
              <a:t>A Framework for Fair Evaluation of</a:t>
            </a:r>
            <a:endParaRPr lang="en-US" sz="3400" dirty="0"/>
          </a:p>
          <a:p>
            <a:pPr marL="0" indent="0">
              <a:lnSpc>
                <a:spcPct val="110000"/>
              </a:lnSpc>
              <a:buNone/>
            </a:pPr>
            <a:r>
              <a:rPr lang="en-US" sz="3400" b="1" dirty="0">
                <a:solidFill>
                  <a:srgbClr val="1E2761"/>
                </a:solidFill>
                <a:latin typeface="Cambria" pitchFamily="34" charset="0"/>
                <a:ea typeface="Cambria" pitchFamily="34" charset="-122"/>
                <a:cs typeface="Cambria" pitchFamily="34" charset="-120"/>
              </a:rPr>
              <a:t>Variance-Aware Bandit Algorithms</a:t>
            </a:r>
            <a:endParaRPr lang="en-US" sz="3400" dirty="0"/>
          </a:p>
        </p:txBody>
      </p:sp>
      <p:sp>
        <p:nvSpPr>
          <p:cNvPr id="6" name="Text 4"/>
          <p:cNvSpPr txBox="1"/>
          <p:nvPr/>
        </p:nvSpPr>
        <p:spPr>
          <a:xfrm>
            <a:off x="548640" y="3429000"/>
            <a:ext cx="10972800" cy="365760"/>
          </a:xfrm>
          <a:prstGeom prst="rect">
            <a:avLst/>
          </a:prstGeom>
          <a:noFill/>
          <a:ln/>
        </p:spPr>
        <p:txBody>
          <a:bodyPr wrap="square" lIns="0" tIns="0" rIns="0" bIns="0" rtlCol="0" anchor="ctr"/>
          <a:lstStyle/>
          <a:p>
            <a:pPr marL="0" indent="0">
              <a:buNone/>
            </a:pPr>
            <a:r>
              <a:rPr lang="en-US" sz="1350" i="1" dirty="0">
                <a:solidFill>
                  <a:srgbClr val="3A4468"/>
                </a:solidFill>
                <a:latin typeface="Calibri" pitchFamily="34" charset="0"/>
                <a:ea typeface="Calibri" pitchFamily="34" charset="-122"/>
                <a:cs typeface="Calibri" pitchFamily="34" charset="-120"/>
              </a:rPr>
              <a:t>Elise Wolf, University of Mannheim — </a:t>
            </a:r>
            <a:r>
              <a:rPr lang="en-US" sz="1350" i="1" dirty="0">
                <a:solidFill>
                  <a:srgbClr val="3A4468"/>
                </a:solidFill>
                <a:latin typeface="Calibri" pitchFamily="34" charset="0"/>
                <a:ea typeface="Calibri" pitchFamily="34" charset="-122"/>
                <a:cs typeface="Calibri" pitchFamily="34" charset="-120"/>
                <a:hlinkClick r:id="rId3"/>
              </a:rPr>
              <a:t>arXiv:2510.27001</a:t>
            </a:r>
            <a:r>
              <a:rPr lang="en-US" sz="1350" i="1" dirty="0">
                <a:solidFill>
                  <a:srgbClr val="3A4468"/>
                </a:solidFill>
                <a:latin typeface="Calibri" pitchFamily="34" charset="0"/>
                <a:ea typeface="Calibri" pitchFamily="34" charset="-122"/>
                <a:cs typeface="Calibri" pitchFamily="34" charset="-120"/>
              </a:rPr>
              <a:t> (2025)</a:t>
            </a:r>
            <a:endParaRPr lang="en-US" sz="1350" dirty="0"/>
          </a:p>
        </p:txBody>
      </p:sp>
      <p:sp>
        <p:nvSpPr>
          <p:cNvPr id="7" name="Shape 5"/>
          <p:cNvSpPr/>
          <p:nvPr/>
        </p:nvSpPr>
        <p:spPr>
          <a:xfrm>
            <a:off x="548640" y="3977640"/>
            <a:ext cx="11064240" cy="0"/>
          </a:xfrm>
          <a:prstGeom prst="line">
            <a:avLst/>
          </a:prstGeom>
          <a:noFill/>
          <a:ln w="12700">
            <a:solidFill>
              <a:srgbClr val="D5DAE8"/>
            </a:solidFill>
            <a:prstDash val="solid"/>
          </a:ln>
        </p:spPr>
        <p:txBody>
          <a:bodyPr/>
          <a:lstStyle/>
          <a:p>
            <a:endParaRPr lang="en-US"/>
          </a:p>
        </p:txBody>
      </p:sp>
      <p:sp>
        <p:nvSpPr>
          <p:cNvPr id="8" name="Text 6"/>
          <p:cNvSpPr txBox="1"/>
          <p:nvPr/>
        </p:nvSpPr>
        <p:spPr>
          <a:xfrm>
            <a:off x="548640" y="4206240"/>
            <a:ext cx="5486400" cy="36576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Group 8  —  Contributors</a:t>
            </a:r>
            <a:endParaRPr lang="en-US" sz="1500" dirty="0"/>
          </a:p>
        </p:txBody>
      </p:sp>
      <p:sp>
        <p:nvSpPr>
          <p:cNvPr id="9" name="Text 7"/>
          <p:cNvSpPr txBox="1"/>
          <p:nvPr/>
        </p:nvSpPr>
        <p:spPr>
          <a:xfrm>
            <a:off x="731520" y="4709160"/>
            <a:ext cx="7315200" cy="365760"/>
          </a:xfrm>
          <a:prstGeom prst="rect">
            <a:avLst/>
          </a:prstGeom>
          <a:noFill/>
          <a:ln/>
        </p:spPr>
        <p:txBody>
          <a:bodyPr wrap="square" lIns="0" tIns="0" rIns="0" bIns="0" rtlCol="0" anchor="ctr"/>
          <a:lstStyle/>
          <a:p>
            <a:pPr marL="0" indent="0">
              <a:buNone/>
            </a:pPr>
            <a:r>
              <a:rPr lang="en-US" sz="1350">
                <a:solidFill>
                  <a:srgbClr val="1B1F33"/>
                </a:solidFill>
                <a:latin typeface="Calibri" pitchFamily="34" charset="0"/>
                <a:ea typeface="Calibri" pitchFamily="34" charset="-122"/>
                <a:cs typeface="Calibri" pitchFamily="34" charset="-120"/>
              </a:rPr>
              <a:t>1.  CHANDAN SINGH BAGHEL  —  BITS ID: 2025AG05120</a:t>
            </a:r>
            <a:endParaRPr lang="en-US" sz="1350" dirty="0"/>
          </a:p>
        </p:txBody>
      </p:sp>
      <p:sp>
        <p:nvSpPr>
          <p:cNvPr id="10" name="Text 8"/>
          <p:cNvSpPr txBox="1"/>
          <p:nvPr/>
        </p:nvSpPr>
        <p:spPr>
          <a:xfrm>
            <a:off x="731520" y="5093208"/>
            <a:ext cx="7315200" cy="365760"/>
          </a:xfrm>
          <a:prstGeom prst="rect">
            <a:avLst/>
          </a:prstGeom>
          <a:noFill/>
          <a:ln/>
        </p:spPr>
        <p:txBody>
          <a:bodyPr wrap="square" lIns="0" tIns="0" rIns="0" bIns="0" rtlCol="0" anchor="ctr"/>
          <a:lstStyle/>
          <a:p>
            <a:pPr marL="0" indent="0">
              <a:buNone/>
            </a:pPr>
            <a:r>
              <a:rPr lang="sv-SE" sz="1350">
                <a:solidFill>
                  <a:srgbClr val="1B1F33"/>
                </a:solidFill>
                <a:latin typeface="Calibri" pitchFamily="34" charset="0"/>
                <a:ea typeface="Calibri" pitchFamily="34" charset="-122"/>
                <a:cs typeface="Calibri" pitchFamily="34" charset="-120"/>
              </a:rPr>
              <a:t>2.  DIVAKARAN RAMU  —  BITS ID: 2025AG05828</a:t>
            </a:r>
            <a:endParaRPr lang="en-US" sz="1350" dirty="0"/>
          </a:p>
        </p:txBody>
      </p:sp>
      <p:sp>
        <p:nvSpPr>
          <p:cNvPr id="11" name="Text 9"/>
          <p:cNvSpPr txBox="1"/>
          <p:nvPr/>
        </p:nvSpPr>
        <p:spPr>
          <a:xfrm>
            <a:off x="731520" y="5477256"/>
            <a:ext cx="7315200" cy="365760"/>
          </a:xfrm>
          <a:prstGeom prst="rect">
            <a:avLst/>
          </a:prstGeom>
          <a:noFill/>
          <a:ln/>
        </p:spPr>
        <p:txBody>
          <a:bodyPr wrap="square" lIns="0" tIns="0" rIns="0" bIns="0" rtlCol="0" anchor="ctr"/>
          <a:lstStyle/>
          <a:p>
            <a:pPr marL="0" indent="0">
              <a:buNone/>
            </a:pPr>
            <a:r>
              <a:rPr lang="sv-SE" sz="1350">
                <a:solidFill>
                  <a:srgbClr val="1B1F33"/>
                </a:solidFill>
                <a:latin typeface="Calibri" pitchFamily="34" charset="0"/>
                <a:ea typeface="Calibri" pitchFamily="34" charset="-122"/>
                <a:cs typeface="Calibri" pitchFamily="34" charset="-120"/>
              </a:rPr>
              <a:t>3.  KURELLA MADHULATHA  —  BITS ID: 2025AG05826</a:t>
            </a:r>
            <a:endParaRPr lang="en-US" sz="1350" dirty="0"/>
          </a:p>
        </p:txBody>
      </p:sp>
      <p:sp>
        <p:nvSpPr>
          <p:cNvPr id="12" name="Text 10"/>
          <p:cNvSpPr txBox="1"/>
          <p:nvPr/>
        </p:nvSpPr>
        <p:spPr>
          <a:xfrm>
            <a:off x="731520" y="5861304"/>
            <a:ext cx="7315200" cy="365760"/>
          </a:xfrm>
          <a:prstGeom prst="rect">
            <a:avLst/>
          </a:prstGeom>
          <a:noFill/>
          <a:ln/>
        </p:spPr>
        <p:txBody>
          <a:bodyPr wrap="square" lIns="0" tIns="0" rIns="0" bIns="0" rtlCol="0" anchor="ctr"/>
          <a:lstStyle/>
          <a:p>
            <a:pPr marL="0" indent="0">
              <a:buNone/>
            </a:pPr>
            <a:r>
              <a:rPr lang="en-US" sz="1350">
                <a:solidFill>
                  <a:srgbClr val="1B1F33"/>
                </a:solidFill>
                <a:latin typeface="Calibri" pitchFamily="34" charset="0"/>
                <a:ea typeface="Calibri" pitchFamily="34" charset="-122"/>
                <a:cs typeface="Calibri" pitchFamily="34" charset="-120"/>
              </a:rPr>
              <a:t>4.  AKASH CHOUDHURY  —  BITS ID: 2025AG05368</a:t>
            </a:r>
            <a:endParaRPr lang="en-US" sz="1350" dirty="0"/>
          </a:p>
        </p:txBody>
      </p:sp>
      <p:sp>
        <p:nvSpPr>
          <p:cNvPr id="13" name="Text 11"/>
          <p:cNvSpPr txBox="1"/>
          <p:nvPr/>
        </p:nvSpPr>
        <p:spPr>
          <a:xfrm>
            <a:off x="731520" y="6263640"/>
            <a:ext cx="9144000" cy="274320"/>
          </a:xfrm>
          <a:prstGeom prst="rect">
            <a:avLst/>
          </a:prstGeom>
          <a:noFill/>
          <a:ln/>
        </p:spPr>
        <p:txBody>
          <a:bodyPr wrap="square" lIns="0" tIns="0" rIns="0" bIns="0" rtlCol="0" anchor="ctr"/>
          <a:lstStyle/>
          <a:p>
            <a:r>
              <a:rPr lang="en-US" sz="900" i="1">
                <a:solidFill>
                  <a:srgbClr val="8894B0"/>
                </a:solidFill>
                <a:latin typeface="Calibri" pitchFamily="34" charset="0"/>
                <a:ea typeface="Calibri" pitchFamily="34" charset="-122"/>
                <a:cs typeface="Calibri" pitchFamily="34" charset="-120"/>
              </a:rPr>
              <a:t>Group 8 | DRL Assignment Problem 1 | Variance-Aware Bandits | Slide 1 of 23</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Motivation &amp; Research Objective</a:t>
            </a:r>
            <a:endParaRPr lang="en-US" sz="28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marL="0" indent="0" algn="l">
              <a:buNone/>
            </a:pPr>
            <a:r>
              <a:rPr lang="en-US" sz="1400" i="1" dirty="0">
                <a:solidFill>
                  <a:srgbClr val="3A4468"/>
                </a:solidFill>
                <a:latin typeface="Calibri" pitchFamily="34" charset="0"/>
                <a:ea typeface="Calibri" pitchFamily="34" charset="-122"/>
                <a:cs typeface="Calibri" pitchFamily="34" charset="-120"/>
              </a:rPr>
              <a:t>Why fair comparison of bandit algorithms is an open problem</a:t>
            </a:r>
            <a:endParaRPr lang="en-US" sz="1400" dirty="0"/>
          </a:p>
        </p:txBody>
      </p:sp>
      <p:sp>
        <p:nvSpPr>
          <p:cNvPr id="4" name="Text 2"/>
          <p:cNvSpPr txBox="1"/>
          <p:nvPr/>
        </p:nvSpPr>
        <p:spPr>
          <a:xfrm>
            <a:off x="457200" y="6565392"/>
            <a:ext cx="8686800" cy="256032"/>
          </a:xfrm>
          <a:prstGeom prst="rect">
            <a:avLst/>
          </a:prstGeom>
          <a:noFill/>
          <a:ln/>
        </p:spPr>
        <p:txBody>
          <a:bodyPr wrap="square" lIns="0" tIns="0" rIns="0" bIns="0" rtlCol="0" anchor="ctr"/>
          <a:lstStyle/>
          <a:p>
            <a:r>
              <a:rPr lang="en-US" sz="900">
                <a:solidFill>
                  <a:srgbClr val="97A0BE"/>
                </a:solidFill>
                <a:latin typeface="Calibri" pitchFamily="34" charset="0"/>
                <a:ea typeface="Calibri" pitchFamily="34" charset="-122"/>
                <a:cs typeface="Calibri" pitchFamily="34" charset="-120"/>
              </a:rPr>
              <a:t>Group 8 | DRL Assignment Problem 1 | Variance-Aware Bandits | Sec. 1/5: Introduction | Slide 2 of 23</a:t>
            </a:r>
            <a:endParaRPr lang="en-US" sz="900" dirty="0"/>
          </a:p>
        </p:txBody>
      </p:sp>
      <p:sp>
        <p:nvSpPr>
          <p:cNvPr id="5" name="Text 3"/>
          <p:cNvSpPr txBox="1"/>
          <p:nvPr/>
        </p:nvSpPr>
        <p:spPr>
          <a:xfrm>
            <a:off x="548640" y="1508760"/>
            <a:ext cx="11064240" cy="1005840"/>
          </a:xfrm>
          <a:prstGeom prst="rect">
            <a:avLst/>
          </a:prstGeom>
          <a:noFill/>
          <a:ln/>
        </p:spPr>
        <p:txBody>
          <a:bodyPr wrap="square" lIns="0" tIns="0" rIns="0" bIns="0" rtlCol="0" anchor="ctr"/>
          <a:lstStyle/>
          <a:p>
            <a:pPr marL="0" indent="0">
              <a:lnSpc>
                <a:spcPct val="125000"/>
              </a:lnSpc>
              <a:buNone/>
            </a:pPr>
            <a:r>
              <a:rPr lang="en-US" sz="1350" dirty="0">
                <a:solidFill>
                  <a:srgbClr val="1B1F33"/>
                </a:solidFill>
                <a:latin typeface="Calibri" pitchFamily="34" charset="0"/>
                <a:ea typeface="Calibri" pitchFamily="34" charset="-122"/>
                <a:cs typeface="Calibri" pitchFamily="34" charset="-120"/>
              </a:rPr>
              <a:t>Multi-armed bandits are the simplest building block of reinforcement learning. Variance-aware extensions of UCB are theoretically promising, yet the field lacks a reproducible, standardized way to compare them against classical methods — existing studies vary in setup, use narrow metrics, or omit reproducibility altogether.</a:t>
            </a:r>
            <a:endParaRPr lang="en-US" sz="1350" dirty="0"/>
          </a:p>
        </p:txBody>
      </p:sp>
      <p:sp>
        <p:nvSpPr>
          <p:cNvPr id="6" name="Text 4"/>
          <p:cNvSpPr txBox="1"/>
          <p:nvPr/>
        </p:nvSpPr>
        <p:spPr>
          <a:xfrm>
            <a:off x="548640" y="2606040"/>
            <a:ext cx="7315200" cy="32004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The paper poses two research questions:</a:t>
            </a:r>
            <a:endParaRPr lang="en-US" sz="1350" dirty="0"/>
          </a:p>
        </p:txBody>
      </p:sp>
      <p:sp>
        <p:nvSpPr>
          <p:cNvPr id="7" name="Shape 5"/>
          <p:cNvSpPr/>
          <p:nvPr/>
        </p:nvSpPr>
        <p:spPr>
          <a:xfrm>
            <a:off x="548640" y="3063240"/>
            <a:ext cx="11064240" cy="960120"/>
          </a:xfrm>
          <a:prstGeom prst="rect">
            <a:avLst/>
          </a:prstGeom>
          <a:solidFill>
            <a:srgbClr val="F4F6FB"/>
          </a:solidFill>
          <a:ln w="9525">
            <a:solidFill>
              <a:srgbClr val="D5DAE8"/>
            </a:solidFill>
            <a:prstDash val="solid"/>
          </a:ln>
        </p:spPr>
        <p:txBody>
          <a:bodyPr/>
          <a:lstStyle/>
          <a:p>
            <a:endParaRPr lang="en-US"/>
          </a:p>
        </p:txBody>
      </p:sp>
      <p:sp>
        <p:nvSpPr>
          <p:cNvPr id="8" name="Text 6"/>
          <p:cNvSpPr txBox="1"/>
          <p:nvPr/>
        </p:nvSpPr>
        <p:spPr>
          <a:xfrm>
            <a:off x="822960" y="3063240"/>
            <a:ext cx="10515600" cy="96012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RQ1: </a:t>
            </a:r>
            <a:r>
              <a:rPr lang="en-US" sz="1350" dirty="0">
                <a:solidFill>
                  <a:srgbClr val="1B1F33"/>
                </a:solidFill>
                <a:latin typeface="Calibri" pitchFamily="34" charset="0"/>
                <a:ea typeface="Calibri" pitchFamily="34" charset="-122"/>
                <a:cs typeface="Calibri" pitchFamily="34" charset="-120"/>
              </a:rPr>
              <a:t>How can algorithm performance differences be reliably detected and quantified using a reproducible evaluation within a standardized framework?</a:t>
            </a:r>
            <a:endParaRPr lang="en-US" sz="1350" dirty="0"/>
          </a:p>
        </p:txBody>
      </p:sp>
      <p:sp>
        <p:nvSpPr>
          <p:cNvPr id="9" name="Shape 7"/>
          <p:cNvSpPr/>
          <p:nvPr/>
        </p:nvSpPr>
        <p:spPr>
          <a:xfrm>
            <a:off x="548640" y="4160520"/>
            <a:ext cx="11064240" cy="960120"/>
          </a:xfrm>
          <a:prstGeom prst="rect">
            <a:avLst/>
          </a:prstGeom>
          <a:solidFill>
            <a:srgbClr val="F4F6FB"/>
          </a:solidFill>
          <a:ln w="9525">
            <a:solidFill>
              <a:srgbClr val="D5DAE8"/>
            </a:solidFill>
            <a:prstDash val="solid"/>
          </a:ln>
        </p:spPr>
        <p:txBody>
          <a:bodyPr/>
          <a:lstStyle/>
          <a:p>
            <a:endParaRPr lang="en-US"/>
          </a:p>
        </p:txBody>
      </p:sp>
      <p:sp>
        <p:nvSpPr>
          <p:cNvPr id="10" name="Text 8"/>
          <p:cNvSpPr txBox="1"/>
          <p:nvPr/>
        </p:nvSpPr>
        <p:spPr>
          <a:xfrm>
            <a:off x="822960" y="4160520"/>
            <a:ext cx="10515600" cy="96012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RQ2: </a:t>
            </a:r>
            <a:r>
              <a:rPr lang="en-US" sz="1350" dirty="0">
                <a:solidFill>
                  <a:srgbClr val="1B1F33"/>
                </a:solidFill>
                <a:latin typeface="Calibri" pitchFamily="34" charset="0"/>
                <a:ea typeface="Calibri" pitchFamily="34" charset="-122"/>
                <a:cs typeface="Calibri" pitchFamily="34" charset="-120"/>
              </a:rPr>
              <a:t>Under which conditions do variance-aware MAB algorithms outperform classical and non-variance-aware counterparts?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The Stochastic Bandit Problem</a:t>
            </a:r>
            <a:endParaRPr lang="en-US" sz="28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marL="0" indent="0" algn="l">
              <a:buNone/>
            </a:pPr>
            <a:r>
              <a:rPr lang="en-US" sz="1400" i="1" dirty="0">
                <a:solidFill>
                  <a:srgbClr val="3A4468"/>
                </a:solidFill>
                <a:latin typeface="Calibri" pitchFamily="34" charset="0"/>
                <a:ea typeface="Calibri" pitchFamily="34" charset="-122"/>
                <a:cs typeface="Calibri" pitchFamily="34" charset="-120"/>
              </a:rPr>
              <a:t>Background the algorithms are trying to solve</a:t>
            </a:r>
            <a:endParaRPr lang="en-US" sz="1400" dirty="0"/>
          </a:p>
        </p:txBody>
      </p:sp>
      <p:sp>
        <p:nvSpPr>
          <p:cNvPr id="4" name="Text 2"/>
          <p:cNvSpPr txBox="1"/>
          <p:nvPr/>
        </p:nvSpPr>
        <p:spPr>
          <a:xfrm>
            <a:off x="457200" y="6565392"/>
            <a:ext cx="8686800" cy="256032"/>
          </a:xfrm>
          <a:prstGeom prst="rect">
            <a:avLst/>
          </a:prstGeom>
          <a:noFill/>
          <a:ln/>
        </p:spPr>
        <p:txBody>
          <a:bodyPr wrap="square" lIns="0" tIns="0" rIns="0" bIns="0" rtlCol="0" anchor="ctr"/>
          <a:lstStyle/>
          <a:p>
            <a:pPr marL="0" indent="0">
              <a:buNone/>
            </a:pPr>
            <a:r>
              <a:rPr lang="en-US" sz="900">
                <a:solidFill>
                  <a:srgbClr val="97A0BE"/>
                </a:solidFill>
                <a:latin typeface="Calibri" pitchFamily="34" charset="0"/>
                <a:ea typeface="Calibri" pitchFamily="34" charset="-122"/>
                <a:cs typeface="Calibri" pitchFamily="34" charset="-120"/>
              </a:rPr>
              <a:t>Group 8 | DRL Assignment Problem 1 | Variance-Aware Bandits | Sec. 1/5: Introduction | Slide 3 of 23</a:t>
            </a:r>
            <a:endParaRPr lang="en-US" sz="900" dirty="0"/>
          </a:p>
        </p:txBody>
      </p:sp>
      <p:sp>
        <p:nvSpPr>
          <p:cNvPr id="5" name="Shape 3"/>
          <p:cNvSpPr/>
          <p:nvPr/>
        </p:nvSpPr>
        <p:spPr>
          <a:xfrm>
            <a:off x="731520" y="2468880"/>
            <a:ext cx="1920240" cy="914400"/>
          </a:xfrm>
          <a:prstGeom prst="roundRect">
            <a:avLst>
              <a:gd name="adj" fmla="val 8000"/>
            </a:avLst>
          </a:prstGeom>
          <a:solidFill>
            <a:srgbClr val="1E2761"/>
          </a:solidFill>
          <a:ln/>
        </p:spPr>
        <p:txBody>
          <a:bodyPr/>
          <a:lstStyle/>
          <a:p>
            <a:endParaRPr lang="en-US"/>
          </a:p>
        </p:txBody>
      </p:sp>
      <p:sp>
        <p:nvSpPr>
          <p:cNvPr id="6" name="Text 4"/>
          <p:cNvSpPr txBox="1"/>
          <p:nvPr/>
        </p:nvSpPr>
        <p:spPr>
          <a:xfrm>
            <a:off x="731520" y="2468880"/>
            <a:ext cx="1920240" cy="9144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Learner</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(Agent)</a:t>
            </a:r>
            <a:endParaRPr lang="en-US" sz="1300" dirty="0"/>
          </a:p>
        </p:txBody>
      </p:sp>
      <p:sp>
        <p:nvSpPr>
          <p:cNvPr id="7" name="Shape 5"/>
          <p:cNvSpPr/>
          <p:nvPr/>
        </p:nvSpPr>
        <p:spPr>
          <a:xfrm>
            <a:off x="2651760" y="2926080"/>
            <a:ext cx="914400" cy="0"/>
          </a:xfrm>
          <a:prstGeom prst="line">
            <a:avLst/>
          </a:prstGeom>
          <a:noFill/>
          <a:ln w="19050">
            <a:solidFill>
              <a:srgbClr val="3A4468"/>
            </a:solidFill>
            <a:prstDash val="solid"/>
            <a:tailEnd type="triangle"/>
          </a:ln>
        </p:spPr>
        <p:txBody>
          <a:bodyPr/>
          <a:lstStyle/>
          <a:p>
            <a:endParaRPr lang="en-US"/>
          </a:p>
        </p:txBody>
      </p:sp>
      <p:sp>
        <p:nvSpPr>
          <p:cNvPr id="8" name="Shape 6"/>
          <p:cNvSpPr/>
          <p:nvPr/>
        </p:nvSpPr>
        <p:spPr>
          <a:xfrm>
            <a:off x="3611880" y="1965960"/>
            <a:ext cx="1920240" cy="640080"/>
          </a:xfrm>
          <a:prstGeom prst="roundRect">
            <a:avLst>
              <a:gd name="adj" fmla="val 8571"/>
            </a:avLst>
          </a:prstGeom>
          <a:solidFill>
            <a:srgbClr val="F4F6FB"/>
          </a:solidFill>
          <a:ln w="12700">
            <a:solidFill>
              <a:srgbClr val="D5DAE8"/>
            </a:solidFill>
            <a:prstDash val="solid"/>
          </a:ln>
        </p:spPr>
        <p:txBody>
          <a:bodyPr/>
          <a:lstStyle/>
          <a:p>
            <a:endParaRPr lang="en-US"/>
          </a:p>
        </p:txBody>
      </p:sp>
      <p:sp>
        <p:nvSpPr>
          <p:cNvPr id="9" name="Text 7"/>
          <p:cNvSpPr txBox="1"/>
          <p:nvPr/>
        </p:nvSpPr>
        <p:spPr>
          <a:xfrm>
            <a:off x="3611880" y="1965960"/>
            <a:ext cx="1920240" cy="640080"/>
          </a:xfrm>
          <a:prstGeom prst="rect">
            <a:avLst/>
          </a:prstGeom>
          <a:noFill/>
          <a:ln/>
        </p:spPr>
        <p:txBody>
          <a:bodyPr wrap="square" lIns="0" tIns="0" rIns="0" bIns="0" rtlCol="0" anchor="ctr"/>
          <a:lstStyle/>
          <a:p>
            <a:pPr marL="0" indent="0" algn="ctr">
              <a:buNone/>
            </a:pPr>
            <a:r>
              <a:rPr lang="en-US" sz="1200" dirty="0">
                <a:solidFill>
                  <a:srgbClr val="1B1F33"/>
                </a:solidFill>
                <a:latin typeface="Calibri" pitchFamily="34" charset="0"/>
                <a:ea typeface="Calibri" pitchFamily="34" charset="-122"/>
                <a:cs typeface="Calibri" pitchFamily="34" charset="-120"/>
              </a:rPr>
              <a:t>Arm a₁  (p₁)</a:t>
            </a:r>
            <a:endParaRPr lang="en-US" sz="1200" dirty="0"/>
          </a:p>
        </p:txBody>
      </p:sp>
      <p:sp>
        <p:nvSpPr>
          <p:cNvPr id="10" name="Shape 8"/>
          <p:cNvSpPr/>
          <p:nvPr/>
        </p:nvSpPr>
        <p:spPr>
          <a:xfrm>
            <a:off x="3611880" y="2788920"/>
            <a:ext cx="1920240" cy="640080"/>
          </a:xfrm>
          <a:prstGeom prst="roundRect">
            <a:avLst>
              <a:gd name="adj" fmla="val 8571"/>
            </a:avLst>
          </a:prstGeom>
          <a:solidFill>
            <a:srgbClr val="F4F6FB"/>
          </a:solidFill>
          <a:ln w="12700">
            <a:solidFill>
              <a:srgbClr val="D5DAE8"/>
            </a:solidFill>
            <a:prstDash val="solid"/>
          </a:ln>
        </p:spPr>
        <p:txBody>
          <a:bodyPr/>
          <a:lstStyle/>
          <a:p>
            <a:endParaRPr lang="en-US"/>
          </a:p>
        </p:txBody>
      </p:sp>
      <p:sp>
        <p:nvSpPr>
          <p:cNvPr id="11" name="Text 9"/>
          <p:cNvSpPr txBox="1"/>
          <p:nvPr/>
        </p:nvSpPr>
        <p:spPr>
          <a:xfrm>
            <a:off x="3611880" y="2788920"/>
            <a:ext cx="1920240" cy="640080"/>
          </a:xfrm>
          <a:prstGeom prst="rect">
            <a:avLst/>
          </a:prstGeom>
          <a:noFill/>
          <a:ln/>
        </p:spPr>
        <p:txBody>
          <a:bodyPr wrap="square" lIns="0" tIns="0" rIns="0" bIns="0" rtlCol="0" anchor="ctr"/>
          <a:lstStyle/>
          <a:p>
            <a:pPr marL="0" indent="0" algn="ctr">
              <a:buNone/>
            </a:pPr>
            <a:r>
              <a:rPr lang="en-US" sz="1200" dirty="0">
                <a:solidFill>
                  <a:srgbClr val="1B1F33"/>
                </a:solidFill>
                <a:latin typeface="Calibri" pitchFamily="34" charset="0"/>
                <a:ea typeface="Calibri" pitchFamily="34" charset="-122"/>
                <a:cs typeface="Calibri" pitchFamily="34" charset="-120"/>
              </a:rPr>
              <a:t>Arm a₂  (p₂)</a:t>
            </a:r>
            <a:endParaRPr lang="en-US" sz="1200" dirty="0"/>
          </a:p>
        </p:txBody>
      </p:sp>
      <p:sp>
        <p:nvSpPr>
          <p:cNvPr id="12" name="Shape 10"/>
          <p:cNvSpPr/>
          <p:nvPr/>
        </p:nvSpPr>
        <p:spPr>
          <a:xfrm>
            <a:off x="5532120" y="2926080"/>
            <a:ext cx="914400" cy="0"/>
          </a:xfrm>
          <a:prstGeom prst="line">
            <a:avLst/>
          </a:prstGeom>
          <a:noFill/>
          <a:ln w="19050">
            <a:solidFill>
              <a:srgbClr val="3A4468"/>
            </a:solidFill>
            <a:prstDash val="solid"/>
            <a:tailEnd type="triangle"/>
          </a:ln>
        </p:spPr>
        <p:txBody>
          <a:bodyPr/>
          <a:lstStyle/>
          <a:p>
            <a:endParaRPr lang="en-US"/>
          </a:p>
        </p:txBody>
      </p:sp>
      <p:sp>
        <p:nvSpPr>
          <p:cNvPr id="13" name="Shape 11"/>
          <p:cNvSpPr/>
          <p:nvPr/>
        </p:nvSpPr>
        <p:spPr>
          <a:xfrm>
            <a:off x="6492240" y="2468880"/>
            <a:ext cx="2103120" cy="914400"/>
          </a:xfrm>
          <a:prstGeom prst="roundRect">
            <a:avLst>
              <a:gd name="adj" fmla="val 8000"/>
            </a:avLst>
          </a:prstGeom>
          <a:solidFill>
            <a:srgbClr val="F2A93B"/>
          </a:solidFill>
          <a:ln/>
        </p:spPr>
        <p:txBody>
          <a:bodyPr/>
          <a:lstStyle/>
          <a:p>
            <a:endParaRPr lang="en-US"/>
          </a:p>
        </p:txBody>
      </p:sp>
      <p:sp>
        <p:nvSpPr>
          <p:cNvPr id="14" name="Text 12"/>
          <p:cNvSpPr txBox="1"/>
          <p:nvPr/>
        </p:nvSpPr>
        <p:spPr>
          <a:xfrm>
            <a:off x="6492240" y="2468880"/>
            <a:ext cx="2103120" cy="914400"/>
          </a:xfrm>
          <a:prstGeom prst="rect">
            <a:avLst/>
          </a:prstGeom>
          <a:noFill/>
          <a:ln/>
        </p:spPr>
        <p:txBody>
          <a:bodyPr wrap="square" lIns="0" tIns="0" rIns="0" bIns="0" rtlCol="0" anchor="ctr"/>
          <a:lstStyle/>
          <a:p>
            <a:pPr marL="0" indent="0" algn="ctr">
              <a:buNone/>
            </a:pPr>
            <a:r>
              <a:rPr lang="en-US" sz="1250" b="1" dirty="0">
                <a:solidFill>
                  <a:srgbClr val="141B45"/>
                </a:solidFill>
                <a:latin typeface="Calibri" pitchFamily="34" charset="0"/>
                <a:ea typeface="Calibri" pitchFamily="34" charset="-122"/>
                <a:cs typeface="Calibri" pitchFamily="34" charset="-120"/>
              </a:rPr>
              <a:t>Stochastic Reward</a:t>
            </a:r>
            <a:endParaRPr lang="en-US" sz="1250" dirty="0"/>
          </a:p>
          <a:p>
            <a:pPr marL="0" indent="0" algn="ctr">
              <a:buNone/>
            </a:pPr>
            <a:r>
              <a:rPr lang="en-US" sz="1250" b="1" dirty="0">
                <a:solidFill>
                  <a:srgbClr val="141B45"/>
                </a:solidFill>
                <a:latin typeface="Calibri" pitchFamily="34" charset="0"/>
                <a:ea typeface="Calibri" pitchFamily="34" charset="-122"/>
                <a:cs typeface="Calibri" pitchFamily="34" charset="-120"/>
              </a:rPr>
              <a:t>Xₜ ∼ P(aₜ)</a:t>
            </a:r>
            <a:endParaRPr lang="en-US" sz="1250" dirty="0"/>
          </a:p>
        </p:txBody>
      </p:sp>
      <p:sp>
        <p:nvSpPr>
          <p:cNvPr id="15" name="Shape 13"/>
          <p:cNvSpPr/>
          <p:nvPr/>
        </p:nvSpPr>
        <p:spPr>
          <a:xfrm>
            <a:off x="8595360" y="2926080"/>
            <a:ext cx="1188720" cy="0"/>
          </a:xfrm>
          <a:prstGeom prst="line">
            <a:avLst/>
          </a:prstGeom>
          <a:noFill/>
          <a:ln w="15875">
            <a:solidFill>
              <a:srgbClr val="3A4468"/>
            </a:solidFill>
            <a:prstDash val="solid"/>
            <a:tailEnd type="triangle"/>
          </a:ln>
        </p:spPr>
        <p:txBody>
          <a:bodyPr/>
          <a:lstStyle/>
          <a:p>
            <a:endParaRPr lang="en-US"/>
          </a:p>
        </p:txBody>
      </p:sp>
      <p:sp>
        <p:nvSpPr>
          <p:cNvPr id="16" name="Text 14"/>
          <p:cNvSpPr txBox="1"/>
          <p:nvPr/>
        </p:nvSpPr>
        <p:spPr>
          <a:xfrm>
            <a:off x="8549640" y="2057400"/>
            <a:ext cx="1371600" cy="548640"/>
          </a:xfrm>
          <a:prstGeom prst="rect">
            <a:avLst/>
          </a:prstGeom>
          <a:noFill/>
          <a:ln/>
        </p:spPr>
        <p:txBody>
          <a:bodyPr wrap="square" lIns="0" tIns="0" rIns="0" bIns="0" rtlCol="0" anchor="ctr"/>
          <a:lstStyle/>
          <a:p>
            <a:pPr marL="0" indent="0" algn="ctr">
              <a:buNone/>
            </a:pPr>
            <a:r>
              <a:rPr lang="en-US" sz="950" i="1" dirty="0">
                <a:solidFill>
                  <a:srgbClr val="3A4468"/>
                </a:solidFill>
                <a:latin typeface="Calibri" pitchFamily="34" charset="0"/>
                <a:ea typeface="Calibri" pitchFamily="34" charset="-122"/>
                <a:cs typeface="Calibri" pitchFamily="34" charset="-120"/>
              </a:rPr>
              <a:t>feeds back into</a:t>
            </a:r>
            <a:endParaRPr lang="en-US" sz="950" dirty="0"/>
          </a:p>
          <a:p>
            <a:pPr marL="0" indent="0" algn="ctr">
              <a:buNone/>
            </a:pPr>
            <a:r>
              <a:rPr lang="en-US" sz="950" i="1" dirty="0">
                <a:solidFill>
                  <a:srgbClr val="3A4468"/>
                </a:solidFill>
                <a:latin typeface="Calibri" pitchFamily="34" charset="0"/>
                <a:ea typeface="Calibri" pitchFamily="34" charset="-122"/>
                <a:cs typeface="Calibri" pitchFamily="34" charset="-120"/>
              </a:rPr>
              <a:t>next choice</a:t>
            </a:r>
            <a:endParaRPr lang="en-US" sz="950" dirty="0"/>
          </a:p>
        </p:txBody>
      </p:sp>
      <p:sp>
        <p:nvSpPr>
          <p:cNvPr id="17" name="Text 15"/>
          <p:cNvSpPr txBox="1"/>
          <p:nvPr/>
        </p:nvSpPr>
        <p:spPr>
          <a:xfrm>
            <a:off x="731520" y="3703320"/>
            <a:ext cx="10607040" cy="548640"/>
          </a:xfrm>
          <a:prstGeom prst="rect">
            <a:avLst/>
          </a:prstGeom>
          <a:noFill/>
          <a:ln/>
        </p:spPr>
        <p:txBody>
          <a:bodyPr wrap="square" lIns="0" tIns="0" rIns="0" bIns="0" rtlCol="0" anchor="ctr"/>
          <a:lstStyle/>
          <a:p>
            <a:pPr marL="0" indent="0">
              <a:lnSpc>
                <a:spcPct val="120000"/>
              </a:lnSpc>
              <a:buNone/>
            </a:pPr>
            <a:r>
              <a:rPr lang="en-US" sz="1250" dirty="0">
                <a:solidFill>
                  <a:srgbClr val="1B1F33"/>
                </a:solidFill>
                <a:latin typeface="Calibri" pitchFamily="34" charset="0"/>
                <a:ea typeface="Calibri" pitchFamily="34" charset="-122"/>
                <a:cs typeface="Calibri" pitchFamily="34" charset="-120"/>
              </a:rPr>
              <a:t>At every step t, the learner picks one arm and observes its random reward. Repeated over the horizon n, the goal is to maximize total reward — equivalently, to minimize cumulative regret.</a:t>
            </a:r>
            <a:endParaRPr lang="en-US" sz="1250" dirty="0"/>
          </a:p>
        </p:txBody>
      </p:sp>
      <p:sp>
        <p:nvSpPr>
          <p:cNvPr id="18" name="Shape 16"/>
          <p:cNvSpPr/>
          <p:nvPr/>
        </p:nvSpPr>
        <p:spPr>
          <a:xfrm>
            <a:off x="548640" y="4343400"/>
            <a:ext cx="11064240" cy="0"/>
          </a:xfrm>
          <a:prstGeom prst="line">
            <a:avLst/>
          </a:prstGeom>
          <a:noFill/>
          <a:ln w="12700">
            <a:solidFill>
              <a:srgbClr val="D5DAE8"/>
            </a:solidFill>
            <a:prstDash val="solid"/>
          </a:ln>
        </p:spPr>
        <p:txBody>
          <a:bodyPr/>
          <a:lstStyle/>
          <a:p>
            <a:endParaRPr lang="en-US"/>
          </a:p>
        </p:txBody>
      </p:sp>
      <p:sp>
        <p:nvSpPr>
          <p:cNvPr id="19" name="Text 17"/>
          <p:cNvSpPr txBox="1"/>
          <p:nvPr/>
        </p:nvSpPr>
        <p:spPr>
          <a:xfrm>
            <a:off x="548640" y="4526280"/>
            <a:ext cx="731520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Core definitions used throughout the paper:</a:t>
            </a:r>
            <a:endParaRPr lang="en-US" sz="1300" dirty="0"/>
          </a:p>
        </p:txBody>
      </p:sp>
      <p:sp>
        <p:nvSpPr>
          <p:cNvPr id="20" name="Text 18"/>
          <p:cNvSpPr txBox="1"/>
          <p:nvPr/>
        </p:nvSpPr>
        <p:spPr>
          <a:xfrm>
            <a:off x="731520" y="4892040"/>
            <a:ext cx="10607040" cy="41148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1B1F33"/>
                </a:solidFill>
                <a:latin typeface="Calibri" pitchFamily="34" charset="0"/>
                <a:ea typeface="Calibri" pitchFamily="34" charset="-122"/>
                <a:cs typeface="Calibri" pitchFamily="34" charset="-120"/>
              </a:rPr>
              <a:t>Suboptimality gap: Δₐₖ = Q* − Qₐₖ — how far arm k's true mean is from the best arm's mean.</a:t>
            </a:r>
            <a:endParaRPr lang="en-US" sz="1200" dirty="0"/>
          </a:p>
          <a:p>
            <a:pPr marL="342900" indent="-342900">
              <a:spcAft>
                <a:spcPts val="800"/>
              </a:spcAft>
              <a:buSzPct val="100000"/>
              <a:buChar char="–"/>
            </a:pPr>
            <a:r>
              <a:rPr lang="en-US" sz="1200" dirty="0">
                <a:solidFill>
                  <a:srgbClr val="1B1F33"/>
                </a:solidFill>
                <a:latin typeface="Calibri" pitchFamily="34" charset="0"/>
                <a:ea typeface="Calibri" pitchFamily="34" charset="-122"/>
                <a:cs typeface="Calibri" pitchFamily="34" charset="-120"/>
              </a:rPr>
              <a:t>Regret: Rₙ = nQ* − E[Σ Xₜ] — cumulative reward lost from not always playing the best arm (Def. 2.1).</a:t>
            </a:r>
            <a:endParaRPr lang="en-US" sz="1200" dirty="0"/>
          </a:p>
          <a:p>
            <a:pPr marL="342900" indent="-342900">
              <a:spcAft>
                <a:spcPts val="800"/>
              </a:spcAft>
              <a:buSzPct val="100000"/>
              <a:buChar char="–"/>
            </a:pPr>
            <a:r>
              <a:rPr lang="en-US" sz="1200" dirty="0">
                <a:solidFill>
                  <a:srgbClr val="1B1F33"/>
                </a:solidFill>
                <a:latin typeface="Calibri" pitchFamily="34" charset="0"/>
                <a:ea typeface="Calibri" pitchFamily="34" charset="-122"/>
                <a:cs typeface="Calibri" pitchFamily="34" charset="-120"/>
              </a:rPr>
              <a:t>Estimated action value: Q̂ₐₖ(t) — the empirical average reward observed from arm k up to time t (Def. 2.2).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Positioning Against Prior Work</a:t>
            </a:r>
            <a:endParaRPr lang="en-US" sz="28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marL="0" indent="0" algn="l">
              <a:buNone/>
            </a:pPr>
            <a:r>
              <a:rPr lang="en-US" sz="1400" i="1" dirty="0">
                <a:solidFill>
                  <a:srgbClr val="3A4468"/>
                </a:solidFill>
                <a:latin typeface="Calibri" pitchFamily="34" charset="0"/>
                <a:ea typeface="Calibri" pitchFamily="34" charset="-122"/>
                <a:cs typeface="Calibri" pitchFamily="34" charset="-120"/>
              </a:rPr>
              <a:t>Why a new evaluation framework is needed — not just another algorithm</a:t>
            </a:r>
            <a:endParaRPr lang="en-US" sz="1400" dirty="0"/>
          </a:p>
        </p:txBody>
      </p:sp>
      <p:sp>
        <p:nvSpPr>
          <p:cNvPr id="4" name="Text 2"/>
          <p:cNvSpPr txBox="1"/>
          <p:nvPr/>
        </p:nvSpPr>
        <p:spPr>
          <a:xfrm>
            <a:off x="457200" y="6565392"/>
            <a:ext cx="8686800" cy="256032"/>
          </a:xfrm>
          <a:prstGeom prst="rect">
            <a:avLst/>
          </a:prstGeom>
          <a:noFill/>
          <a:ln/>
        </p:spPr>
        <p:txBody>
          <a:bodyPr wrap="square" lIns="0" tIns="0" rIns="0" bIns="0" rtlCol="0" anchor="ctr"/>
          <a:lstStyle/>
          <a:p>
            <a:pPr marL="0" indent="0">
              <a:buNone/>
            </a:pPr>
            <a:r>
              <a:rPr lang="en-US" sz="900">
                <a:solidFill>
                  <a:srgbClr val="97A0BE"/>
                </a:solidFill>
                <a:latin typeface="Calibri" pitchFamily="34" charset="0"/>
                <a:ea typeface="Calibri" pitchFamily="34" charset="-122"/>
                <a:cs typeface="Calibri" pitchFamily="34" charset="-120"/>
              </a:rPr>
              <a:t>Group 8 | DRL Assignment Problem 1 | Variance-Aware Bandits | Sec. 1/5: Introduction | Slide 4 of 23</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3108960"/>
        </p:xfrm>
        <a:graphic>
          <a:graphicData uri="http://schemas.openxmlformats.org/drawingml/2006/table">
            <a:tbl>
              <a:tblPr/>
              <a:tblGrid>
                <a:gridCol w="283464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777240">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Prior Study</a:t>
                      </a:r>
                      <a:endParaRPr lang="en-US" sz="11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E2761"/>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Contribution</a:t>
                      </a:r>
                      <a:endParaRPr lang="en-US" sz="11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E2761"/>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Gap this paper addresses</a:t>
                      </a:r>
                      <a:endParaRPr lang="en-US" sz="11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777240">
                <a:tc>
                  <a:txBody>
                    <a:bodyPr/>
                    <a:lstStyle/>
                    <a:p>
                      <a:pPr marL="0" indent="0" algn="l">
                        <a:buNone/>
                      </a:pPr>
                      <a:r>
                        <a:rPr lang="en-US" sz="1150" dirty="0">
                          <a:solidFill>
                            <a:srgbClr val="1B1F33"/>
                          </a:solidFill>
                          <a:latin typeface="Calibri" pitchFamily="34" charset="0"/>
                          <a:ea typeface="Calibri" pitchFamily="34" charset="-122"/>
                          <a:cs typeface="Calibri" pitchFamily="34" charset="-120"/>
                        </a:rPr>
                        <a:t>Audibert, Munos &amp; Szepesvári (2009)</a:t>
                      </a:r>
                      <a:endParaRPr lang="en-US" sz="11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33"/>
                          </a:solidFill>
                          <a:latin typeface="Calibri" pitchFamily="34" charset="0"/>
                          <a:ea typeface="Calibri" pitchFamily="34" charset="-122"/>
                          <a:cs typeface="Calibri" pitchFamily="34" charset="-120"/>
                        </a:rPr>
                        <a:t>Introduced UCB-V and showed its advantage in high-stochasticity settings.</a:t>
                      </a:r>
                      <a:endParaRPr lang="en-US" sz="11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33"/>
                          </a:solidFill>
                          <a:latin typeface="Calibri" pitchFamily="34" charset="0"/>
                          <a:ea typeface="Calibri" pitchFamily="34" charset="-122"/>
                          <a:cs typeface="Calibri" pitchFamily="34" charset="-120"/>
                        </a:rPr>
                        <a:t>Compared only a limited set of algorithms under narrowly defined conditions.</a:t>
                      </a:r>
                      <a:endParaRPr lang="en-US" sz="11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lgn="l">
                        <a:buNone/>
                      </a:pPr>
                      <a:r>
                        <a:rPr lang="en-US" sz="1150" dirty="0">
                          <a:solidFill>
                            <a:srgbClr val="1B1F33"/>
                          </a:solidFill>
                          <a:latin typeface="Calibri" pitchFamily="34" charset="0"/>
                          <a:ea typeface="Calibri" pitchFamily="34" charset="-122"/>
                          <a:cs typeface="Calibri" pitchFamily="34" charset="-120"/>
                        </a:rPr>
                        <a:t>Auer, Cesa-Bianchi &amp; Fischer (2002)</a:t>
                      </a:r>
                      <a:endParaRPr lang="en-US" sz="11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4F6FB"/>
                    </a:solidFill>
                  </a:tcPr>
                </a:tc>
                <a:tc>
                  <a:txBody>
                    <a:bodyPr/>
                    <a:lstStyle/>
                    <a:p>
                      <a:pPr marL="0" indent="0" algn="l">
                        <a:buNone/>
                      </a:pPr>
                      <a:r>
                        <a:rPr lang="en-US" sz="1150" dirty="0">
                          <a:solidFill>
                            <a:srgbClr val="1B1F33"/>
                          </a:solidFill>
                          <a:latin typeface="Calibri" pitchFamily="34" charset="0"/>
                          <a:ea typeface="Calibri" pitchFamily="34" charset="-122"/>
                          <a:cs typeface="Calibri" pitchFamily="34" charset="-120"/>
                        </a:rPr>
                        <a:t>Introduced UCB-Tuned and compared it against ε-Greedy in Bernoulli environments.</a:t>
                      </a:r>
                      <a:endParaRPr lang="en-US" sz="11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4F6FB"/>
                    </a:solidFill>
                  </a:tcPr>
                </a:tc>
                <a:tc>
                  <a:txBody>
                    <a:bodyPr/>
                    <a:lstStyle/>
                    <a:p>
                      <a:pPr marL="0" indent="0" algn="l">
                        <a:buNone/>
                      </a:pPr>
                      <a:r>
                        <a:rPr lang="en-US" sz="1150" dirty="0">
                          <a:solidFill>
                            <a:srgbClr val="1B1F33"/>
                          </a:solidFill>
                          <a:latin typeface="Calibri" pitchFamily="34" charset="0"/>
                          <a:ea typeface="Calibri" pitchFamily="34" charset="-122"/>
                          <a:cs typeface="Calibri" pitchFamily="34" charset="-120"/>
                        </a:rPr>
                        <a:t>Did not provide a reproducible experimental setup.</a:t>
                      </a:r>
                      <a:endParaRPr lang="en-US" sz="11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777240">
                <a:tc>
                  <a:txBody>
                    <a:bodyPr/>
                    <a:lstStyle/>
                    <a:p>
                      <a:pPr marL="0" indent="0" algn="l">
                        <a:buNone/>
                      </a:pPr>
                      <a:r>
                        <a:rPr lang="en-US" sz="1150" dirty="0">
                          <a:solidFill>
                            <a:srgbClr val="1B1F33"/>
                          </a:solidFill>
                          <a:latin typeface="Calibri" pitchFamily="34" charset="0"/>
                          <a:ea typeface="Calibri" pitchFamily="34" charset="-122"/>
                          <a:cs typeface="Calibri" pitchFamily="34" charset="-120"/>
                        </a:rPr>
                        <a:t>Mukherjee et al. (2017)</a:t>
                      </a:r>
                      <a:endParaRPr lang="en-US" sz="11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33"/>
                          </a:solidFill>
                          <a:latin typeface="Calibri" pitchFamily="34" charset="0"/>
                          <a:ea typeface="Calibri" pitchFamily="34" charset="-122"/>
                          <a:cs typeface="Calibri" pitchFamily="34" charset="-120"/>
                        </a:rPr>
                        <a:t>Most extensive prior comparison; introduced EUCBV.</a:t>
                      </a:r>
                      <a:endParaRPr lang="en-US" sz="11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1F33"/>
                          </a:solidFill>
                          <a:latin typeface="Calibri" pitchFamily="34" charset="0"/>
                          <a:ea typeface="Calibri" pitchFamily="34" charset="-122"/>
                          <a:cs typeface="Calibri" pitchFamily="34" charset="-120"/>
                        </a:rPr>
                        <a:t>Used fixed scenarios — no variation across environment parameters or replicability.</a:t>
                      </a:r>
                      <a:endParaRPr lang="en-US" sz="11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41E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10896"/>
            <a:ext cx="11100816" cy="475488"/>
          </a:xfrm>
          <a:prstGeom prst="rect">
            <a:avLst/>
          </a:prstGeom>
          <a:noFill/>
        </p:spPr>
        <p:txBody>
          <a:bodyPr wrap="square" lIns="0" tIns="0" rIns="0" bIns="0">
            <a:spAutoFit/>
          </a:bodyPr>
          <a:lstStyle/>
          <a:p>
            <a:pPr algn="l"/>
            <a:r>
              <a:rPr sz="2600" b="1" i="0">
                <a:solidFill>
                  <a:srgbClr val="FFFFFF"/>
                </a:solidFill>
                <a:latin typeface="Georgia"/>
              </a:rPr>
              <a:t>Chandan Singh Baghel — Working and Source</a:t>
            </a:r>
          </a:p>
        </p:txBody>
      </p:sp>
      <p:sp>
        <p:nvSpPr>
          <p:cNvPr id="4" name="TextBox 3"/>
          <p:cNvSpPr txBox="1"/>
          <p:nvPr/>
        </p:nvSpPr>
        <p:spPr>
          <a:xfrm>
            <a:off x="548640" y="896112"/>
            <a:ext cx="11100816" cy="310896"/>
          </a:xfrm>
          <a:prstGeom prst="rect">
            <a:avLst/>
          </a:prstGeom>
          <a:noFill/>
        </p:spPr>
        <p:txBody>
          <a:bodyPr wrap="square" lIns="0" tIns="0" rIns="0" bIns="0">
            <a:spAutoFit/>
          </a:bodyPr>
          <a:lstStyle/>
          <a:p>
            <a:pPr algn="l"/>
            <a:r>
              <a:rPr sz="1150" b="0" i="0">
                <a:solidFill>
                  <a:srgbClr val="CDD6F1"/>
                </a:solidFill>
                <a:latin typeface="Aptos"/>
              </a:rPr>
              <a:t>Problem difficulty from the reward gaps, and a consistency check on the paper's reported regret.</a:t>
            </a:r>
          </a:p>
        </p:txBody>
      </p:sp>
      <p:sp>
        <p:nvSpPr>
          <p:cNvPr id="5" name="Rounded Rectangle 4"/>
          <p:cNvSpPr/>
          <p:nvPr/>
        </p:nvSpPr>
        <p:spPr>
          <a:xfrm>
            <a:off x="548640" y="1325880"/>
            <a:ext cx="6400800" cy="449884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463039"/>
            <a:ext cx="5998464" cy="237744"/>
          </a:xfrm>
          <a:prstGeom prst="rect">
            <a:avLst/>
          </a:prstGeom>
          <a:noFill/>
        </p:spPr>
        <p:txBody>
          <a:bodyPr wrap="square" lIns="0" tIns="0" rIns="0" bIns="0">
            <a:spAutoFit/>
          </a:bodyPr>
          <a:lstStyle/>
          <a:p>
            <a:pPr algn="l"/>
            <a:r>
              <a:rPr sz="1000" b="1" i="0">
                <a:solidFill>
                  <a:srgbClr val="1F3570"/>
                </a:solidFill>
                <a:latin typeface="Aptos"/>
              </a:rPr>
              <a:t>Paper source — Wolf (2025), Table 4, p.10</a:t>
            </a:r>
          </a:p>
        </p:txBody>
      </p:sp>
      <p:pic>
        <p:nvPicPr>
          <p:cNvPr id="7" name="Picture 6" descr="t4.png"/>
          <p:cNvPicPr>
            <a:picLocks noChangeAspect="1"/>
          </p:cNvPicPr>
          <p:nvPr/>
        </p:nvPicPr>
        <p:blipFill>
          <a:blip r:embed="rId3"/>
          <a:stretch>
            <a:fillRect/>
          </a:stretch>
        </p:blipFill>
        <p:spPr>
          <a:xfrm>
            <a:off x="731520" y="1746504"/>
            <a:ext cx="6035040" cy="2537460"/>
          </a:xfrm>
          <a:prstGeom prst="rect">
            <a:avLst/>
          </a:prstGeom>
        </p:spPr>
      </p:pic>
      <p:sp>
        <p:nvSpPr>
          <p:cNvPr id="8" name="TextBox 7"/>
          <p:cNvSpPr txBox="1"/>
          <p:nvPr/>
        </p:nvSpPr>
        <p:spPr>
          <a:xfrm>
            <a:off x="749808" y="4430268"/>
            <a:ext cx="5998464" cy="274320"/>
          </a:xfrm>
          <a:prstGeom prst="rect">
            <a:avLst/>
          </a:prstGeom>
          <a:noFill/>
        </p:spPr>
        <p:txBody>
          <a:bodyPr wrap="square" lIns="0" tIns="0" rIns="0" bIns="0">
            <a:spAutoFit/>
          </a:bodyPr>
          <a:lstStyle/>
          <a:p>
            <a:pPr algn="l"/>
            <a:r>
              <a:rPr sz="950" b="1" i="0">
                <a:solidFill>
                  <a:srgbClr val="1F3570"/>
                </a:solidFill>
                <a:latin typeface="Aptos"/>
              </a:rPr>
              <a:t>UCB-Tuned regret 212.21 — the value reconstructed on the right.</a:t>
            </a:r>
          </a:p>
        </p:txBody>
      </p:sp>
      <p:sp>
        <p:nvSpPr>
          <p:cNvPr id="9" name="Rounded Rectangle 8"/>
          <p:cNvSpPr/>
          <p:nvPr/>
        </p:nvSpPr>
        <p:spPr>
          <a:xfrm>
            <a:off x="7251192" y="1325880"/>
            <a:ext cx="4389120" cy="4498848"/>
          </a:xfrm>
          <a:prstGeom prst="roundRect">
            <a:avLst/>
          </a:prstGeom>
          <a:solidFill>
            <a:srgbClr val="141E49"/>
          </a:solidFill>
          <a:ln w="15875">
            <a:solidFill>
              <a:srgbClr val="F4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6565392"/>
            <a:ext cx="8686800" cy="256032"/>
          </a:xfrm>
          <a:prstGeom prst="rect">
            <a:avLst/>
          </a:prstGeom>
          <a:noFill/>
        </p:spPr>
        <p:txBody>
          <a:bodyPr wrap="square" lIns="0" tIns="0" rIns="0" bIns="0">
            <a:spAutoFit/>
          </a:bodyPr>
          <a:lstStyle/>
          <a:p>
            <a:pPr algn="l"/>
            <a:r>
              <a:rPr sz="900" b="0" i="0">
                <a:solidFill>
                  <a:srgbClr val="8894B0"/>
                </a:solidFill>
                <a:latin typeface="Calibri"/>
              </a:rPr>
              <a:t>Group 8 | DRL Assignment Problem 1 | Variance-Aware Bandits | Sec. 1/5: Introduction | Slide 5 of 23</a:t>
            </a:r>
          </a:p>
        </p:txBody>
      </p:sp>
      <p:sp>
        <p:nvSpPr>
          <p:cNvPr id="15" name="TextBox 14">
            <a:extLst>
              <a:ext uri="{FF2B5EF4-FFF2-40B4-BE49-F238E27FC236}">
                <a16:creationId xmlns:a16="http://schemas.microsoft.com/office/drawing/2014/main" id="{8D97CC05-70B9-3100-FE4D-F39DB9222F89}"/>
              </a:ext>
            </a:extLst>
          </p:cNvPr>
          <p:cNvSpPr txBox="1"/>
          <p:nvPr/>
        </p:nvSpPr>
        <p:spPr>
          <a:xfrm>
            <a:off x="9652000" y="6483539"/>
            <a:ext cx="2540000" cy="374461"/>
          </a:xfrm>
          <a:prstGeom prst="rect">
            <a:avLst/>
          </a:prstGeom>
          <a:solidFill>
            <a:srgbClr val="223975"/>
          </a:solidFill>
        </p:spPr>
        <p:txBody>
          <a:bodyPr vert="horz" wrap="square" lIns="76200" tIns="25400" rIns="76200" bIns="12700" rtlCol="0">
            <a:noAutofit/>
          </a:bodyPr>
          <a:lstStyle/>
          <a:p>
            <a:pPr algn="ctr"/>
            <a:r>
              <a:rPr lang="en-US" sz="800" b="1" dirty="0">
                <a:solidFill>
                  <a:srgbClr val="FFFFFF"/>
                </a:solidFill>
                <a:latin typeface="Aptos" panose="020B0004020202020204" pitchFamily="34" charset="0"/>
              </a:rPr>
              <a:t>Contributor: Chandan Singh </a:t>
            </a:r>
            <a:r>
              <a:rPr lang="en-US" sz="800" b="1" dirty="0" err="1">
                <a:solidFill>
                  <a:srgbClr val="FFFFFF"/>
                </a:solidFill>
                <a:latin typeface="Aptos" panose="020B0004020202020204" pitchFamily="34" charset="0"/>
              </a:rPr>
              <a:t>Baghel</a:t>
            </a:r>
            <a:endParaRPr lang="en-US" sz="800" b="1" dirty="0">
              <a:solidFill>
                <a:srgbClr val="FFFFFF"/>
              </a:solidFill>
              <a:latin typeface="Aptos" panose="020B0004020202020204" pitchFamily="34" charset="0"/>
            </a:endParaRPr>
          </a:p>
        </p:txBody>
      </p:sp>
      <p:pic>
        <p:nvPicPr>
          <p:cNvPr id="16" name="Picture 15" descr="chandan2.jpg"/>
          <p:cNvPicPr>
            <a:picLocks noChangeAspect="1"/>
          </p:cNvPicPr>
          <p:nvPr/>
        </p:nvPicPr>
        <p:blipFill>
          <a:blip r:embed="rId4"/>
          <a:stretch>
            <a:fillRect/>
          </a:stretch>
        </p:blipFill>
        <p:spPr>
          <a:xfrm>
            <a:off x="7749215" y="1453895"/>
            <a:ext cx="3393072" cy="42428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Algorithms, Part I</a:t>
            </a:r>
            <a:endParaRPr lang="en-US" sz="28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marL="0" indent="0" algn="l">
              <a:buNone/>
            </a:pPr>
            <a:r>
              <a:rPr lang="en-US" sz="1400" i="1" dirty="0">
                <a:solidFill>
                  <a:srgbClr val="3A4468"/>
                </a:solidFill>
                <a:latin typeface="Calibri" pitchFamily="34" charset="0"/>
                <a:ea typeface="Calibri" pitchFamily="34" charset="-122"/>
                <a:cs typeface="Calibri" pitchFamily="34" charset="-120"/>
              </a:rPr>
              <a:t>Standard methods and non-variance-aware UCB extensions</a:t>
            </a:r>
            <a:endParaRPr lang="en-US" sz="1400" dirty="0"/>
          </a:p>
        </p:txBody>
      </p:sp>
      <p:sp>
        <p:nvSpPr>
          <p:cNvPr id="4" name="Text 2"/>
          <p:cNvSpPr txBox="1"/>
          <p:nvPr/>
        </p:nvSpPr>
        <p:spPr>
          <a:xfrm>
            <a:off x="457200" y="6565392"/>
            <a:ext cx="8686800" cy="256032"/>
          </a:xfrm>
          <a:prstGeom prst="rect">
            <a:avLst/>
          </a:prstGeom>
          <a:noFill/>
          <a:ln/>
        </p:spPr>
        <p:txBody>
          <a:bodyPr wrap="square" lIns="0" tIns="0" rIns="0" bIns="0" rtlCol="0" anchor="ctr"/>
          <a:lstStyle/>
          <a:p>
            <a:r>
              <a:rPr lang="en-US" sz="900">
                <a:solidFill>
                  <a:srgbClr val="8A93B8"/>
                </a:solidFill>
                <a:latin typeface="Calibri" pitchFamily="34" charset="0"/>
                <a:ea typeface="Calibri" pitchFamily="34" charset="-122"/>
                <a:cs typeface="Calibri" pitchFamily="34" charset="-120"/>
              </a:rPr>
              <a:t>Group 8 | DRL Assignment Problem 1 | Variance-Aware Bandits | Sec. 2/5: Algorithms | Slide 6 of 23</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3401568"/>
        </p:xfrm>
        <a:graphic>
          <a:graphicData uri="http://schemas.openxmlformats.org/drawingml/2006/table">
            <a:tbl>
              <a:tblPr/>
              <a:tblGrid>
                <a:gridCol w="192024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557784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566928">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Algorithm</a:t>
                      </a:r>
                      <a:endParaRPr lang="en-US" sz="10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E2761"/>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Category</a:t>
                      </a:r>
                      <a:endParaRPr lang="en-US" sz="10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E2761"/>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Core Idea</a:t>
                      </a:r>
                      <a:endParaRPr lang="en-US" sz="10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E2761"/>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Config</a:t>
                      </a:r>
                      <a:endParaRPr lang="en-US" sz="10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66928">
                <a:tc>
                  <a:txBody>
                    <a:bodyPr/>
                    <a:lstStyle/>
                    <a:p>
                      <a:pPr marL="0" indent="0" algn="l">
                        <a:buNone/>
                      </a:pPr>
                      <a:r>
                        <a:rPr lang="en-US" sz="1050" dirty="0">
                          <a:solidFill>
                            <a:srgbClr val="1B1F33"/>
                          </a:solidFill>
                          <a:latin typeface="Calibri" pitchFamily="34" charset="0"/>
                          <a:ea typeface="Calibri" pitchFamily="34" charset="-122"/>
                          <a:cs typeface="Calibri" pitchFamily="34" charset="-120"/>
                        </a:rPr>
                        <a:t>ETC</a:t>
                      </a:r>
                      <a:endParaRPr lang="en-US" sz="10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B1F33"/>
                          </a:solidFill>
                          <a:latin typeface="Calibri" pitchFamily="34" charset="0"/>
                          <a:ea typeface="Calibri" pitchFamily="34" charset="-122"/>
                          <a:cs typeface="Calibri" pitchFamily="34" charset="-120"/>
                        </a:rPr>
                        <a:t>Standard</a:t>
                      </a:r>
                      <a:endParaRPr lang="en-US" sz="10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B1F33"/>
                          </a:solidFill>
                          <a:latin typeface="Calibri" pitchFamily="34" charset="0"/>
                          <a:ea typeface="Calibri" pitchFamily="34" charset="-122"/>
                          <a:cs typeface="Calibri" pitchFamily="34" charset="-120"/>
                        </a:rPr>
                        <a:t>Explore all arms uniformly for m rounds, then commit to the empirically best arm for the rest of the horizon.</a:t>
                      </a:r>
                      <a:endParaRPr lang="en-US" sz="10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B1F33"/>
                          </a:solidFill>
                          <a:latin typeface="Calibri" pitchFamily="34" charset="0"/>
                          <a:ea typeface="Calibri" pitchFamily="34" charset="-122"/>
                          <a:cs typeface="Calibri" pitchFamily="34" charset="-120"/>
                        </a:rPr>
                        <a:t>m = 10… 10⁵</a:t>
                      </a:r>
                      <a:endParaRPr lang="en-US" sz="10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050" dirty="0">
                          <a:solidFill>
                            <a:srgbClr val="1B1F33"/>
                          </a:solidFill>
                          <a:latin typeface="Calibri" pitchFamily="34" charset="0"/>
                          <a:ea typeface="Calibri" pitchFamily="34" charset="-122"/>
                          <a:cs typeface="Calibri" pitchFamily="34" charset="-120"/>
                        </a:rPr>
                        <a:t>ε-Greedy</a:t>
                      </a:r>
                      <a:endParaRPr lang="en-US" sz="10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1B1F33"/>
                          </a:solidFill>
                          <a:latin typeface="Calibri" pitchFamily="34" charset="0"/>
                          <a:ea typeface="Calibri" pitchFamily="34" charset="-122"/>
                          <a:cs typeface="Calibri" pitchFamily="34" charset="-120"/>
                        </a:rPr>
                        <a:t>Standard</a:t>
                      </a:r>
                      <a:endParaRPr lang="en-US" sz="10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1B1F33"/>
                          </a:solidFill>
                          <a:latin typeface="Calibri" pitchFamily="34" charset="0"/>
                          <a:ea typeface="Calibri" pitchFamily="34" charset="-122"/>
                          <a:cs typeface="Calibri" pitchFamily="34" charset="-120"/>
                        </a:rPr>
                        <a:t>With probability ε, pick a random arm; otherwise pick the current best-known arm.</a:t>
                      </a:r>
                      <a:endParaRPr lang="en-US" sz="10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1B1F33"/>
                          </a:solidFill>
                          <a:latin typeface="Calibri" pitchFamily="34" charset="0"/>
                          <a:ea typeface="Calibri" pitchFamily="34" charset="-122"/>
                          <a:cs typeface="Calibri" pitchFamily="34" charset="-120"/>
                        </a:rPr>
                        <a:t>ε = 0.5… 0.005</a:t>
                      </a:r>
                      <a:endParaRPr lang="en-US" sz="10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566928">
                <a:tc>
                  <a:txBody>
                    <a:bodyPr/>
                    <a:lstStyle/>
                    <a:p>
                      <a:pPr marL="0" indent="0" algn="l">
                        <a:buNone/>
                      </a:pPr>
                      <a:r>
                        <a:rPr lang="en-US" sz="1050" dirty="0">
                          <a:solidFill>
                            <a:srgbClr val="1B1F33"/>
                          </a:solidFill>
                          <a:latin typeface="Calibri" pitchFamily="34" charset="0"/>
                          <a:ea typeface="Calibri" pitchFamily="34" charset="-122"/>
                          <a:cs typeface="Calibri" pitchFamily="34" charset="-120"/>
                        </a:rPr>
                        <a:t>UCB</a:t>
                      </a:r>
                      <a:endParaRPr lang="en-US" sz="10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B1F33"/>
                          </a:solidFill>
                          <a:latin typeface="Calibri" pitchFamily="34" charset="0"/>
                          <a:ea typeface="Calibri" pitchFamily="34" charset="-122"/>
                          <a:cs typeface="Calibri" pitchFamily="34" charset="-120"/>
                        </a:rPr>
                        <a:t>Standard</a:t>
                      </a:r>
                      <a:endParaRPr lang="en-US" sz="10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B1F33"/>
                          </a:solidFill>
                          <a:latin typeface="Calibri" pitchFamily="34" charset="0"/>
                          <a:ea typeface="Calibri" pitchFamily="34" charset="-122"/>
                          <a:cs typeface="Calibri" pitchFamily="34" charset="-120"/>
                        </a:rPr>
                        <a:t>Pick the arm with the highest upper confidence bound: Q̂(t) + √(2 log t / T(t)).</a:t>
                      </a:r>
                      <a:endParaRPr lang="en-US" sz="10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B1F33"/>
                          </a:solidFill>
                          <a:latin typeface="Calibri" pitchFamily="34" charset="0"/>
                          <a:ea typeface="Calibri" pitchFamily="34" charset="-122"/>
                          <a:cs typeface="Calibri" pitchFamily="34" charset="-120"/>
                        </a:rPr>
                        <a:t>— none</a:t>
                      </a:r>
                      <a:endParaRPr lang="en-US" sz="10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050" dirty="0">
                          <a:solidFill>
                            <a:srgbClr val="1B1F33"/>
                          </a:solidFill>
                          <a:latin typeface="Calibri" pitchFamily="34" charset="0"/>
                          <a:ea typeface="Calibri" pitchFamily="34" charset="-122"/>
                          <a:cs typeface="Calibri" pitchFamily="34" charset="-120"/>
                        </a:rPr>
                        <a:t>PAC-UCB</a:t>
                      </a:r>
                      <a:endParaRPr lang="en-US" sz="10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1B1F33"/>
                          </a:solidFill>
                          <a:latin typeface="Calibri" pitchFamily="34" charset="0"/>
                          <a:ea typeface="Calibri" pitchFamily="34" charset="-122"/>
                          <a:cs typeface="Calibri" pitchFamily="34" charset="-120"/>
                        </a:rPr>
                        <a:t>Non-var.-aware</a:t>
                      </a:r>
                      <a:endParaRPr lang="en-US" sz="10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1B1F33"/>
                          </a:solidFill>
                          <a:latin typeface="Calibri" pitchFamily="34" charset="0"/>
                          <a:ea typeface="Calibri" pitchFamily="34" charset="-122"/>
                          <a:cs typeface="Calibri" pitchFamily="34" charset="-120"/>
                        </a:rPr>
                        <a:t>A UCB-V variant whose exploration term depends only on pull count — variance-independent confidence interval.</a:t>
                      </a:r>
                      <a:endParaRPr lang="en-US" sz="10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4F6FB"/>
                    </a:solidFill>
                  </a:tcPr>
                </a:tc>
                <a:tc>
                  <a:txBody>
                    <a:bodyPr/>
                    <a:lstStyle/>
                    <a:p>
                      <a:pPr marL="0" indent="0" algn="l">
                        <a:buNone/>
                      </a:pPr>
                      <a:r>
                        <a:rPr lang="en-US" sz="1050" dirty="0">
                          <a:solidFill>
                            <a:srgbClr val="1B1F33"/>
                          </a:solidFill>
                          <a:latin typeface="Calibri" pitchFamily="34" charset="0"/>
                          <a:ea typeface="Calibri" pitchFamily="34" charset="-122"/>
                          <a:cs typeface="Calibri" pitchFamily="34" charset="-120"/>
                        </a:rPr>
                        <a:t>c=1, b=1, q=1.3, β=0.05</a:t>
                      </a:r>
                      <a:endParaRPr lang="en-US" sz="10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4F6FB"/>
                    </a:solidFill>
                  </a:tcPr>
                </a:tc>
                <a:extLst>
                  <a:ext uri="{0D108BD9-81ED-4DB2-BD59-A6C34878D82A}">
                    <a16:rowId xmlns:a16="http://schemas.microsoft.com/office/drawing/2014/main" val="10004"/>
                  </a:ext>
                </a:extLst>
              </a:tr>
              <a:tr h="566928">
                <a:tc>
                  <a:txBody>
                    <a:bodyPr/>
                    <a:lstStyle/>
                    <a:p>
                      <a:pPr marL="0" indent="0" algn="l">
                        <a:buNone/>
                      </a:pPr>
                      <a:r>
                        <a:rPr lang="en-US" sz="1050" dirty="0">
                          <a:solidFill>
                            <a:srgbClr val="1B1F33"/>
                          </a:solidFill>
                          <a:latin typeface="Calibri" pitchFamily="34" charset="0"/>
                          <a:ea typeface="Calibri" pitchFamily="34" charset="-122"/>
                          <a:cs typeface="Calibri" pitchFamily="34" charset="-120"/>
                        </a:rPr>
                        <a:t>UCB-Improved</a:t>
                      </a:r>
                      <a:endParaRPr lang="en-US" sz="10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B1F33"/>
                          </a:solidFill>
                          <a:latin typeface="Calibri" pitchFamily="34" charset="0"/>
                          <a:ea typeface="Calibri" pitchFamily="34" charset="-122"/>
                          <a:cs typeface="Calibri" pitchFamily="34" charset="-120"/>
                        </a:rPr>
                        <a:t>Non-var.-aware</a:t>
                      </a:r>
                      <a:endParaRPr lang="en-US" sz="10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B1F33"/>
                          </a:solidFill>
                          <a:latin typeface="Calibri" pitchFamily="34" charset="0"/>
                          <a:ea typeface="Calibri" pitchFamily="34" charset="-122"/>
                          <a:cs typeface="Calibri" pitchFamily="34" charset="-120"/>
                        </a:rPr>
                        <a:t>Adaptive bounds with phased elimination; statistically unlikely arms are dropped each phase.</a:t>
                      </a:r>
                      <a:endParaRPr lang="en-US" sz="10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B1F33"/>
                          </a:solidFill>
                          <a:latin typeface="Calibri" pitchFamily="34" charset="0"/>
                          <a:ea typeface="Calibri" pitchFamily="34" charset="-122"/>
                          <a:cs typeface="Calibri" pitchFamily="34" charset="-120"/>
                        </a:rPr>
                        <a:t>δ = 1</a:t>
                      </a:r>
                      <a:endParaRPr lang="en-US" sz="105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txBox="1"/>
          <p:nvPr/>
        </p:nvSpPr>
        <p:spPr>
          <a:xfrm>
            <a:off x="548640" y="5120640"/>
            <a:ext cx="11064240" cy="457200"/>
          </a:xfrm>
          <a:prstGeom prst="rect">
            <a:avLst/>
          </a:prstGeom>
          <a:noFill/>
          <a:ln/>
        </p:spPr>
        <p:txBody>
          <a:bodyPr wrap="square" lIns="0" tIns="0" rIns="0" bIns="0" rtlCol="0" anchor="ctr"/>
          <a:lstStyle/>
          <a:p>
            <a:pPr marL="0" indent="0">
              <a:buNone/>
            </a:pPr>
            <a:r>
              <a:rPr lang="en-US" sz="1100" i="1" dirty="0">
                <a:solidFill>
                  <a:srgbClr val="3A4468"/>
                </a:solidFill>
                <a:latin typeface="Calibri" pitchFamily="34" charset="0"/>
                <a:ea typeface="Calibri" pitchFamily="34" charset="-122"/>
                <a:cs typeface="Calibri" pitchFamily="34" charset="-120"/>
              </a:rPr>
              <a:t>Config values per Table 1 of the paper. ETC and ε-Greedy are swept across several values to test under/over-exploration; algorithms with well-established defaults are evaluated as-is.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Algorithms, Part II — Variance-Aware Methods</a:t>
            </a:r>
            <a:endParaRPr lang="en-US" sz="28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marL="0" indent="0" algn="l">
              <a:buNone/>
            </a:pPr>
            <a:r>
              <a:rPr lang="en-US" sz="1400" i="1" dirty="0">
                <a:solidFill>
                  <a:srgbClr val="3A4468"/>
                </a:solidFill>
                <a:latin typeface="Calibri" pitchFamily="34" charset="0"/>
                <a:ea typeface="Calibri" pitchFamily="34" charset="-122"/>
                <a:cs typeface="Calibri" pitchFamily="34" charset="-120"/>
              </a:rPr>
              <a:t>The paper's central algorithmic focus, with their confidence-bound formulas</a:t>
            </a:r>
            <a:endParaRPr lang="en-US" sz="1400" dirty="0"/>
          </a:p>
        </p:txBody>
      </p:sp>
      <p:sp>
        <p:nvSpPr>
          <p:cNvPr id="4" name="Text 2"/>
          <p:cNvSpPr txBox="1"/>
          <p:nvPr/>
        </p:nvSpPr>
        <p:spPr>
          <a:xfrm>
            <a:off x="457200" y="6565392"/>
            <a:ext cx="8686800" cy="256032"/>
          </a:xfrm>
          <a:prstGeom prst="rect">
            <a:avLst/>
          </a:prstGeom>
          <a:noFill/>
          <a:ln/>
        </p:spPr>
        <p:txBody>
          <a:bodyPr wrap="square" lIns="0" tIns="0" rIns="0" bIns="0" rtlCol="0" anchor="ctr"/>
          <a:lstStyle/>
          <a:p>
            <a:r>
              <a:rPr lang="en-US" sz="900">
                <a:solidFill>
                  <a:srgbClr val="8A93B8"/>
                </a:solidFill>
                <a:latin typeface="Calibri" pitchFamily="34" charset="0"/>
                <a:ea typeface="Calibri" pitchFamily="34" charset="-122"/>
                <a:cs typeface="Calibri" pitchFamily="34" charset="-120"/>
              </a:rPr>
              <a:t>Group 8 | DRL Assignment Problem 1 | Variance-Aware Bandits | Sec. 2/5: Algorithms | Slide 7 of 23</a:t>
            </a:r>
            <a:endParaRPr lang="en-US" sz="900" dirty="0"/>
          </a:p>
        </p:txBody>
      </p:sp>
      <p:sp>
        <p:nvSpPr>
          <p:cNvPr id="5" name="Shape 3"/>
          <p:cNvSpPr/>
          <p:nvPr/>
        </p:nvSpPr>
        <p:spPr>
          <a:xfrm>
            <a:off x="548640" y="1508760"/>
            <a:ext cx="11064240" cy="1051560"/>
          </a:xfrm>
          <a:prstGeom prst="rect">
            <a:avLst/>
          </a:prstGeom>
          <a:solidFill>
            <a:srgbClr val="F4F6FB"/>
          </a:solidFill>
          <a:ln w="9525">
            <a:solidFill>
              <a:srgbClr val="D5DAE8"/>
            </a:solidFill>
            <a:prstDash val="solid"/>
          </a:ln>
        </p:spPr>
        <p:txBody>
          <a:bodyPr/>
          <a:lstStyle/>
          <a:p>
            <a:endParaRPr lang="en-US"/>
          </a:p>
        </p:txBody>
      </p:sp>
      <p:sp>
        <p:nvSpPr>
          <p:cNvPr id="6" name="Text 4"/>
          <p:cNvSpPr txBox="1"/>
          <p:nvPr/>
        </p:nvSpPr>
        <p:spPr>
          <a:xfrm>
            <a:off x="777240" y="1600200"/>
            <a:ext cx="1060704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UCB-V  (Audibert, Munos &amp; Szepesvári, 2009)</a:t>
            </a:r>
            <a:endParaRPr lang="en-US" sz="1300" dirty="0"/>
          </a:p>
        </p:txBody>
      </p:sp>
      <p:sp>
        <p:nvSpPr>
          <p:cNvPr id="7" name="Text 5"/>
          <p:cNvSpPr txBox="1"/>
          <p:nvPr/>
        </p:nvSpPr>
        <p:spPr>
          <a:xfrm>
            <a:off x="777240" y="1920240"/>
            <a:ext cx="10607040" cy="365760"/>
          </a:xfrm>
          <a:prstGeom prst="rect">
            <a:avLst/>
          </a:prstGeom>
          <a:noFill/>
          <a:ln/>
        </p:spPr>
        <p:txBody>
          <a:bodyPr wrap="square" lIns="0" tIns="0" rIns="0" bIns="0" rtlCol="0" anchor="ctr"/>
          <a:lstStyle/>
          <a:p>
            <a:pPr marL="0" indent="0">
              <a:buNone/>
            </a:pPr>
            <a:r>
              <a:rPr lang="en-US" sz="1400" dirty="0">
                <a:solidFill>
                  <a:srgbClr val="1B1F33"/>
                </a:solidFill>
                <a:latin typeface="Courier New" pitchFamily="34" charset="0"/>
                <a:ea typeface="Courier New" pitchFamily="34" charset="-122"/>
                <a:cs typeface="Courier New" pitchFamily="34" charset="-120"/>
              </a:rPr>
              <a:t>B(t) = Q̂ₐₖ(t) + √( 2·σ̂²ₐₖ(t)·ε / Tₐₖ(t) )  +  c · 3bε / Tₐₖ(t)       where ε = θ log(t)</a:t>
            </a:r>
            <a:endParaRPr lang="en-US" sz="1400" dirty="0"/>
          </a:p>
        </p:txBody>
      </p:sp>
      <p:sp>
        <p:nvSpPr>
          <p:cNvPr id="8" name="Text 6"/>
          <p:cNvSpPr txBox="1"/>
          <p:nvPr/>
        </p:nvSpPr>
        <p:spPr>
          <a:xfrm>
            <a:off x="777240" y="2286000"/>
            <a:ext cx="10607040" cy="274320"/>
          </a:xfrm>
          <a:prstGeom prst="rect">
            <a:avLst/>
          </a:prstGeom>
          <a:noFill/>
          <a:ln/>
        </p:spPr>
        <p:txBody>
          <a:bodyPr wrap="square" lIns="0" tIns="0" rIns="0" bIns="0" rtlCol="0" anchor="ctr"/>
          <a:lstStyle/>
          <a:p>
            <a:pPr marL="0" indent="0">
              <a:buNone/>
            </a:pPr>
            <a:r>
              <a:rPr lang="en-US" sz="1100" i="1" dirty="0">
                <a:solidFill>
                  <a:srgbClr val="3A4468"/>
                </a:solidFill>
                <a:latin typeface="Calibri" pitchFamily="34" charset="0"/>
                <a:ea typeface="Calibri" pitchFamily="34" charset="-122"/>
                <a:cs typeface="Calibri" pitchFamily="34" charset="-120"/>
              </a:rPr>
              <a:t>Adds an empirical variance estimate σ̂² into the UCB bound; exploration term grows with log(t) if an arm is neglected.  Config: θ=1, c=1, b=1.</a:t>
            </a:r>
            <a:endParaRPr lang="en-US" sz="1100" dirty="0"/>
          </a:p>
        </p:txBody>
      </p:sp>
      <p:sp>
        <p:nvSpPr>
          <p:cNvPr id="9" name="Shape 7"/>
          <p:cNvSpPr/>
          <p:nvPr/>
        </p:nvSpPr>
        <p:spPr>
          <a:xfrm>
            <a:off x="548640" y="2697480"/>
            <a:ext cx="5349240" cy="1600200"/>
          </a:xfrm>
          <a:prstGeom prst="rect">
            <a:avLst/>
          </a:prstGeom>
          <a:solidFill>
            <a:srgbClr val="F4F6FB"/>
          </a:solidFill>
          <a:ln w="9525">
            <a:solidFill>
              <a:srgbClr val="D5DAE8"/>
            </a:solidFill>
            <a:prstDash val="solid"/>
          </a:ln>
        </p:spPr>
        <p:txBody>
          <a:bodyPr/>
          <a:lstStyle/>
          <a:p>
            <a:endParaRPr lang="en-US"/>
          </a:p>
        </p:txBody>
      </p:sp>
      <p:sp>
        <p:nvSpPr>
          <p:cNvPr id="10" name="Text 8"/>
          <p:cNvSpPr txBox="1"/>
          <p:nvPr/>
        </p:nvSpPr>
        <p:spPr>
          <a:xfrm>
            <a:off x="777240" y="2788920"/>
            <a:ext cx="489204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UCB-Tuned  (Auer et al., 2002)</a:t>
            </a:r>
            <a:endParaRPr lang="en-US" sz="1300" dirty="0"/>
          </a:p>
        </p:txBody>
      </p:sp>
      <p:sp>
        <p:nvSpPr>
          <p:cNvPr id="11" name="Text 9"/>
          <p:cNvSpPr txBox="1"/>
          <p:nvPr/>
        </p:nvSpPr>
        <p:spPr>
          <a:xfrm>
            <a:off x="777240" y="3108960"/>
            <a:ext cx="4892040" cy="1097280"/>
          </a:xfrm>
          <a:prstGeom prst="rect">
            <a:avLst/>
          </a:prstGeom>
          <a:noFill/>
          <a:ln/>
        </p:spPr>
        <p:txBody>
          <a:bodyPr wrap="square" lIns="0" tIns="0" rIns="0" bIns="0" rtlCol="0" anchor="ctr"/>
          <a:lstStyle/>
          <a:p>
            <a:pPr marL="0" indent="0">
              <a:lnSpc>
                <a:spcPct val="120000"/>
              </a:lnSpc>
              <a:buNone/>
            </a:pPr>
            <a:r>
              <a:rPr lang="en-US" sz="1150" dirty="0">
                <a:solidFill>
                  <a:srgbClr val="1B1F33"/>
                </a:solidFill>
                <a:latin typeface="Calibri" pitchFamily="34" charset="0"/>
                <a:ea typeface="Calibri" pitchFamily="34" charset="-122"/>
                <a:cs typeface="Calibri" pitchFamily="34" charset="-120"/>
              </a:rPr>
              <a:t>Refines UCB's bound using an empirical variance term in place of the fixed constant. No formal regret bound is proven, but it consistently outperformed plain UCB in the original experiments.  Config: none (no tunable parameters).</a:t>
            </a:r>
            <a:endParaRPr lang="en-US" sz="1150" dirty="0"/>
          </a:p>
        </p:txBody>
      </p:sp>
      <p:sp>
        <p:nvSpPr>
          <p:cNvPr id="12" name="Shape 10"/>
          <p:cNvSpPr/>
          <p:nvPr/>
        </p:nvSpPr>
        <p:spPr>
          <a:xfrm>
            <a:off x="6035040" y="2697480"/>
            <a:ext cx="5577840" cy="1600200"/>
          </a:xfrm>
          <a:prstGeom prst="rect">
            <a:avLst/>
          </a:prstGeom>
          <a:solidFill>
            <a:srgbClr val="F4F6FB"/>
          </a:solidFill>
          <a:ln w="9525">
            <a:solidFill>
              <a:srgbClr val="D5DAE8"/>
            </a:solidFill>
            <a:prstDash val="solid"/>
          </a:ln>
        </p:spPr>
        <p:txBody>
          <a:bodyPr/>
          <a:lstStyle/>
          <a:p>
            <a:endParaRPr lang="en-US"/>
          </a:p>
        </p:txBody>
      </p:sp>
      <p:sp>
        <p:nvSpPr>
          <p:cNvPr id="13" name="Text 11"/>
          <p:cNvSpPr txBox="1"/>
          <p:nvPr/>
        </p:nvSpPr>
        <p:spPr>
          <a:xfrm>
            <a:off x="6263640" y="2788920"/>
            <a:ext cx="512064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EUCBV  (Mukherjee et al., 2017)</a:t>
            </a:r>
            <a:endParaRPr lang="en-US" sz="1300" dirty="0"/>
          </a:p>
        </p:txBody>
      </p:sp>
      <p:sp>
        <p:nvSpPr>
          <p:cNvPr id="14" name="Text 12"/>
          <p:cNvSpPr txBox="1"/>
          <p:nvPr/>
        </p:nvSpPr>
        <p:spPr>
          <a:xfrm>
            <a:off x="6263640" y="3108960"/>
            <a:ext cx="5120640" cy="1097280"/>
          </a:xfrm>
          <a:prstGeom prst="rect">
            <a:avLst/>
          </a:prstGeom>
          <a:noFill/>
          <a:ln/>
        </p:spPr>
        <p:txBody>
          <a:bodyPr wrap="square" lIns="0" tIns="0" rIns="0" bIns="0" rtlCol="0" anchor="ctr"/>
          <a:lstStyle/>
          <a:p>
            <a:pPr marL="0" indent="0">
              <a:lnSpc>
                <a:spcPct val="120000"/>
              </a:lnSpc>
              <a:buNone/>
            </a:pPr>
            <a:r>
              <a:rPr lang="en-US" sz="1150" dirty="0">
                <a:solidFill>
                  <a:srgbClr val="1B1F33"/>
                </a:solidFill>
                <a:latin typeface="Calibri" pitchFamily="34" charset="0"/>
                <a:ea typeface="Calibri" pitchFamily="34" charset="-122"/>
                <a:cs typeface="Calibri" pitchFamily="34" charset="-120"/>
              </a:rPr>
              <a:t>Combines the UCB-V variance-adaptive bound with an arm-elimination strategy. Parameters ρ and ψ control elimination aggressiveness.  Config: ρ = 0.5 (ψ = n/K²).</a:t>
            </a:r>
            <a:endParaRPr lang="en-US" sz="1150" dirty="0"/>
          </a:p>
        </p:txBody>
      </p:sp>
      <p:sp>
        <p:nvSpPr>
          <p:cNvPr id="15" name="Shape 13"/>
          <p:cNvSpPr/>
          <p:nvPr/>
        </p:nvSpPr>
        <p:spPr>
          <a:xfrm>
            <a:off x="548640" y="4480560"/>
            <a:ext cx="11064240" cy="1051560"/>
          </a:xfrm>
          <a:prstGeom prst="rect">
            <a:avLst/>
          </a:prstGeom>
          <a:solidFill>
            <a:srgbClr val="141B45"/>
          </a:solidFill>
          <a:ln/>
        </p:spPr>
        <p:txBody>
          <a:bodyPr/>
          <a:lstStyle/>
          <a:p>
            <a:endParaRPr lang="en-US"/>
          </a:p>
        </p:txBody>
      </p:sp>
      <p:sp>
        <p:nvSpPr>
          <p:cNvPr id="16" name="Text 14"/>
          <p:cNvSpPr txBox="1"/>
          <p:nvPr/>
        </p:nvSpPr>
        <p:spPr>
          <a:xfrm>
            <a:off x="777240" y="4572000"/>
            <a:ext cx="10607040" cy="274320"/>
          </a:xfrm>
          <a:prstGeom prst="rect">
            <a:avLst/>
          </a:prstGeom>
          <a:noFill/>
          <a:ln/>
        </p:spPr>
        <p:txBody>
          <a:bodyPr wrap="square" lIns="0" tIns="0" rIns="0" bIns="0" rtlCol="0" anchor="ctr"/>
          <a:lstStyle/>
          <a:p>
            <a:pPr marL="0" indent="0">
              <a:buNone/>
            </a:pPr>
            <a:r>
              <a:rPr lang="en-US" sz="1150" dirty="0">
                <a:solidFill>
                  <a:srgbClr val="CADCFC"/>
                </a:solidFill>
                <a:latin typeface="Calibri" pitchFamily="34" charset="0"/>
                <a:ea typeface="Calibri" pitchFamily="34" charset="-122"/>
                <a:cs typeface="Calibri" pitchFamily="34" charset="-120"/>
              </a:rPr>
              <a:t>For reference — plain UCB's bound (no variance term):</a:t>
            </a:r>
            <a:endParaRPr lang="en-US" sz="1150" dirty="0"/>
          </a:p>
        </p:txBody>
      </p:sp>
      <p:sp>
        <p:nvSpPr>
          <p:cNvPr id="17" name="Text 15"/>
          <p:cNvSpPr txBox="1"/>
          <p:nvPr/>
        </p:nvSpPr>
        <p:spPr>
          <a:xfrm>
            <a:off x="777240" y="4846320"/>
            <a:ext cx="10607040" cy="365760"/>
          </a:xfrm>
          <a:prstGeom prst="rect">
            <a:avLst/>
          </a:prstGeom>
          <a:noFill/>
          <a:ln/>
        </p:spPr>
        <p:txBody>
          <a:bodyPr wrap="square" lIns="0" tIns="0" rIns="0" bIns="0" rtlCol="0" anchor="ctr"/>
          <a:lstStyle/>
          <a:p>
            <a:pPr marL="0" indent="0">
              <a:buNone/>
            </a:pPr>
            <a:r>
              <a:rPr lang="en-US" sz="1450" b="1" dirty="0">
                <a:solidFill>
                  <a:srgbClr val="F2A93B"/>
                </a:solidFill>
                <a:latin typeface="Courier New" pitchFamily="34" charset="0"/>
                <a:ea typeface="Courier New" pitchFamily="34" charset="-122"/>
                <a:cs typeface="Courier New" pitchFamily="34" charset="-120"/>
              </a:rPr>
              <a:t>UCBₐₖ(t) = Q̂ₐₖ(t) + √( 2 log t / Tₐₖ(t) )</a:t>
            </a:r>
            <a:endParaRPr lang="en-US" sz="1450" dirty="0"/>
          </a:p>
        </p:txBody>
      </p:sp>
      <p:sp>
        <p:nvSpPr>
          <p:cNvPr id="18" name="Text 16"/>
          <p:cNvSpPr txBox="1"/>
          <p:nvPr/>
        </p:nvSpPr>
        <p:spPr>
          <a:xfrm>
            <a:off x="777240" y="5212080"/>
            <a:ext cx="10607040" cy="274320"/>
          </a:xfrm>
          <a:prstGeom prst="rect">
            <a:avLst/>
          </a:prstGeom>
          <a:noFill/>
          <a:ln/>
        </p:spPr>
        <p:txBody>
          <a:bodyPr wrap="square" lIns="0" tIns="0" rIns="0" bIns="0" rtlCol="0" anchor="ctr"/>
          <a:lstStyle/>
          <a:p>
            <a:pPr marL="0" indent="0">
              <a:buNone/>
            </a:pPr>
            <a:r>
              <a:rPr lang="en-US" sz="1050" i="1" dirty="0">
                <a:solidFill>
                  <a:srgbClr val="CADCFC"/>
                </a:solidFill>
                <a:latin typeface="Calibri" pitchFamily="34" charset="0"/>
                <a:ea typeface="Calibri" pitchFamily="34" charset="-122"/>
                <a:cs typeface="Calibri" pitchFamily="34" charset="-120"/>
              </a:rPr>
              <a:t>Variance-aware methods replace the fixed exploration term above with one scaled by each arm's own observed variance.</a:t>
            </a:r>
            <a:endParaRPr lang="en-US" sz="1050" dirty="0"/>
          </a:p>
        </p:txBody>
      </p:sp>
      <p:sp>
        <p:nvSpPr>
          <p:cNvPr id="19" name="Text 17"/>
          <p:cNvSpPr txBox="1"/>
          <p:nvPr/>
        </p:nvSpPr>
        <p:spPr>
          <a:xfrm>
            <a:off x="548640" y="5669280"/>
            <a:ext cx="5486400" cy="274320"/>
          </a:xfrm>
          <a:prstGeom prst="rect">
            <a:avLst/>
          </a:prstGeom>
          <a:noFill/>
          <a:ln/>
        </p:spPr>
        <p:txBody>
          <a:bodyPr wrap="square" lIns="0" tIns="0" rIns="0" bIns="0" rtlCol="0" anchor="ctr"/>
          <a:lstStyle/>
          <a:p>
            <a:pPr marL="0" indent="0">
              <a:buNone/>
            </a:pPr>
            <a:r>
              <a:rPr lang="en-US" sz="950" dirty="0">
                <a:solidFill>
                  <a:srgbClr val="9AA6CC"/>
                </a:solidFill>
                <a:latin typeface="Calibri" pitchFamily="34" charset="0"/>
                <a:ea typeface="Calibri" pitchFamily="34" charset="-122"/>
                <a:cs typeface="Calibri" pitchFamily="34" charset="-120"/>
              </a:rPr>
              <a:t>Source: Section 2.2–2.3 of the paper.</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Experimental Setup — Three Scenarios</a:t>
            </a:r>
            <a:endParaRPr lang="en-US" sz="28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marL="0" indent="0" algn="l">
              <a:buNone/>
            </a:pPr>
            <a:r>
              <a:rPr lang="en-US" sz="1400" i="1">
                <a:solidFill>
                  <a:srgbClr val="3A4468"/>
                </a:solidFill>
                <a:latin typeface="Calibri" pitchFamily="34" charset="0"/>
                <a:ea typeface="Calibri" pitchFamily="34" charset="-122"/>
                <a:cs typeface="Calibri" pitchFamily="34" charset="-120"/>
              </a:rPr>
              <a:t>Two-armed Bernoulli bandits across one large-gap and two micro-gap settings</a:t>
            </a:r>
            <a:endParaRPr lang="en-US" sz="1400" dirty="0"/>
          </a:p>
        </p:txBody>
      </p:sp>
      <p:sp>
        <p:nvSpPr>
          <p:cNvPr id="4" name="Text 2"/>
          <p:cNvSpPr txBox="1"/>
          <p:nvPr/>
        </p:nvSpPr>
        <p:spPr>
          <a:xfrm>
            <a:off x="457200" y="6565392"/>
            <a:ext cx="8686800" cy="256032"/>
          </a:xfrm>
          <a:prstGeom prst="rect">
            <a:avLst/>
          </a:prstGeom>
          <a:noFill/>
          <a:ln/>
        </p:spPr>
        <p:txBody>
          <a:bodyPr wrap="square" lIns="0" tIns="0" rIns="0" bIns="0" rtlCol="0" anchor="ctr"/>
          <a:lstStyle/>
          <a:p>
            <a:r>
              <a:rPr lang="en-US" sz="900">
                <a:solidFill>
                  <a:srgbClr val="8A93B8"/>
                </a:solidFill>
                <a:latin typeface="Calibri" pitchFamily="34" charset="0"/>
                <a:ea typeface="Calibri" pitchFamily="34" charset="-122"/>
                <a:cs typeface="Calibri" pitchFamily="34" charset="-120"/>
              </a:rPr>
              <a:t>Group 8 | DRL Assignment Problem 1 | Variance-Aware Bandits | Sec. 2/5: Algorithms | Slide 8 of 23</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2081082227"/>
              </p:ext>
            </p:extLst>
          </p:nvPr>
        </p:nvGraphicFramePr>
        <p:xfrm>
          <a:off x="548640" y="1508760"/>
          <a:ext cx="11064240" cy="2999232"/>
        </p:xfrm>
        <a:graphic>
          <a:graphicData uri="http://schemas.openxmlformats.org/drawingml/2006/table">
            <a:tbl>
              <a:tblPr/>
              <a:tblGrid>
                <a:gridCol w="23774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3200400">
                  <a:extLst>
                    <a:ext uri="{9D8B030D-6E8A-4147-A177-3AD203B41FA5}">
                      <a16:colId xmlns:a16="http://schemas.microsoft.com/office/drawing/2014/main" val="20004"/>
                    </a:ext>
                  </a:extLst>
                </a:gridCol>
              </a:tblGrid>
              <a:tr h="749808">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E2761"/>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p₁, p₂</a:t>
                      </a:r>
                      <a:endParaRPr lang="en-US" sz="110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E2761"/>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Gap Δ</a:t>
                      </a:r>
                      <a:endParaRPr lang="en-US" sz="110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E2761"/>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Reward Variance</a:t>
                      </a:r>
                      <a:endParaRPr lang="en-US" sz="110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E2761"/>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Design intent</a:t>
                      </a:r>
                      <a:endParaRPr lang="en-US" sz="110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749808">
                <a:tc>
                  <a:txBody>
                    <a:bodyPr/>
                    <a:lstStyle/>
                    <a:p>
                      <a:pPr marL="0" indent="0" algn="l">
                        <a:buNone/>
                      </a:pPr>
                      <a:r>
                        <a:rPr lang="en-US" sz="1100" dirty="0">
                          <a:solidFill>
                            <a:srgbClr val="1B1F33"/>
                          </a:solidFill>
                          <a:latin typeface="Calibri" pitchFamily="34" charset="0"/>
                          <a:ea typeface="Calibri" pitchFamily="34" charset="-122"/>
                          <a:cs typeface="Calibri" pitchFamily="34" charset="-120"/>
                        </a:rPr>
                        <a:t>A — Baseline</a:t>
                      </a:r>
                      <a:endParaRPr lang="en-US" sz="110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1F33"/>
                          </a:solidFill>
                          <a:latin typeface="Calibri" pitchFamily="34" charset="0"/>
                          <a:ea typeface="Calibri" pitchFamily="34" charset="-122"/>
                          <a:cs typeface="Calibri" pitchFamily="34" charset="-120"/>
                        </a:rPr>
                        <a:t>0.80, 0.90</a:t>
                      </a:r>
                      <a:endParaRPr lang="en-US" sz="110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1F33"/>
                          </a:solidFill>
                          <a:latin typeface="Calibri" pitchFamily="34" charset="0"/>
                          <a:ea typeface="Calibri" pitchFamily="34" charset="-122"/>
                          <a:cs typeface="Calibri" pitchFamily="34" charset="-120"/>
                        </a:rPr>
                        <a:t>0.10</a:t>
                      </a:r>
                      <a:endParaRPr lang="en-US" sz="110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1F33"/>
                          </a:solidFill>
                          <a:latin typeface="Calibri" pitchFamily="34" charset="0"/>
                          <a:ea typeface="Calibri" pitchFamily="34" charset="-122"/>
                          <a:cs typeface="Calibri" pitchFamily="34" charset="-120"/>
                        </a:rPr>
                        <a:t>— (large, easy)</a:t>
                      </a:r>
                      <a:endParaRPr lang="en-US" sz="110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1F33"/>
                          </a:solidFill>
                          <a:latin typeface="Calibri" pitchFamily="34" charset="0"/>
                          <a:ea typeface="Calibri" pitchFamily="34" charset="-122"/>
                          <a:cs typeface="Calibri" pitchFamily="34" charset="-120"/>
                        </a:rPr>
                        <a:t>Clear-gap setting; baseline for exploitation efficiency.</a:t>
                      </a:r>
                      <a:endParaRPr lang="en-US" sz="110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49808">
                <a:tc>
                  <a:txBody>
                    <a:bodyPr/>
                    <a:lstStyle/>
                    <a:p>
                      <a:pPr marL="0" indent="0" algn="l">
                        <a:buNone/>
                      </a:pPr>
                      <a:r>
                        <a:rPr lang="en-US" sz="1100">
                          <a:solidFill>
                            <a:srgbClr val="1B1F33"/>
                          </a:solidFill>
                          <a:latin typeface="Calibri" pitchFamily="34" charset="0"/>
                          <a:ea typeface="Calibri" pitchFamily="34" charset="-122"/>
                          <a:cs typeface="Calibri" pitchFamily="34" charset="-120"/>
                        </a:rPr>
                        <a:t>B — Micro-Gap 1</a:t>
                      </a:r>
                      <a:endParaRPr lang="en-US" sz="110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4F6FB"/>
                    </a:solidFill>
                  </a:tcPr>
                </a:tc>
                <a:tc>
                  <a:txBody>
                    <a:bodyPr/>
                    <a:lstStyle/>
                    <a:p>
                      <a:pPr marL="0" indent="0" algn="l">
                        <a:buNone/>
                      </a:pPr>
                      <a:r>
                        <a:rPr lang="en-US" sz="1100" dirty="0">
                          <a:solidFill>
                            <a:srgbClr val="1B1F33"/>
                          </a:solidFill>
                          <a:latin typeface="Calibri" pitchFamily="34" charset="0"/>
                          <a:ea typeface="Calibri" pitchFamily="34" charset="-122"/>
                          <a:cs typeface="Calibri" pitchFamily="34" charset="-120"/>
                        </a:rPr>
                        <a:t>0.895, 0.90</a:t>
                      </a:r>
                      <a:endParaRPr lang="en-US" sz="110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4F6FB"/>
                    </a:solidFill>
                  </a:tcPr>
                </a:tc>
                <a:tc>
                  <a:txBody>
                    <a:bodyPr/>
                    <a:lstStyle/>
                    <a:p>
                      <a:pPr marL="0" indent="0" algn="l">
                        <a:buNone/>
                      </a:pPr>
                      <a:r>
                        <a:rPr lang="en-US" sz="1100" dirty="0">
                          <a:solidFill>
                            <a:srgbClr val="1B1F33"/>
                          </a:solidFill>
                          <a:latin typeface="Calibri" pitchFamily="34" charset="0"/>
                          <a:ea typeface="Calibri" pitchFamily="34" charset="-122"/>
                          <a:cs typeface="Calibri" pitchFamily="34" charset="-120"/>
                        </a:rPr>
                        <a:t>0.005</a:t>
                      </a:r>
                      <a:endParaRPr lang="en-US" sz="110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4F6FB"/>
                    </a:solidFill>
                  </a:tcPr>
                </a:tc>
                <a:tc>
                  <a:txBody>
                    <a:bodyPr/>
                    <a:lstStyle/>
                    <a:p>
                      <a:pPr marL="0" indent="0" algn="l">
                        <a:buNone/>
                      </a:pPr>
                      <a:r>
                        <a:rPr lang="en-US" sz="1100" dirty="0">
                          <a:solidFill>
                            <a:srgbClr val="1B1F33"/>
                          </a:solidFill>
                          <a:latin typeface="Calibri" pitchFamily="34" charset="0"/>
                          <a:ea typeface="Calibri" pitchFamily="34" charset="-122"/>
                          <a:cs typeface="Calibri" pitchFamily="34" charset="-120"/>
                        </a:rPr>
                        <a:t>≈0.094 vs. 0.09</a:t>
                      </a:r>
                      <a:endParaRPr lang="en-US" sz="110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4F6FB"/>
                    </a:solidFill>
                  </a:tcPr>
                </a:tc>
                <a:tc>
                  <a:txBody>
                    <a:bodyPr/>
                    <a:lstStyle/>
                    <a:p>
                      <a:pPr marL="0" indent="0" algn="l">
                        <a:buNone/>
                      </a:pPr>
                      <a:r>
                        <a:rPr lang="en-US" sz="1100">
                          <a:solidFill>
                            <a:srgbClr val="1B1F33"/>
                          </a:solidFill>
                          <a:latin typeface="Calibri" pitchFamily="34" charset="0"/>
                          <a:ea typeface="Calibri" pitchFamily="34" charset="-122"/>
                          <a:cs typeface="Calibri" pitchFamily="34" charset="-120"/>
                        </a:rPr>
                        <a:t>Tiny mean gap near p=0.9; tests difficult arm discrimination.</a:t>
                      </a:r>
                      <a:endParaRPr lang="en-US" sz="110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749808">
                <a:tc>
                  <a:txBody>
                    <a:bodyPr/>
                    <a:lstStyle/>
                    <a:p>
                      <a:pPr marL="0" indent="0" algn="l">
                        <a:buNone/>
                      </a:pPr>
                      <a:r>
                        <a:rPr lang="en-US" sz="1100">
                          <a:solidFill>
                            <a:srgbClr val="1B1F33"/>
                          </a:solidFill>
                          <a:latin typeface="Calibri" pitchFamily="34" charset="0"/>
                          <a:ea typeface="Calibri" pitchFamily="34" charset="-122"/>
                          <a:cs typeface="Calibri" pitchFamily="34" charset="-120"/>
                        </a:rPr>
                        <a:t>C — Micro-Gap 2</a:t>
                      </a:r>
                      <a:endParaRPr lang="en-US" sz="110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1F33"/>
                          </a:solidFill>
                          <a:latin typeface="Calibri" pitchFamily="34" charset="0"/>
                          <a:ea typeface="Calibri" pitchFamily="34" charset="-122"/>
                          <a:cs typeface="Calibri" pitchFamily="34" charset="-120"/>
                        </a:rPr>
                        <a:t>0.89, 0.895</a:t>
                      </a:r>
                      <a:endParaRPr lang="en-US" sz="110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1F33"/>
                          </a:solidFill>
                          <a:latin typeface="Calibri" pitchFamily="34" charset="0"/>
                          <a:ea typeface="Calibri" pitchFamily="34" charset="-122"/>
                          <a:cs typeface="Calibri" pitchFamily="34" charset="-120"/>
                        </a:rPr>
                        <a:t>0.005</a:t>
                      </a:r>
                      <a:endParaRPr lang="en-US" sz="110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1F33"/>
                          </a:solidFill>
                          <a:latin typeface="Calibri" pitchFamily="34" charset="0"/>
                          <a:ea typeface="Calibri" pitchFamily="34" charset="-122"/>
                          <a:cs typeface="Calibri" pitchFamily="34" charset="-120"/>
                        </a:rPr>
                        <a:t>≈0.098 vs. 0.094</a:t>
                      </a:r>
                      <a:endParaRPr lang="en-US" sz="110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100">
                          <a:solidFill>
                            <a:srgbClr val="1B1F33"/>
                          </a:solidFill>
                          <a:latin typeface="Calibri" pitchFamily="34" charset="0"/>
                          <a:ea typeface="Calibri" pitchFamily="34" charset="-122"/>
                          <a:cs typeface="Calibri" pitchFamily="34" charset="-120"/>
                        </a:rPr>
                        <a:t>Same tiny gap with shifted means and variances; not an independent variance intervention.</a:t>
                      </a:r>
                      <a:endParaRPr lang="en-US" sz="110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hape 3"/>
          <p:cNvSpPr/>
          <p:nvPr/>
        </p:nvSpPr>
        <p:spPr>
          <a:xfrm>
            <a:off x="548640" y="5120640"/>
            <a:ext cx="11064240" cy="777240"/>
          </a:xfrm>
          <a:prstGeom prst="rect">
            <a:avLst/>
          </a:prstGeom>
          <a:solidFill>
            <a:srgbClr val="1E2761"/>
          </a:solidFill>
          <a:ln/>
        </p:spPr>
        <p:txBody>
          <a:bodyPr/>
          <a:lstStyle/>
          <a:p>
            <a:endParaRPr lang="en-US"/>
          </a:p>
        </p:txBody>
      </p:sp>
      <p:sp>
        <p:nvSpPr>
          <p:cNvPr id="7" name="Text 4"/>
          <p:cNvSpPr txBox="1"/>
          <p:nvPr/>
        </p:nvSpPr>
        <p:spPr>
          <a:xfrm>
            <a:off x="822960" y="5120640"/>
            <a:ext cx="10515600" cy="777240"/>
          </a:xfrm>
          <a:prstGeom prst="rect">
            <a:avLst/>
          </a:prstGeom>
          <a:noFill/>
          <a:ln/>
        </p:spPr>
        <p:txBody>
          <a:bodyPr wrap="square" lIns="0" tIns="0" rIns="0" bIns="0" rtlCol="0" anchor="ctr"/>
          <a:lstStyle/>
          <a:p>
            <a:pPr marL="0" indent="0">
              <a:lnSpc>
                <a:spcPct val="115000"/>
              </a:lnSpc>
              <a:buNone/>
            </a:pPr>
            <a:r>
              <a:rPr lang="en-US" sz="1200" dirty="0">
                <a:solidFill>
                  <a:srgbClr val="FFFFFF"/>
                </a:solidFill>
                <a:latin typeface="Calibri" pitchFamily="34" charset="0"/>
                <a:ea typeface="Calibri" pitchFamily="34" charset="-122"/>
                <a:cs typeface="Calibri" pitchFamily="34" charset="-120"/>
              </a:rPr>
              <a:t>Every algorithm × every parameter setting × all 3 scenarios is run for T = 1,000,000 steps, repeated across 100 independent trials — producing both raw per-run data and averaged metrics.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Methodology &amp; Evaluation</a:t>
            </a:r>
            <a:endParaRPr lang="en-US" sz="28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marL="0" indent="0" algn="l">
              <a:buNone/>
            </a:pPr>
            <a:r>
              <a:rPr lang="en-US" sz="1400" i="1" dirty="0">
                <a:solidFill>
                  <a:srgbClr val="3A4468"/>
                </a:solidFill>
                <a:latin typeface="Calibri" pitchFamily="34" charset="0"/>
                <a:ea typeface="Calibri" pitchFamily="34" charset="-122"/>
                <a:cs typeface="Calibri" pitchFamily="34" charset="-120"/>
              </a:rPr>
              <a:t>How the comparison is kept fair, and how results are statistically validated</a:t>
            </a:r>
            <a:endParaRPr lang="en-US" sz="1400" dirty="0"/>
          </a:p>
        </p:txBody>
      </p:sp>
      <p:sp>
        <p:nvSpPr>
          <p:cNvPr id="4" name="Text 2"/>
          <p:cNvSpPr txBox="1"/>
          <p:nvPr/>
        </p:nvSpPr>
        <p:spPr>
          <a:xfrm>
            <a:off x="457200" y="6565392"/>
            <a:ext cx="8686800" cy="256032"/>
          </a:xfrm>
          <a:prstGeom prst="rect">
            <a:avLst/>
          </a:prstGeom>
          <a:noFill/>
          <a:ln/>
        </p:spPr>
        <p:txBody>
          <a:bodyPr wrap="square" lIns="0" tIns="0" rIns="0" bIns="0" rtlCol="0" anchor="ctr"/>
          <a:lstStyle/>
          <a:p>
            <a:r>
              <a:rPr lang="en-US" sz="900">
                <a:solidFill>
                  <a:srgbClr val="8A93B8"/>
                </a:solidFill>
                <a:latin typeface="Calibri" pitchFamily="34" charset="0"/>
                <a:ea typeface="Calibri" pitchFamily="34" charset="-122"/>
                <a:cs typeface="Calibri" pitchFamily="34" charset="-120"/>
              </a:rPr>
              <a:t>Group 8 | DRL Assignment Problem 1 | Variance-Aware Bandits | Sec. 2/5: Algorithms | Slide 9 of 23</a:t>
            </a:r>
            <a:endParaRPr lang="en-US" sz="900" dirty="0"/>
          </a:p>
        </p:txBody>
      </p:sp>
      <p:sp>
        <p:nvSpPr>
          <p:cNvPr id="5" name="Text 3"/>
          <p:cNvSpPr txBox="1"/>
          <p:nvPr/>
        </p:nvSpPr>
        <p:spPr>
          <a:xfrm>
            <a:off x="548640" y="1463040"/>
            <a:ext cx="11064240" cy="548640"/>
          </a:xfrm>
          <a:prstGeom prst="rect">
            <a:avLst/>
          </a:prstGeom>
          <a:noFill/>
          <a:ln/>
        </p:spPr>
        <p:txBody>
          <a:bodyPr wrap="square" lIns="0" tIns="0" rIns="0" bIns="0" rtlCol="0" anchor="ctr"/>
          <a:lstStyle/>
          <a:p>
            <a:pPr marL="0" indent="0">
              <a:lnSpc>
                <a:spcPct val="120000"/>
              </a:lnSpc>
              <a:buNone/>
            </a:pPr>
            <a:r>
              <a:rPr lang="en-US" sz="1150" dirty="0">
                <a:solidFill>
                  <a:srgbClr val="1B1F33"/>
                </a:solidFill>
                <a:latin typeface="Calibri" pitchFamily="34" charset="0"/>
                <a:ea typeface="Calibri" pitchFamily="34" charset="-122"/>
                <a:cs typeface="Calibri" pitchFamily="34" charset="-120"/>
              </a:rPr>
              <a:t>Design objective: all algorithms run under identical initialization, deterministic seeds, and normalized time progression, so observed differences reflect algorithmic principles — not implementation artifacts.</a:t>
            </a:r>
            <a:endParaRPr lang="en-US" sz="1150" dirty="0"/>
          </a:p>
        </p:txBody>
      </p:sp>
      <p:sp>
        <p:nvSpPr>
          <p:cNvPr id="6" name="Text 4"/>
          <p:cNvSpPr txBox="1"/>
          <p:nvPr/>
        </p:nvSpPr>
        <p:spPr>
          <a:xfrm>
            <a:off x="548640" y="2103120"/>
            <a:ext cx="548640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Fairness &amp; reproducibility controls</a:t>
            </a:r>
            <a:endParaRPr lang="en-US" sz="1300" dirty="0"/>
          </a:p>
        </p:txBody>
      </p:sp>
      <p:sp>
        <p:nvSpPr>
          <p:cNvPr id="7" name="Text 5"/>
          <p:cNvSpPr txBox="1"/>
          <p:nvPr/>
        </p:nvSpPr>
        <p:spPr>
          <a:xfrm>
            <a:off x="640080" y="2468880"/>
            <a:ext cx="5394960" cy="4114800"/>
          </a:xfrm>
          <a:prstGeom prst="rect">
            <a:avLst/>
          </a:prstGeom>
          <a:noFill/>
          <a:ln/>
        </p:spPr>
        <p:txBody>
          <a:bodyPr wrap="square" lIns="0" tIns="0" rIns="0" bIns="0" rtlCol="0" anchor="t"/>
          <a:lstStyle/>
          <a:p>
            <a:pPr marL="342900" indent="-342900">
              <a:spcAft>
                <a:spcPts val="700"/>
              </a:spcAft>
              <a:buSzPct val="100000"/>
              <a:buChar char="–"/>
            </a:pPr>
            <a:r>
              <a:rPr lang="en-US" sz="1050" dirty="0">
                <a:solidFill>
                  <a:srgbClr val="1B1F33"/>
                </a:solidFill>
                <a:latin typeface="Calibri" pitchFamily="34" charset="0"/>
                <a:ea typeface="Calibri" pitchFamily="34" charset="-122"/>
                <a:cs typeface="Calibri" pitchFamily="34" charset="-120"/>
              </a:rPr>
              <a:t>Identical initialization — same arm-count / empirical-mean scheme for every algorithm.</a:t>
            </a:r>
            <a:endParaRPr lang="en-US" sz="1050" dirty="0"/>
          </a:p>
          <a:p>
            <a:pPr marL="342900" indent="-342900">
              <a:spcAft>
                <a:spcPts val="700"/>
              </a:spcAft>
              <a:buSzPct val="100000"/>
              <a:buChar char="–"/>
            </a:pPr>
            <a:r>
              <a:rPr lang="en-US" sz="1050" dirty="0">
                <a:solidFill>
                  <a:srgbClr val="1B1F33"/>
                </a:solidFill>
                <a:latin typeface="Calibri" pitchFamily="34" charset="0"/>
                <a:ea typeface="Calibri" pitchFamily="34" charset="-122"/>
                <a:cs typeface="Calibri" pitchFamily="34" charset="-120"/>
              </a:rPr>
              <a:t>Deterministic random seeds — every run is exactly reproducible.</a:t>
            </a:r>
            <a:endParaRPr lang="en-US" sz="1050" dirty="0"/>
          </a:p>
          <a:p>
            <a:pPr marL="342900" indent="-342900">
              <a:spcAft>
                <a:spcPts val="700"/>
              </a:spcAft>
              <a:buSzPct val="100000"/>
              <a:buChar char="–"/>
            </a:pPr>
            <a:r>
              <a:rPr lang="en-US" sz="1050" dirty="0">
                <a:solidFill>
                  <a:srgbClr val="1B1F33"/>
                </a:solidFill>
                <a:latin typeface="Calibri" pitchFamily="34" charset="0"/>
                <a:ea typeface="Calibri" pitchFamily="34" charset="-122"/>
                <a:cs typeface="Calibri" pitchFamily="34" charset="-120"/>
              </a:rPr>
              <a:t>Arm-order permutation — all orderings tested, removing tie-breaking bias.</a:t>
            </a:r>
            <a:endParaRPr lang="en-US" sz="1050" dirty="0"/>
          </a:p>
          <a:p>
            <a:pPr marL="342900" indent="-342900">
              <a:spcAft>
                <a:spcPts val="700"/>
              </a:spcAft>
              <a:buSzPct val="100000"/>
              <a:buChar char="–"/>
            </a:pPr>
            <a:r>
              <a:rPr lang="en-US" sz="1050" dirty="0">
                <a:solidFill>
                  <a:srgbClr val="1B1F33"/>
                </a:solidFill>
                <a:latin typeface="Calibri" pitchFamily="34" charset="0"/>
                <a:ea typeface="Calibri" pitchFamily="34" charset="-122"/>
                <a:cs typeface="Calibri" pitchFamily="34" charset="-120"/>
              </a:rPr>
              <a:t>Normalized time steps — UCB-Improved adapted to one pull per step, matching every other algorithm.</a:t>
            </a:r>
            <a:endParaRPr lang="en-US" sz="1050" dirty="0"/>
          </a:p>
          <a:p>
            <a:pPr marL="342900" indent="-342900">
              <a:spcAft>
                <a:spcPts val="700"/>
              </a:spcAft>
              <a:buSzPct val="100000"/>
              <a:buChar char="–"/>
            </a:pPr>
            <a:r>
              <a:rPr lang="en-US" sz="1050" dirty="0">
                <a:solidFill>
                  <a:srgbClr val="1B1F33"/>
                </a:solidFill>
                <a:latin typeface="Calibri" pitchFamily="34" charset="0"/>
                <a:ea typeface="Calibri" pitchFamily="34" charset="-122"/>
                <a:cs typeface="Calibri" pitchFamily="34" charset="-120"/>
              </a:rPr>
              <a:t>Open codebase (“Bandit Playground”) with structured CSV logs for independent replication.</a:t>
            </a:r>
            <a:endParaRPr lang="en-US" sz="1050" dirty="0"/>
          </a:p>
        </p:txBody>
      </p:sp>
      <p:sp>
        <p:nvSpPr>
          <p:cNvPr id="8" name="Shape 6"/>
          <p:cNvSpPr/>
          <p:nvPr/>
        </p:nvSpPr>
        <p:spPr>
          <a:xfrm>
            <a:off x="6309360" y="2103120"/>
            <a:ext cx="0" cy="3977640"/>
          </a:xfrm>
          <a:prstGeom prst="line">
            <a:avLst/>
          </a:prstGeom>
          <a:noFill/>
          <a:ln w="12700">
            <a:solidFill>
              <a:srgbClr val="D5DAE8"/>
            </a:solidFill>
            <a:prstDash val="solid"/>
          </a:ln>
        </p:spPr>
        <p:txBody>
          <a:bodyPr/>
          <a:lstStyle/>
          <a:p>
            <a:endParaRPr lang="en-US"/>
          </a:p>
        </p:txBody>
      </p:sp>
      <p:sp>
        <p:nvSpPr>
          <p:cNvPr id="9" name="Text 7"/>
          <p:cNvSpPr txBox="1"/>
          <p:nvPr/>
        </p:nvSpPr>
        <p:spPr>
          <a:xfrm>
            <a:off x="6492240" y="2103120"/>
            <a:ext cx="512064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Recorded metrics &amp; statistical checks</a:t>
            </a:r>
            <a:endParaRPr lang="en-US" sz="1300" dirty="0"/>
          </a:p>
        </p:txBody>
      </p:sp>
      <p:sp>
        <p:nvSpPr>
          <p:cNvPr id="10" name="Text 8"/>
          <p:cNvSpPr txBox="1"/>
          <p:nvPr/>
        </p:nvSpPr>
        <p:spPr>
          <a:xfrm>
            <a:off x="6492240" y="2468880"/>
            <a:ext cx="5120640" cy="4114800"/>
          </a:xfrm>
          <a:prstGeom prst="rect">
            <a:avLst/>
          </a:prstGeom>
          <a:noFill/>
          <a:ln/>
        </p:spPr>
        <p:txBody>
          <a:bodyPr wrap="square" lIns="0" tIns="0" rIns="0" bIns="0" rtlCol="0" anchor="t"/>
          <a:lstStyle/>
          <a:p>
            <a:pPr marL="342900" indent="-342900">
              <a:spcAft>
                <a:spcPts val="800"/>
              </a:spcAft>
              <a:buSzPct val="100000"/>
              <a:buChar char="–"/>
            </a:pPr>
            <a:r>
              <a:rPr lang="en-US" sz="1050">
                <a:solidFill>
                  <a:srgbClr val="1B1F33"/>
                </a:solidFill>
                <a:latin typeface="Calibri" pitchFamily="34" charset="0"/>
                <a:ea typeface="Calibri" pitchFamily="34" charset="-122"/>
                <a:cs typeface="Calibri" pitchFamily="34" charset="-120"/>
              </a:rPr>
              <a:t>Cumulative reward </a:t>
            </a:r>
            <a:r>
              <a:rPr lang="el-GR" sz="1050">
                <a:solidFill>
                  <a:srgbClr val="1B1F33"/>
                </a:solidFill>
                <a:latin typeface="Calibri" pitchFamily="34" charset="0"/>
                <a:ea typeface="Calibri" pitchFamily="34" charset="-122"/>
                <a:cs typeface="Calibri" pitchFamily="34" charset="-120"/>
              </a:rPr>
              <a:t>Σ</a:t>
            </a:r>
            <a:r>
              <a:rPr lang="en-US" sz="1050">
                <a:solidFill>
                  <a:srgbClr val="1B1F33"/>
                </a:solidFill>
                <a:latin typeface="Calibri" pitchFamily="34" charset="0"/>
                <a:ea typeface="Calibri" pitchFamily="34" charset="-122"/>
                <a:cs typeface="Calibri" pitchFamily="34" charset="-120"/>
              </a:rPr>
              <a:t>Xₖ and cumulative regret Rₜ = </a:t>
            </a:r>
            <a:r>
              <a:rPr lang="el-GR" sz="1050">
                <a:solidFill>
                  <a:srgbClr val="1B1F33"/>
                </a:solidFill>
                <a:latin typeface="Calibri" pitchFamily="34" charset="0"/>
                <a:ea typeface="Calibri" pitchFamily="34" charset="-122"/>
                <a:cs typeface="Calibri" pitchFamily="34" charset="-120"/>
              </a:rPr>
              <a:t>Σ(</a:t>
            </a:r>
            <a:r>
              <a:rPr lang="en-US" sz="1050">
                <a:solidFill>
                  <a:srgbClr val="1B1F33"/>
                </a:solidFill>
                <a:latin typeface="Calibri" pitchFamily="34" charset="0"/>
                <a:ea typeface="Calibri" pitchFamily="34" charset="-122"/>
                <a:cs typeface="Calibri" pitchFamily="34" charset="-120"/>
              </a:rPr>
              <a:t>Q* − Qₐₖ), logged at logarithmically-spaced checkpoints up to T = 10⁶.</a:t>
            </a:r>
          </a:p>
          <a:p>
            <a:pPr marL="342900" indent="-342900">
              <a:spcAft>
                <a:spcPts val="800"/>
              </a:spcAft>
              <a:buSzPct val="100000"/>
              <a:buChar char="–"/>
            </a:pPr>
            <a:r>
              <a:rPr lang="en-US" sz="1050">
                <a:solidFill>
                  <a:srgbClr val="1B1F33"/>
                </a:solidFill>
                <a:latin typeface="Calibri" pitchFamily="34" charset="0"/>
                <a:ea typeface="Calibri" pitchFamily="34" charset="-122"/>
                <a:cs typeface="Calibri" pitchFamily="34" charset="-120"/>
              </a:rPr>
              <a:t>Suboptimal arm pulls and binary (0/1) reward outcome counts.</a:t>
            </a:r>
          </a:p>
          <a:p>
            <a:pPr marL="342900" indent="-342900">
              <a:spcAft>
                <a:spcPts val="800"/>
              </a:spcAft>
              <a:buSzPct val="100000"/>
              <a:buChar char="–"/>
            </a:pPr>
            <a:r>
              <a:rPr lang="el-GR" sz="1050">
                <a:solidFill>
                  <a:srgbClr val="1B1F33"/>
                </a:solidFill>
                <a:latin typeface="Calibri" pitchFamily="34" charset="0"/>
                <a:ea typeface="Calibri" pitchFamily="34" charset="-122"/>
                <a:cs typeface="Calibri" pitchFamily="34" charset="-120"/>
              </a:rPr>
              <a:t>χ² </a:t>
            </a:r>
            <a:r>
              <a:rPr lang="en-US" sz="1050">
                <a:solidFill>
                  <a:srgbClr val="1B1F33"/>
                </a:solidFill>
                <a:latin typeface="Calibri" pitchFamily="34" charset="0"/>
                <a:ea typeface="Calibri" pitchFamily="34" charset="-122"/>
                <a:cs typeface="Calibri" pitchFamily="34" charset="-120"/>
              </a:rPr>
              <a:t>test comparing each algorithm's observed reward variance at T = 10⁶ with the expected variance of the optimal arm — reported as a p-value.</a:t>
            </a:r>
          </a:p>
          <a:p>
            <a:pPr marL="342900" indent="-342900">
              <a:spcAft>
                <a:spcPts val="800"/>
              </a:spcAft>
              <a:buSzPct val="100000"/>
              <a:buChar char="–"/>
            </a:pPr>
            <a:r>
              <a:rPr lang="en-US" sz="1050">
                <a:solidFill>
                  <a:srgbClr val="1B1F33"/>
                </a:solidFill>
                <a:latin typeface="Calibri" pitchFamily="34" charset="0"/>
                <a:ea typeface="Calibri" pitchFamily="34" charset="-122"/>
                <a:cs typeface="Calibri" pitchFamily="34" charset="-120"/>
              </a:rPr>
              <a:t>Value-at-Risk, VaR</a:t>
            </a:r>
            <a:r>
              <a:rPr lang="el-GR" sz="1050">
                <a:solidFill>
                  <a:srgbClr val="1B1F33"/>
                </a:solidFill>
                <a:latin typeface="Calibri" pitchFamily="34" charset="0"/>
                <a:ea typeface="Calibri" pitchFamily="34" charset="-122"/>
                <a:cs typeface="Calibri" pitchFamily="34" charset="-120"/>
              </a:rPr>
              <a:t>α(</a:t>
            </a:r>
            <a:r>
              <a:rPr lang="en-US" sz="1050">
                <a:solidFill>
                  <a:srgbClr val="1B1F33"/>
                </a:solidFill>
                <a:latin typeface="Calibri" pitchFamily="34" charset="0"/>
                <a:ea typeface="Calibri" pitchFamily="34" charset="-122"/>
                <a:cs typeface="Calibri" pitchFamily="34" charset="-120"/>
              </a:rPr>
              <a:t>Rₜ) at </a:t>
            </a:r>
            <a:r>
              <a:rPr lang="el-GR" sz="1050">
                <a:solidFill>
                  <a:srgbClr val="1B1F33"/>
                </a:solidFill>
                <a:latin typeface="Calibri" pitchFamily="34" charset="0"/>
                <a:ea typeface="Calibri" pitchFamily="34" charset="-122"/>
                <a:cs typeface="Calibri" pitchFamily="34" charset="-120"/>
              </a:rPr>
              <a:t>α ∈ {0.01, 0.05, 0.1} — </a:t>
            </a:r>
            <a:r>
              <a:rPr lang="en-US" sz="1050">
                <a:solidFill>
                  <a:srgbClr val="1B1F33"/>
                </a:solidFill>
                <a:latin typeface="Calibri" pitchFamily="34" charset="0"/>
                <a:ea typeface="Calibri" pitchFamily="34" charset="-122"/>
                <a:cs typeface="Calibri" pitchFamily="34" charset="-120"/>
              </a:rPr>
              <a:t>summarizes upper regret quantiles and tail risk beyond the average.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41E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10896"/>
            <a:ext cx="11100816" cy="475488"/>
          </a:xfrm>
          <a:prstGeom prst="rect">
            <a:avLst/>
          </a:prstGeom>
          <a:noFill/>
        </p:spPr>
        <p:txBody>
          <a:bodyPr wrap="square" lIns="0" tIns="0" rIns="0" bIns="0">
            <a:spAutoFit/>
          </a:bodyPr>
          <a:lstStyle/>
          <a:p>
            <a:pPr algn="l"/>
            <a:r>
              <a:rPr sz="2600" b="1" i="0">
                <a:solidFill>
                  <a:srgbClr val="FFFFFF"/>
                </a:solidFill>
                <a:latin typeface="Georgia"/>
              </a:rPr>
              <a:t>Divakaran Ramu — Working and Source</a:t>
            </a:r>
          </a:p>
        </p:txBody>
      </p:sp>
      <p:sp>
        <p:nvSpPr>
          <p:cNvPr id="4" name="TextBox 3"/>
          <p:cNvSpPr txBox="1"/>
          <p:nvPr/>
        </p:nvSpPr>
        <p:spPr>
          <a:xfrm>
            <a:off x="548640" y="896112"/>
            <a:ext cx="11100816" cy="310896"/>
          </a:xfrm>
          <a:prstGeom prst="rect">
            <a:avLst/>
          </a:prstGeom>
          <a:noFill/>
        </p:spPr>
        <p:txBody>
          <a:bodyPr wrap="square" lIns="0" tIns="0" rIns="0" bIns="0">
            <a:spAutoFit/>
          </a:bodyPr>
          <a:lstStyle/>
          <a:p>
            <a:pPr algn="l"/>
            <a:r>
              <a:rPr sz="1150" b="0" i="0">
                <a:solidFill>
                  <a:srgbClr val="CDD6F1"/>
                </a:solidFill>
                <a:latin typeface="Aptos"/>
              </a:rPr>
              <a:t>The one term that separates plain UCB from the variance-aware family, read from the author's own repository.</a:t>
            </a:r>
          </a:p>
        </p:txBody>
      </p:sp>
      <p:sp>
        <p:nvSpPr>
          <p:cNvPr id="5" name="Rounded Rectangle 4"/>
          <p:cNvSpPr/>
          <p:nvPr/>
        </p:nvSpPr>
        <p:spPr>
          <a:xfrm>
            <a:off x="548640" y="1325880"/>
            <a:ext cx="6400800" cy="449884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463039"/>
            <a:ext cx="5998464" cy="237744"/>
          </a:xfrm>
          <a:prstGeom prst="rect">
            <a:avLst/>
          </a:prstGeom>
          <a:noFill/>
        </p:spPr>
        <p:txBody>
          <a:bodyPr wrap="square" lIns="0" tIns="0" rIns="0" bIns="0">
            <a:spAutoFit/>
          </a:bodyPr>
          <a:lstStyle/>
          <a:p>
            <a:pPr algn="l"/>
            <a:r>
              <a:rPr sz="1000" b="1" i="0">
                <a:solidFill>
                  <a:srgbClr val="1F3570"/>
                </a:solidFill>
                <a:latin typeface="Aptos"/>
              </a:rPr>
              <a:t>Code source — the author's repository, branch v1.0-SKILL2025</a:t>
            </a:r>
          </a:p>
        </p:txBody>
      </p:sp>
      <p:pic>
        <p:nvPicPr>
          <p:cNvPr id="7" name="Picture 6" descr="g_tuned2.png"/>
          <p:cNvPicPr>
            <a:picLocks noChangeAspect="1"/>
          </p:cNvPicPr>
          <p:nvPr/>
        </p:nvPicPr>
        <p:blipFill>
          <a:blip r:embed="rId3"/>
          <a:stretch>
            <a:fillRect/>
          </a:stretch>
        </p:blipFill>
        <p:spPr>
          <a:xfrm>
            <a:off x="685799" y="1746504"/>
            <a:ext cx="6126480" cy="2345064"/>
          </a:xfrm>
          <a:prstGeom prst="rect">
            <a:avLst/>
          </a:prstGeom>
        </p:spPr>
      </p:pic>
      <p:sp>
        <p:nvSpPr>
          <p:cNvPr id="8" name="TextBox 7"/>
          <p:cNvSpPr txBox="1"/>
          <p:nvPr/>
        </p:nvSpPr>
        <p:spPr>
          <a:xfrm>
            <a:off x="749808" y="4237872"/>
            <a:ext cx="5998464" cy="274320"/>
          </a:xfrm>
          <a:prstGeom prst="rect">
            <a:avLst/>
          </a:prstGeom>
          <a:noFill/>
        </p:spPr>
        <p:txBody>
          <a:bodyPr wrap="square" lIns="0" tIns="0" rIns="0" bIns="0">
            <a:spAutoFit/>
          </a:bodyPr>
          <a:lstStyle/>
          <a:p>
            <a:pPr algn="l"/>
            <a:r>
              <a:rPr sz="950" b="1" i="0">
                <a:solidFill>
                  <a:srgbClr val="1F3570"/>
                </a:solidFill>
                <a:latin typeface="Aptos"/>
              </a:rPr>
              <a:t>Same file, same repository: UCB.py line 27 has no variance term at all,</a:t>
            </a:r>
          </a:p>
          <a:p>
            <a:pPr algn="l"/>
            <a:r>
              <a:rPr sz="950" b="1" i="0">
                <a:solidFill>
                  <a:srgbClr val="1F3570"/>
                </a:solidFill>
                <a:latin typeface="Aptos"/>
              </a:rPr>
              <a:t>and config.py line 57 sets global_seed = 42, so every run reproduces exactly.</a:t>
            </a:r>
          </a:p>
        </p:txBody>
      </p:sp>
      <p:sp>
        <p:nvSpPr>
          <p:cNvPr id="9" name="Rounded Rectangle 8"/>
          <p:cNvSpPr/>
          <p:nvPr/>
        </p:nvSpPr>
        <p:spPr>
          <a:xfrm>
            <a:off x="7251192" y="1325880"/>
            <a:ext cx="4389120" cy="4498848"/>
          </a:xfrm>
          <a:prstGeom prst="roundRect">
            <a:avLst/>
          </a:prstGeom>
          <a:solidFill>
            <a:srgbClr val="141E49"/>
          </a:solidFill>
          <a:ln w="15875">
            <a:solidFill>
              <a:srgbClr val="F4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6565392"/>
            <a:ext cx="8686800" cy="256032"/>
          </a:xfrm>
          <a:prstGeom prst="rect">
            <a:avLst/>
          </a:prstGeom>
          <a:noFill/>
        </p:spPr>
        <p:txBody>
          <a:bodyPr wrap="square" lIns="0" tIns="0" rIns="0" bIns="0">
            <a:spAutoFit/>
          </a:bodyPr>
          <a:lstStyle/>
          <a:p>
            <a:pPr algn="l"/>
            <a:r>
              <a:rPr sz="900" b="0" i="0">
                <a:solidFill>
                  <a:srgbClr val="8894B0"/>
                </a:solidFill>
                <a:latin typeface="Calibri"/>
              </a:rPr>
              <a:t>Group 8 | DRL Assignment Problem 1 | Variance-Aware Bandits | Sec. 2/5: Algorithms | Slide 10 of 23</a:t>
            </a:r>
          </a:p>
        </p:txBody>
      </p:sp>
      <p:sp>
        <p:nvSpPr>
          <p:cNvPr id="15" name="TextBox 14">
            <a:extLst>
              <a:ext uri="{FF2B5EF4-FFF2-40B4-BE49-F238E27FC236}">
                <a16:creationId xmlns:a16="http://schemas.microsoft.com/office/drawing/2014/main" id="{53F3D05F-D998-6EE1-8F2F-0ECB7D83F495}"/>
              </a:ext>
            </a:extLst>
          </p:cNvPr>
          <p:cNvSpPr txBox="1"/>
          <p:nvPr/>
        </p:nvSpPr>
        <p:spPr>
          <a:xfrm>
            <a:off x="9652000" y="6501482"/>
            <a:ext cx="2540000" cy="374461"/>
          </a:xfrm>
          <a:prstGeom prst="rect">
            <a:avLst/>
          </a:prstGeom>
          <a:solidFill>
            <a:srgbClr val="223975"/>
          </a:solidFill>
        </p:spPr>
        <p:txBody>
          <a:bodyPr vert="horz" wrap="square" lIns="76200" tIns="25400" rIns="76200" bIns="12700" rtlCol="0">
            <a:noAutofit/>
          </a:bodyPr>
          <a:lstStyle/>
          <a:p>
            <a:pPr algn="ctr"/>
            <a:r>
              <a:rPr lang="en-US" sz="800" b="1" dirty="0">
                <a:solidFill>
                  <a:srgbClr val="FFFFFF"/>
                </a:solidFill>
                <a:latin typeface="Aptos" panose="020B0004020202020204" pitchFamily="34" charset="0"/>
              </a:rPr>
              <a:t>Contributor: </a:t>
            </a:r>
            <a:r>
              <a:rPr lang="en-US" sz="800" b="1" dirty="0" err="1">
                <a:solidFill>
                  <a:srgbClr val="FFFFFF"/>
                </a:solidFill>
                <a:latin typeface="Aptos" panose="020B0004020202020204" pitchFamily="34" charset="0"/>
              </a:rPr>
              <a:t>Divakaran</a:t>
            </a:r>
            <a:r>
              <a:rPr lang="en-US" sz="800" b="1" dirty="0">
                <a:solidFill>
                  <a:srgbClr val="FFFFFF"/>
                </a:solidFill>
                <a:latin typeface="Aptos" panose="020B0004020202020204" pitchFamily="34" charset="0"/>
              </a:rPr>
              <a:t> Ramu</a:t>
            </a:r>
          </a:p>
        </p:txBody>
      </p:sp>
      <p:pic>
        <p:nvPicPr>
          <p:cNvPr id="16" name="Picture 15" descr="divakaran.jpg"/>
          <p:cNvPicPr>
            <a:picLocks noChangeAspect="1"/>
          </p:cNvPicPr>
          <p:nvPr/>
        </p:nvPicPr>
        <p:blipFill>
          <a:blip r:embed="rId4"/>
          <a:stretch>
            <a:fillRect/>
          </a:stretch>
        </p:blipFill>
        <p:spPr>
          <a:xfrm>
            <a:off x="7861583" y="1453895"/>
            <a:ext cx="3168336" cy="424281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41E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10896"/>
            <a:ext cx="11100816" cy="475488"/>
          </a:xfrm>
          <a:prstGeom prst="rect">
            <a:avLst/>
          </a:prstGeom>
          <a:noFill/>
        </p:spPr>
        <p:txBody>
          <a:bodyPr wrap="square" lIns="0" tIns="0" rIns="0" bIns="0">
            <a:spAutoFit/>
          </a:bodyPr>
          <a:lstStyle/>
          <a:p>
            <a:pPr algn="l"/>
            <a:r>
              <a:rPr sz="2600" b="1" i="0">
                <a:solidFill>
                  <a:srgbClr val="FFFFFF"/>
                </a:solidFill>
                <a:latin typeface="Georgia"/>
              </a:rPr>
              <a:t>Divakaran Ramu — Source Code Trace (continued)</a:t>
            </a:r>
          </a:p>
        </p:txBody>
      </p:sp>
      <p:sp>
        <p:nvSpPr>
          <p:cNvPr id="4" name="TextBox 3"/>
          <p:cNvSpPr txBox="1"/>
          <p:nvPr/>
        </p:nvSpPr>
        <p:spPr>
          <a:xfrm>
            <a:off x="548640" y="896112"/>
            <a:ext cx="11100816" cy="310896"/>
          </a:xfrm>
          <a:prstGeom prst="rect">
            <a:avLst/>
          </a:prstGeom>
          <a:noFill/>
        </p:spPr>
        <p:txBody>
          <a:bodyPr wrap="square" lIns="0" tIns="0" rIns="0" bIns="0">
            <a:spAutoFit/>
          </a:bodyPr>
          <a:lstStyle/>
          <a:p>
            <a:pPr algn="l"/>
            <a:r>
              <a:rPr sz="1150" b="0" i="0">
                <a:solidFill>
                  <a:srgbClr val="CDD6F1"/>
                </a:solidFill>
                <a:latin typeface="Aptos"/>
              </a:rPr>
              <a:t>The contrast: plain UCB has no variance term anywhere, and the seed is fixed so every run reproduces.</a:t>
            </a:r>
          </a:p>
        </p:txBody>
      </p:sp>
      <p:sp>
        <p:nvSpPr>
          <p:cNvPr id="5" name="Rounded Rectangle 4"/>
          <p:cNvSpPr/>
          <p:nvPr/>
        </p:nvSpPr>
        <p:spPr>
          <a:xfrm>
            <a:off x="548640" y="1325880"/>
            <a:ext cx="11091672" cy="449884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463039"/>
            <a:ext cx="10689336" cy="237744"/>
          </a:xfrm>
          <a:prstGeom prst="rect">
            <a:avLst/>
          </a:prstGeom>
          <a:noFill/>
        </p:spPr>
        <p:txBody>
          <a:bodyPr wrap="square" lIns="0" tIns="0" rIns="0" bIns="0">
            <a:spAutoFit/>
          </a:bodyPr>
          <a:lstStyle/>
          <a:p>
            <a:pPr algn="l"/>
            <a:r>
              <a:rPr sz="1000" b="1" i="0">
                <a:solidFill>
                  <a:srgbClr val="1F3570"/>
                </a:solidFill>
                <a:latin typeface="Aptos"/>
              </a:rPr>
              <a:t>Code source — the author's repository, branch v1.0-SKILL2025</a:t>
            </a:r>
          </a:p>
        </p:txBody>
      </p:sp>
      <p:sp>
        <p:nvSpPr>
          <p:cNvPr id="7" name="TextBox 6"/>
          <p:cNvSpPr txBox="1"/>
          <p:nvPr/>
        </p:nvSpPr>
        <p:spPr>
          <a:xfrm>
            <a:off x="749808" y="1764792"/>
            <a:ext cx="10689336" cy="201168"/>
          </a:xfrm>
          <a:prstGeom prst="rect">
            <a:avLst/>
          </a:prstGeom>
          <a:noFill/>
        </p:spPr>
        <p:txBody>
          <a:bodyPr wrap="square" lIns="0" tIns="0" rIns="0" bIns="0">
            <a:spAutoFit/>
          </a:bodyPr>
          <a:lstStyle/>
          <a:p>
            <a:pPr algn="l"/>
            <a:r>
              <a:rPr sz="950" b="1" i="0">
                <a:solidFill>
                  <a:srgbClr val="1F3570"/>
                </a:solidFill>
                <a:latin typeface="Aptos"/>
              </a:rPr>
              <a:t>UCB.py, line 27 — the exploration bonus uses only time and pull count</a:t>
            </a:r>
          </a:p>
        </p:txBody>
      </p:sp>
      <p:pic>
        <p:nvPicPr>
          <p:cNvPr id="8" name="Picture 7" descr="g_ucb.png"/>
          <p:cNvPicPr>
            <a:picLocks noChangeAspect="1"/>
          </p:cNvPicPr>
          <p:nvPr/>
        </p:nvPicPr>
        <p:blipFill>
          <a:blip r:embed="rId3"/>
          <a:stretch>
            <a:fillRect/>
          </a:stretch>
        </p:blipFill>
        <p:spPr>
          <a:xfrm>
            <a:off x="2162556" y="2002536"/>
            <a:ext cx="7863840" cy="2480707"/>
          </a:xfrm>
          <a:prstGeom prst="rect">
            <a:avLst/>
          </a:prstGeom>
        </p:spPr>
      </p:pic>
      <p:sp>
        <p:nvSpPr>
          <p:cNvPr id="9" name="TextBox 8"/>
          <p:cNvSpPr txBox="1"/>
          <p:nvPr/>
        </p:nvSpPr>
        <p:spPr>
          <a:xfrm>
            <a:off x="749808" y="4647835"/>
            <a:ext cx="10689336" cy="201168"/>
          </a:xfrm>
          <a:prstGeom prst="rect">
            <a:avLst/>
          </a:prstGeom>
          <a:noFill/>
        </p:spPr>
        <p:txBody>
          <a:bodyPr wrap="square" lIns="0" tIns="0" rIns="0" bIns="0">
            <a:spAutoFit/>
          </a:bodyPr>
          <a:lstStyle/>
          <a:p>
            <a:pPr algn="l"/>
            <a:r>
              <a:rPr sz="950" b="1" i="0">
                <a:solidFill>
                  <a:srgbClr val="1F3570"/>
                </a:solidFill>
                <a:latin typeface="Aptos"/>
              </a:rPr>
              <a:t>config.py, line 57 — the fixed seed behind every reported run</a:t>
            </a:r>
          </a:p>
        </p:txBody>
      </p:sp>
      <p:pic>
        <p:nvPicPr>
          <p:cNvPr id="10" name="Picture 9" descr="g_cfg.png"/>
          <p:cNvPicPr>
            <a:picLocks noChangeAspect="1"/>
          </p:cNvPicPr>
          <p:nvPr/>
        </p:nvPicPr>
        <p:blipFill>
          <a:blip r:embed="rId4"/>
          <a:stretch>
            <a:fillRect/>
          </a:stretch>
        </p:blipFill>
        <p:spPr>
          <a:xfrm>
            <a:off x="2162556" y="4885578"/>
            <a:ext cx="7863840" cy="482316"/>
          </a:xfrm>
          <a:prstGeom prst="rect">
            <a:avLst/>
          </a:prstGeom>
        </p:spPr>
      </p:pic>
      <p:sp>
        <p:nvSpPr>
          <p:cNvPr id="11" name="TextBox 10"/>
          <p:cNvSpPr txBox="1"/>
          <p:nvPr/>
        </p:nvSpPr>
        <p:spPr>
          <a:xfrm>
            <a:off x="457200" y="6565392"/>
            <a:ext cx="8686800" cy="256032"/>
          </a:xfrm>
          <a:prstGeom prst="rect">
            <a:avLst/>
          </a:prstGeom>
          <a:noFill/>
        </p:spPr>
        <p:txBody>
          <a:bodyPr wrap="square" lIns="0" tIns="0" rIns="0" bIns="0">
            <a:spAutoFit/>
          </a:bodyPr>
          <a:lstStyle/>
          <a:p>
            <a:pPr algn="l"/>
            <a:r>
              <a:rPr sz="900" b="0" i="0">
                <a:solidFill>
                  <a:srgbClr val="8894B0"/>
                </a:solidFill>
                <a:latin typeface="Calibri"/>
              </a:rPr>
              <a:t>Group 8 | DRL Assignment Problem 1 | Variance-Aware Bandits | Sec. 2/5: Algorithms | Slide 11 of 23</a:t>
            </a:r>
          </a:p>
        </p:txBody>
      </p:sp>
      <p:sp>
        <p:nvSpPr>
          <p:cNvPr id="14" name="TextBox 13">
            <a:extLst>
              <a:ext uri="{FF2B5EF4-FFF2-40B4-BE49-F238E27FC236}">
                <a16:creationId xmlns:a16="http://schemas.microsoft.com/office/drawing/2014/main" id="{AD58DDE2-6172-DD0F-FABF-6AD0F16214E0}"/>
              </a:ext>
            </a:extLst>
          </p:cNvPr>
          <p:cNvSpPr txBox="1"/>
          <p:nvPr/>
        </p:nvSpPr>
        <p:spPr>
          <a:xfrm>
            <a:off x="9672531" y="6473532"/>
            <a:ext cx="2540000" cy="374461"/>
          </a:xfrm>
          <a:prstGeom prst="rect">
            <a:avLst/>
          </a:prstGeom>
          <a:solidFill>
            <a:srgbClr val="223975"/>
          </a:solidFill>
        </p:spPr>
        <p:txBody>
          <a:bodyPr vert="horz" wrap="square" lIns="76200" tIns="25400" rIns="76200" bIns="12700" rtlCol="0">
            <a:noAutofit/>
          </a:bodyPr>
          <a:lstStyle/>
          <a:p>
            <a:pPr algn="ctr"/>
            <a:r>
              <a:rPr lang="en-US" sz="800" b="1" dirty="0">
                <a:solidFill>
                  <a:srgbClr val="FFFFFF"/>
                </a:solidFill>
                <a:latin typeface="Aptos" panose="020B0004020202020204" pitchFamily="34" charset="0"/>
              </a:rPr>
              <a:t>Contributor: </a:t>
            </a:r>
            <a:r>
              <a:rPr lang="en-US" sz="800" b="1" dirty="0" err="1">
                <a:solidFill>
                  <a:srgbClr val="FFFFFF"/>
                </a:solidFill>
                <a:latin typeface="Aptos" panose="020B0004020202020204" pitchFamily="34" charset="0"/>
              </a:rPr>
              <a:t>Divakaran</a:t>
            </a:r>
            <a:r>
              <a:rPr lang="en-US" sz="800" b="1" dirty="0">
                <a:solidFill>
                  <a:srgbClr val="FFFFFF"/>
                </a:solidFill>
                <a:latin typeface="Aptos" panose="020B0004020202020204" pitchFamily="34" charset="0"/>
              </a:rPr>
              <a:t> Ramu</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8A25650-8F2B-57AD-11BD-913E2CB16685}"/>
              </a:ext>
            </a:extLst>
          </p:cNvPr>
          <p:cNvSpPr/>
          <p:nvPr/>
        </p:nvSpPr>
        <p:spPr>
          <a:xfrm>
            <a:off x="0" y="0"/>
            <a:ext cx="12192000" cy="6858000"/>
          </a:xfrm>
          <a:prstGeom prst="rect">
            <a:avLst/>
          </a:prstGeom>
          <a:solidFill>
            <a:srgbClr val="141E4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C523FE0-7AF5-25B2-3505-F5733AA634D2}"/>
              </a:ext>
            </a:extLst>
          </p:cNvPr>
          <p:cNvSpPr txBox="1"/>
          <p:nvPr/>
        </p:nvSpPr>
        <p:spPr>
          <a:xfrm>
            <a:off x="546100" y="304800"/>
            <a:ext cx="11099800" cy="464230"/>
          </a:xfrm>
          <a:prstGeom prst="rect">
            <a:avLst/>
          </a:prstGeom>
          <a:noFill/>
        </p:spPr>
        <p:txBody>
          <a:bodyPr vert="horz" lIns="63500" tIns="38100" rIns="63500" bIns="25400" rtlCol="0">
            <a:spAutoFit/>
          </a:bodyPr>
          <a:lstStyle/>
          <a:p>
            <a:r>
              <a:rPr lang="en-US" sz="2600" b="1">
                <a:solidFill>
                  <a:srgbClr val="FFFFFF"/>
                </a:solidFill>
                <a:latin typeface="Georgia" panose="02040502050405020303" pitchFamily="18" charset="0"/>
              </a:rPr>
              <a:t>Executable Verification - Code and Actual Output</a:t>
            </a:r>
          </a:p>
        </p:txBody>
      </p:sp>
      <p:sp>
        <p:nvSpPr>
          <p:cNvPr id="4" name="TextBox 3">
            <a:extLst>
              <a:ext uri="{FF2B5EF4-FFF2-40B4-BE49-F238E27FC236}">
                <a16:creationId xmlns:a16="http://schemas.microsoft.com/office/drawing/2014/main" id="{2E3C498D-925C-F62C-D494-EF6F58AA8B45}"/>
              </a:ext>
            </a:extLst>
          </p:cNvPr>
          <p:cNvSpPr txBox="1"/>
          <p:nvPr/>
        </p:nvSpPr>
        <p:spPr>
          <a:xfrm>
            <a:off x="546100" y="850900"/>
            <a:ext cx="11099800" cy="233397"/>
          </a:xfrm>
          <a:prstGeom prst="rect">
            <a:avLst/>
          </a:prstGeom>
          <a:noFill/>
        </p:spPr>
        <p:txBody>
          <a:bodyPr vert="horz" lIns="63500" tIns="38100" rIns="63500" bIns="25400" rtlCol="0">
            <a:spAutoFit/>
          </a:bodyPr>
          <a:lstStyle/>
          <a:p>
            <a:r>
              <a:rPr lang="en-US" sz="1100">
                <a:solidFill>
                  <a:srgbClr val="CDD6F1"/>
                </a:solidFill>
                <a:latin typeface="Aptos" panose="020B0004020202020204" pitchFamily="34" charset="0"/>
              </a:rPr>
              <a:t>The script rechecks our arithmetic from paper Tables 3-5; it does not claim to rerun the full 100-run simulation.</a:t>
            </a:r>
          </a:p>
        </p:txBody>
      </p:sp>
      <p:sp>
        <p:nvSpPr>
          <p:cNvPr id="10" name="TextBox 9">
            <a:extLst>
              <a:ext uri="{FF2B5EF4-FFF2-40B4-BE49-F238E27FC236}">
                <a16:creationId xmlns:a16="http://schemas.microsoft.com/office/drawing/2014/main" id="{EB79C0C7-600D-8E43-EEDC-DE8647382169}"/>
              </a:ext>
            </a:extLst>
          </p:cNvPr>
          <p:cNvSpPr txBox="1"/>
          <p:nvPr/>
        </p:nvSpPr>
        <p:spPr>
          <a:xfrm>
            <a:off x="546100" y="5892800"/>
            <a:ext cx="11099800" cy="210314"/>
          </a:xfrm>
          <a:prstGeom prst="rect">
            <a:avLst/>
          </a:prstGeom>
          <a:noFill/>
        </p:spPr>
        <p:txBody>
          <a:bodyPr vert="horz" lIns="63500" tIns="38100" rIns="63500" bIns="25400" rtlCol="0">
            <a:spAutoFit/>
          </a:bodyPr>
          <a:lstStyle/>
          <a:p>
            <a:r>
              <a:rPr lang="en-US" sz="950" b="1" i="1" dirty="0">
                <a:solidFill>
                  <a:srgbClr val="CDD6F1"/>
                </a:solidFill>
                <a:latin typeface="Aptos" panose="020B0004020202020204" pitchFamily="34" charset="0"/>
              </a:rPr>
              <a:t>Executed in Google </a:t>
            </a:r>
            <a:r>
              <a:rPr lang="en-US" sz="950" b="1" i="1" dirty="0" err="1">
                <a:solidFill>
                  <a:srgbClr val="CDD6F1"/>
                </a:solidFill>
                <a:latin typeface="Aptos" panose="020B0004020202020204" pitchFamily="34" charset="0"/>
              </a:rPr>
              <a:t>Colab</a:t>
            </a:r>
            <a:r>
              <a:rPr lang="en-US" sz="950" b="1" i="1" dirty="0">
                <a:solidFill>
                  <a:srgbClr val="CDD6F1"/>
                </a:solidFill>
                <a:latin typeface="Aptos" panose="020B0004020202020204" pitchFamily="34" charset="0"/>
              </a:rPr>
              <a:t>: Group8_Bandit_Analysis_Verification.ipynb, connected Python 3 runtime, the cell source, and the complete output including the 11/11 repository cross-check.</a:t>
            </a:r>
          </a:p>
        </p:txBody>
      </p:sp>
      <p:sp>
        <p:nvSpPr>
          <p:cNvPr id="11" name="TextBox 10">
            <a:extLst>
              <a:ext uri="{FF2B5EF4-FFF2-40B4-BE49-F238E27FC236}">
                <a16:creationId xmlns:a16="http://schemas.microsoft.com/office/drawing/2014/main" id="{AAF5E101-2EBB-CD18-0A45-6799606C209E}"/>
              </a:ext>
            </a:extLst>
          </p:cNvPr>
          <p:cNvSpPr txBox="1"/>
          <p:nvPr/>
        </p:nvSpPr>
        <p:spPr>
          <a:xfrm>
            <a:off x="457200" y="6565900"/>
            <a:ext cx="8686800" cy="187231"/>
          </a:xfrm>
          <a:prstGeom prst="rect">
            <a:avLst/>
          </a:prstGeom>
          <a:noFill/>
        </p:spPr>
        <p:txBody>
          <a:bodyPr vert="horz" lIns="63500" tIns="38100" rIns="63500" bIns="25400" rtlCol="0">
            <a:spAutoFit/>
          </a:bodyPr>
          <a:lstStyle/>
          <a:p>
            <a:r>
              <a:rPr lang="en-US" sz="800">
                <a:solidFill>
                  <a:srgbClr val="8B97BE"/>
                </a:solidFill>
                <a:latin typeface="Aptos" panose="020B0004020202020204" pitchFamily="34" charset="0"/>
              </a:rPr>
              <a:t>Group 8 | DRL Assignment Problem 1 | Variance-Aware Bandits | Sec. 3/5: Evidence | Slide 12 of 23</a:t>
            </a:r>
          </a:p>
        </p:txBody>
      </p:sp>
      <p:sp>
        <p:nvSpPr>
          <p:cNvPr id="5" name="Colab Verification Link">
            <a:extLst>
              <a:ext uri="{FF2B5EF4-FFF2-40B4-BE49-F238E27FC236}">
                <a16:creationId xmlns:a16="http://schemas.microsoft.com/office/drawing/2014/main" id="{E20F8CC4-7B52-DE74-5E61-AFEC734F26EF}"/>
              </a:ext>
            </a:extLst>
          </p:cNvPr>
          <p:cNvSpPr txBox="1"/>
          <p:nvPr/>
        </p:nvSpPr>
        <p:spPr>
          <a:xfrm>
            <a:off x="546100" y="6126480"/>
            <a:ext cx="11099800" cy="420624"/>
          </a:xfrm>
          <a:prstGeom prst="rect">
            <a:avLst/>
          </a:prstGeom>
          <a:noFill/>
        </p:spPr>
        <p:txBody>
          <a:bodyPr vert="horz" wrap="square" lIns="63500" tIns="25400" rIns="63500" bIns="12700" rtlCol="0">
            <a:spAutoFit/>
          </a:bodyPr>
          <a:lstStyle/>
          <a:p>
            <a:r>
              <a:rPr sz="900">
                <a:solidFill>
                  <a:srgbClr val="FFFFFF"/>
                </a:solidFill>
                <a:latin typeface="Aptos"/>
              </a:rPr>
              <a:t>Notebook, view-only:  </a:t>
            </a:r>
            <a:r>
              <a:rPr sz="900">
                <a:solidFill>
                  <a:srgbClr val="FFFFFF"/>
                </a:solidFill>
                <a:latin typeface="Aptos"/>
                <a:hlinkClick r:id="rId3"/>
              </a:rPr>
              <a:t>https://colab.research.google.com/drive/12wYpQO9rKBayrKtyaUzfeYI8mZ7LpP2X?usp=sharing</a:t>
            </a:r>
            <a:endParaRPr lang="en-US" sz="900" b="1">
              <a:solidFill>
                <a:srgbClr val="7ECBFF"/>
              </a:solidFill>
              <a:latin typeface="Aptos" panose="020B0004020202020204" pitchFamily="34" charset="0"/>
            </a:endParaRPr>
          </a:p>
          <a:p>
            <a:r>
              <a:rPr sz="900">
                <a:solidFill>
                  <a:srgbClr val="FFFFFF"/>
                </a:solidFill>
                <a:latin typeface="Aptos"/>
              </a:rPr>
              <a:t>Script, notebook and CSV output:  </a:t>
            </a:r>
            <a:r>
              <a:rPr sz="900">
                <a:solidFill>
                  <a:srgbClr val="FFFFFF"/>
                </a:solidFill>
                <a:latin typeface="Aptos"/>
                <a:hlinkClick r:id="rId4"/>
              </a:rPr>
              <a:t>github.com/CSB-sys/drl-group8-bandit-analysis</a:t>
            </a:r>
          </a:p>
        </p:txBody>
      </p:sp>
      <p:pic>
        <p:nvPicPr>
          <p:cNvPr id="9" name="Picture 8">
            <a:extLst>
              <a:ext uri="{FF2B5EF4-FFF2-40B4-BE49-F238E27FC236}">
                <a16:creationId xmlns:a16="http://schemas.microsoft.com/office/drawing/2014/main" id="{A4B5C3B7-4CB9-3456-B34E-D5639772FBE2}"/>
              </a:ext>
            </a:extLst>
          </p:cNvPr>
          <p:cNvPicPr>
            <a:picLocks noChangeAspect="1"/>
          </p:cNvPicPr>
          <p:nvPr/>
        </p:nvPicPr>
        <p:blipFill>
          <a:blip r:embed="rId5"/>
          <a:stretch>
            <a:fillRect/>
          </a:stretch>
        </p:blipFill>
        <p:spPr>
          <a:xfrm>
            <a:off x="586592" y="1103093"/>
            <a:ext cx="9454555" cy="4795315"/>
          </a:xfrm>
          <a:prstGeom prst="rect">
            <a:avLst/>
          </a:prstGeom>
        </p:spPr>
      </p:pic>
      <p:sp>
        <p:nvSpPr>
          <p:cNvPr id="7" name="TextBox 6">
            <a:extLst>
              <a:ext uri="{FF2B5EF4-FFF2-40B4-BE49-F238E27FC236}">
                <a16:creationId xmlns:a16="http://schemas.microsoft.com/office/drawing/2014/main" id="{0ECF9FCA-5B5F-0529-AA04-6D536E553F35}"/>
              </a:ext>
            </a:extLst>
          </p:cNvPr>
          <p:cNvSpPr txBox="1"/>
          <p:nvPr/>
        </p:nvSpPr>
        <p:spPr>
          <a:xfrm>
            <a:off x="9652000" y="6483539"/>
            <a:ext cx="2540000" cy="374461"/>
          </a:xfrm>
          <a:prstGeom prst="rect">
            <a:avLst/>
          </a:prstGeom>
          <a:solidFill>
            <a:srgbClr val="223975"/>
          </a:solidFill>
        </p:spPr>
        <p:txBody>
          <a:bodyPr vert="horz" wrap="square" lIns="76200" tIns="25400" rIns="76200" bIns="12700" rtlCol="0">
            <a:noAutofit/>
          </a:bodyPr>
          <a:lstStyle/>
          <a:p>
            <a:pPr algn="ctr"/>
            <a:r>
              <a:rPr lang="en-US" sz="800" b="1" dirty="0">
                <a:solidFill>
                  <a:srgbClr val="FFFFFF"/>
                </a:solidFill>
                <a:latin typeface="Aptos" panose="020B0004020202020204" pitchFamily="34" charset="0"/>
              </a:rPr>
              <a:t>Contributor: Chandan Singh </a:t>
            </a:r>
            <a:r>
              <a:rPr lang="en-US" sz="800" b="1" dirty="0" err="1">
                <a:solidFill>
                  <a:srgbClr val="FFFFFF"/>
                </a:solidFill>
                <a:latin typeface="Aptos" panose="020B0004020202020204" pitchFamily="34" charset="0"/>
              </a:rPr>
              <a:t>Baghel</a:t>
            </a:r>
            <a:endParaRPr lang="en-US" sz="800" b="1" dirty="0">
              <a:solidFill>
                <a:srgbClr val="FFFFFF"/>
              </a:solidFill>
              <a:latin typeface="Aptos" panose="020B0004020202020204" pitchFamily="34" charset="0"/>
            </a:endParaRPr>
          </a:p>
        </p:txBody>
      </p:sp>
    </p:spTree>
    <p:extLst>
      <p:ext uri="{BB962C8B-B14F-4D97-AF65-F5344CB8AC3E}">
        <p14:creationId xmlns:p14="http://schemas.microsoft.com/office/powerpoint/2010/main" val="31236664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41E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9184"/>
            <a:ext cx="11100816" cy="502920"/>
          </a:xfrm>
          <a:prstGeom prst="rect">
            <a:avLst/>
          </a:prstGeom>
          <a:noFill/>
        </p:spPr>
        <p:txBody>
          <a:bodyPr wrap="none">
            <a:spAutoFit/>
          </a:bodyPr>
          <a:lstStyle/>
          <a:p>
            <a:r>
              <a:rPr sz="2600" b="1">
                <a:solidFill>
                  <a:srgbClr val="FFFFFF"/>
                </a:solidFill>
                <a:latin typeface="Georgia"/>
              </a:rPr>
              <a:t>Result Verification - Paper vs the Author's Published Data</a:t>
            </a:r>
          </a:p>
        </p:txBody>
      </p:sp>
      <p:sp>
        <p:nvSpPr>
          <p:cNvPr id="4" name="TextBox 3"/>
          <p:cNvSpPr txBox="1"/>
          <p:nvPr/>
        </p:nvSpPr>
        <p:spPr>
          <a:xfrm>
            <a:off x="548640" y="914400"/>
            <a:ext cx="11100816" cy="365760"/>
          </a:xfrm>
          <a:prstGeom prst="rect">
            <a:avLst/>
          </a:prstGeom>
          <a:noFill/>
        </p:spPr>
        <p:txBody>
          <a:bodyPr wrap="none">
            <a:spAutoFit/>
          </a:bodyPr>
          <a:lstStyle/>
          <a:p>
            <a:r>
              <a:rPr sz="1200">
                <a:solidFill>
                  <a:srgbClr val="CDD6F1"/>
                </a:solidFill>
                <a:latin typeface="Aptos"/>
              </a:rPr>
              <a:t>How we obtained every number: each value printed in the paper was located in the author's own simulation output. 11 of 11 match.</a:t>
            </a:r>
          </a:p>
        </p:txBody>
      </p:sp>
      <p:graphicFrame>
        <p:nvGraphicFramePr>
          <p:cNvPr id="5" name="Table 4"/>
          <p:cNvGraphicFramePr>
            <a:graphicFrameLocks noGrp="1"/>
          </p:cNvGraphicFramePr>
          <p:nvPr/>
        </p:nvGraphicFramePr>
        <p:xfrm>
          <a:off x="548640" y="1426464"/>
          <a:ext cx="11100815" cy="3730752"/>
        </p:xfrm>
        <a:graphic>
          <a:graphicData uri="http://schemas.openxmlformats.org/drawingml/2006/table">
            <a:tbl>
              <a:tblPr firstRow="1">
                <a:tableStyleId>{5C22544A-7EE6-4342-B048-85BDC9FD1C3A}</a:tableStyleId>
              </a:tblPr>
              <a:tblGrid>
                <a:gridCol w="1874519">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6254496">
                  <a:extLst>
                    <a:ext uri="{9D8B030D-6E8A-4147-A177-3AD203B41FA5}">
                      <a16:colId xmlns:a16="http://schemas.microsoft.com/office/drawing/2014/main" val="20004"/>
                    </a:ext>
                  </a:extLst>
                </a:gridCol>
              </a:tblGrid>
              <a:tr h="310896">
                <a:tc>
                  <a:txBody>
                    <a:bodyPr/>
                    <a:lstStyle/>
                    <a:p>
                      <a:pPr algn="l"/>
                      <a:r>
                        <a:rPr sz="1000" b="1">
                          <a:solidFill>
                            <a:srgbClr val="FFFFFF"/>
                          </a:solidFill>
                          <a:latin typeface="Aptos"/>
                        </a:rPr>
                        <a:t>Algorithm</a:t>
                      </a:r>
                    </a:p>
                  </a:txBody>
                  <a:tcPr marL="64008" marR="45720" marT="0" marB="0" anchor="ctr">
                    <a:solidFill>
                      <a:srgbClr val="1F3570"/>
                    </a:solidFill>
                  </a:tcPr>
                </a:tc>
                <a:tc>
                  <a:txBody>
                    <a:bodyPr/>
                    <a:lstStyle/>
                    <a:p>
                      <a:pPr algn="l"/>
                      <a:r>
                        <a:rPr sz="1000" b="1">
                          <a:solidFill>
                            <a:srgbClr val="FFFFFF"/>
                          </a:solidFill>
                          <a:latin typeface="Aptos"/>
                        </a:rPr>
                        <a:t>Sc.</a:t>
                      </a:r>
                    </a:p>
                  </a:txBody>
                  <a:tcPr marL="64008" marR="45720" marT="0" marB="0" anchor="ctr">
                    <a:solidFill>
                      <a:srgbClr val="1F3570"/>
                    </a:solidFill>
                  </a:tcPr>
                </a:tc>
                <a:tc>
                  <a:txBody>
                    <a:bodyPr/>
                    <a:lstStyle/>
                    <a:p>
                      <a:pPr algn="l"/>
                      <a:r>
                        <a:rPr sz="1000" b="1">
                          <a:solidFill>
                            <a:srgbClr val="FFFFFF"/>
                          </a:solidFill>
                          <a:latin typeface="Aptos"/>
                        </a:rPr>
                        <a:t>Paper</a:t>
                      </a:r>
                    </a:p>
                  </a:txBody>
                  <a:tcPr marL="64008" marR="45720" marT="0" marB="0" anchor="ctr">
                    <a:solidFill>
                      <a:srgbClr val="1F3570"/>
                    </a:solidFill>
                  </a:tcPr>
                </a:tc>
                <a:tc>
                  <a:txBody>
                    <a:bodyPr/>
                    <a:lstStyle/>
                    <a:p>
                      <a:pPr algn="l"/>
                      <a:r>
                        <a:rPr sz="1000" b="1">
                          <a:solidFill>
                            <a:srgbClr val="FFFFFF"/>
                          </a:solidFill>
                          <a:latin typeface="Aptos"/>
                        </a:rPr>
                        <a:t>Author's CSV</a:t>
                      </a:r>
                    </a:p>
                  </a:txBody>
                  <a:tcPr marL="64008" marR="45720" marT="0" marB="0" anchor="ctr">
                    <a:solidFill>
                      <a:srgbClr val="1F3570"/>
                    </a:solidFill>
                  </a:tcPr>
                </a:tc>
                <a:tc>
                  <a:txBody>
                    <a:bodyPr/>
                    <a:lstStyle/>
                    <a:p>
                      <a:pPr algn="l"/>
                      <a:r>
                        <a:rPr sz="1000" b="1">
                          <a:solidFill>
                            <a:srgbClr val="FFFFFF"/>
                          </a:solidFill>
                          <a:latin typeface="Aptos"/>
                        </a:rPr>
                        <a:t>File under data/  (final row, column 'Average Regret')</a:t>
                      </a:r>
                    </a:p>
                  </a:txBody>
                  <a:tcPr marL="64008" marR="45720" marT="0" marB="0" anchor="ctr">
                    <a:solidFill>
                      <a:srgbClr val="1F3570"/>
                    </a:solidFill>
                  </a:tcPr>
                </a:tc>
                <a:extLst>
                  <a:ext uri="{0D108BD9-81ED-4DB2-BD59-A6C34878D82A}">
                    <a16:rowId xmlns:a16="http://schemas.microsoft.com/office/drawing/2014/main" val="10000"/>
                  </a:ext>
                </a:extLst>
              </a:tr>
              <a:tr h="310896">
                <a:tc>
                  <a:txBody>
                    <a:bodyPr/>
                    <a:lstStyle/>
                    <a:p>
                      <a:pPr algn="l"/>
                      <a:r>
                        <a:rPr sz="950" b="0">
                          <a:solidFill>
                            <a:srgbClr val="FFFFFF"/>
                          </a:solidFill>
                          <a:latin typeface="Aptos"/>
                        </a:rPr>
                        <a:t>ETC (m=100)</a:t>
                      </a:r>
                    </a:p>
                  </a:txBody>
                  <a:tcPr marL="64008" marR="45720" marT="0" marB="0" anchor="ctr">
                    <a:solidFill>
                      <a:srgbClr val="1A2755"/>
                    </a:solidFill>
                  </a:tcPr>
                </a:tc>
                <a:tc>
                  <a:txBody>
                    <a:bodyPr/>
                    <a:lstStyle/>
                    <a:p>
                      <a:pPr algn="ctr"/>
                      <a:r>
                        <a:rPr sz="950" b="0">
                          <a:solidFill>
                            <a:srgbClr val="FFFFFF"/>
                          </a:solidFill>
                          <a:latin typeface="Aptos"/>
                        </a:rPr>
                        <a:t>A</a:t>
                      </a:r>
                    </a:p>
                  </a:txBody>
                  <a:tcPr marL="64008" marR="45720" marT="0" marB="0" anchor="ctr">
                    <a:solidFill>
                      <a:srgbClr val="1A2755"/>
                    </a:solidFill>
                  </a:tcPr>
                </a:tc>
                <a:tc>
                  <a:txBody>
                    <a:bodyPr/>
                    <a:lstStyle/>
                    <a:p>
                      <a:pPr algn="r"/>
                      <a:r>
                        <a:rPr sz="950" b="0">
                          <a:solidFill>
                            <a:srgbClr val="FFFFFF"/>
                          </a:solidFill>
                          <a:latin typeface="Aptos"/>
                        </a:rPr>
                        <a:t>10.10</a:t>
                      </a:r>
                    </a:p>
                  </a:txBody>
                  <a:tcPr marL="64008" marR="45720" marT="0" marB="0" anchor="ctr">
                    <a:solidFill>
                      <a:srgbClr val="1A2755"/>
                    </a:solidFill>
                  </a:tcPr>
                </a:tc>
                <a:tc>
                  <a:txBody>
                    <a:bodyPr/>
                    <a:lstStyle/>
                    <a:p>
                      <a:pPr algn="r"/>
                      <a:r>
                        <a:rPr sz="950" b="0">
                          <a:solidFill>
                            <a:srgbClr val="F4A623"/>
                          </a:solidFill>
                          <a:latin typeface="Aptos"/>
                        </a:rPr>
                        <a:t>10.0950</a:t>
                      </a:r>
                    </a:p>
                  </a:txBody>
                  <a:tcPr marL="64008" marR="45720" marT="0" marB="0" anchor="ctr">
                    <a:solidFill>
                      <a:srgbClr val="1A2755"/>
                    </a:solidFill>
                  </a:tcPr>
                </a:tc>
                <a:tc>
                  <a:txBody>
                    <a:bodyPr/>
                    <a:lstStyle/>
                    <a:p>
                      <a:pPr algn="l"/>
                      <a:r>
                        <a:rPr sz="950" b="0">
                          <a:solidFill>
                            <a:srgbClr val="CDD6F1"/>
                          </a:solidFill>
                          <a:latin typeface="Consolas"/>
                        </a:rPr>
                        <a:t>ETC/exploration_rounds_100/average_results_800_900.csv</a:t>
                      </a:r>
                    </a:p>
                  </a:txBody>
                  <a:tcPr marL="64008" marR="45720" marT="0" marB="0" anchor="ctr">
                    <a:solidFill>
                      <a:srgbClr val="1A2755"/>
                    </a:solidFill>
                  </a:tcPr>
                </a:tc>
                <a:extLst>
                  <a:ext uri="{0D108BD9-81ED-4DB2-BD59-A6C34878D82A}">
                    <a16:rowId xmlns:a16="http://schemas.microsoft.com/office/drawing/2014/main" val="10001"/>
                  </a:ext>
                </a:extLst>
              </a:tr>
              <a:tr h="310896">
                <a:tc>
                  <a:txBody>
                    <a:bodyPr/>
                    <a:lstStyle/>
                    <a:p>
                      <a:pPr algn="l"/>
                      <a:r>
                        <a:rPr sz="950" b="0">
                          <a:solidFill>
                            <a:srgbClr val="FFFFFF"/>
                          </a:solidFill>
                          <a:latin typeface="Aptos"/>
                        </a:rPr>
                        <a:t>UCB-Tuned</a:t>
                      </a:r>
                    </a:p>
                  </a:txBody>
                  <a:tcPr marL="64008" marR="45720" marT="0" marB="0" anchor="ctr">
                    <a:solidFill>
                      <a:srgbClr val="202E60"/>
                    </a:solidFill>
                  </a:tcPr>
                </a:tc>
                <a:tc>
                  <a:txBody>
                    <a:bodyPr/>
                    <a:lstStyle/>
                    <a:p>
                      <a:pPr algn="ctr"/>
                      <a:r>
                        <a:rPr sz="950" b="0">
                          <a:solidFill>
                            <a:srgbClr val="FFFFFF"/>
                          </a:solidFill>
                          <a:latin typeface="Aptos"/>
                        </a:rPr>
                        <a:t>A</a:t>
                      </a:r>
                    </a:p>
                  </a:txBody>
                  <a:tcPr marL="64008" marR="45720" marT="0" marB="0" anchor="ctr">
                    <a:solidFill>
                      <a:srgbClr val="202E60"/>
                    </a:solidFill>
                  </a:tcPr>
                </a:tc>
                <a:tc>
                  <a:txBody>
                    <a:bodyPr/>
                    <a:lstStyle/>
                    <a:p>
                      <a:pPr algn="r"/>
                      <a:r>
                        <a:rPr sz="950" b="0">
                          <a:solidFill>
                            <a:srgbClr val="FFFFFF"/>
                          </a:solidFill>
                          <a:latin typeface="Aptos"/>
                        </a:rPr>
                        <a:t>30.67</a:t>
                      </a:r>
                    </a:p>
                  </a:txBody>
                  <a:tcPr marL="64008" marR="45720" marT="0" marB="0" anchor="ctr">
                    <a:solidFill>
                      <a:srgbClr val="202E60"/>
                    </a:solidFill>
                  </a:tcPr>
                </a:tc>
                <a:tc>
                  <a:txBody>
                    <a:bodyPr/>
                    <a:lstStyle/>
                    <a:p>
                      <a:pPr algn="r"/>
                      <a:r>
                        <a:rPr sz="950" b="0">
                          <a:solidFill>
                            <a:srgbClr val="F4A623"/>
                          </a:solidFill>
                          <a:latin typeface="Aptos"/>
                        </a:rPr>
                        <a:t>30.6690</a:t>
                      </a:r>
                    </a:p>
                  </a:txBody>
                  <a:tcPr marL="64008" marR="45720" marT="0" marB="0" anchor="ctr">
                    <a:solidFill>
                      <a:srgbClr val="202E60"/>
                    </a:solidFill>
                  </a:tcPr>
                </a:tc>
                <a:tc>
                  <a:txBody>
                    <a:bodyPr/>
                    <a:lstStyle/>
                    <a:p>
                      <a:pPr algn="l"/>
                      <a:r>
                        <a:rPr sz="950" b="0">
                          <a:solidFill>
                            <a:srgbClr val="CDD6F1"/>
                          </a:solidFill>
                          <a:latin typeface="Consolas"/>
                        </a:rPr>
                        <a:t>UCB-Tuned/default/average_results_800_900.csv</a:t>
                      </a:r>
                    </a:p>
                  </a:txBody>
                  <a:tcPr marL="64008" marR="45720" marT="0" marB="0" anchor="ctr">
                    <a:solidFill>
                      <a:srgbClr val="202E60"/>
                    </a:solidFill>
                  </a:tcPr>
                </a:tc>
                <a:extLst>
                  <a:ext uri="{0D108BD9-81ED-4DB2-BD59-A6C34878D82A}">
                    <a16:rowId xmlns:a16="http://schemas.microsoft.com/office/drawing/2014/main" val="10002"/>
                  </a:ext>
                </a:extLst>
              </a:tr>
              <a:tr h="310896">
                <a:tc>
                  <a:txBody>
                    <a:bodyPr/>
                    <a:lstStyle/>
                    <a:p>
                      <a:pPr algn="l"/>
                      <a:r>
                        <a:rPr sz="950" b="0">
                          <a:solidFill>
                            <a:srgbClr val="FFFFFF"/>
                          </a:solidFill>
                          <a:latin typeface="Aptos"/>
                        </a:rPr>
                        <a:t>EUCBV</a:t>
                      </a:r>
                    </a:p>
                  </a:txBody>
                  <a:tcPr marL="64008" marR="45720" marT="0" marB="0" anchor="ctr">
                    <a:solidFill>
                      <a:srgbClr val="1A2755"/>
                    </a:solidFill>
                  </a:tcPr>
                </a:tc>
                <a:tc>
                  <a:txBody>
                    <a:bodyPr/>
                    <a:lstStyle/>
                    <a:p>
                      <a:pPr algn="ctr"/>
                      <a:r>
                        <a:rPr sz="950" b="0">
                          <a:solidFill>
                            <a:srgbClr val="FFFFFF"/>
                          </a:solidFill>
                          <a:latin typeface="Aptos"/>
                        </a:rPr>
                        <a:t>A</a:t>
                      </a:r>
                    </a:p>
                  </a:txBody>
                  <a:tcPr marL="64008" marR="45720" marT="0" marB="0" anchor="ctr">
                    <a:solidFill>
                      <a:srgbClr val="1A2755"/>
                    </a:solidFill>
                  </a:tcPr>
                </a:tc>
                <a:tc>
                  <a:txBody>
                    <a:bodyPr/>
                    <a:lstStyle/>
                    <a:p>
                      <a:pPr algn="r"/>
                      <a:r>
                        <a:rPr sz="950" b="0">
                          <a:solidFill>
                            <a:srgbClr val="FFFFFF"/>
                          </a:solidFill>
                          <a:latin typeface="Aptos"/>
                        </a:rPr>
                        <a:t>47.70</a:t>
                      </a:r>
                    </a:p>
                  </a:txBody>
                  <a:tcPr marL="64008" marR="45720" marT="0" marB="0" anchor="ctr">
                    <a:solidFill>
                      <a:srgbClr val="1A2755"/>
                    </a:solidFill>
                  </a:tcPr>
                </a:tc>
                <a:tc>
                  <a:txBody>
                    <a:bodyPr/>
                    <a:lstStyle/>
                    <a:p>
                      <a:pPr algn="r"/>
                      <a:r>
                        <a:rPr sz="950" b="0">
                          <a:solidFill>
                            <a:srgbClr val="F4A623"/>
                          </a:solidFill>
                          <a:latin typeface="Aptos"/>
                        </a:rPr>
                        <a:t>47.7270</a:t>
                      </a:r>
                    </a:p>
                  </a:txBody>
                  <a:tcPr marL="64008" marR="45720" marT="0" marB="0" anchor="ctr">
                    <a:solidFill>
                      <a:srgbClr val="1A2755"/>
                    </a:solidFill>
                  </a:tcPr>
                </a:tc>
                <a:tc>
                  <a:txBody>
                    <a:bodyPr/>
                    <a:lstStyle/>
                    <a:p>
                      <a:pPr algn="l"/>
                      <a:r>
                        <a:rPr sz="950" b="0">
                          <a:solidFill>
                            <a:srgbClr val="CDD6F1"/>
                          </a:solidFill>
                          <a:latin typeface="Consolas"/>
                        </a:rPr>
                        <a:t>EUCBV/rho_0_5/average_results_800_900.csv</a:t>
                      </a:r>
                    </a:p>
                  </a:txBody>
                  <a:tcPr marL="64008" marR="45720" marT="0" marB="0" anchor="ctr">
                    <a:solidFill>
                      <a:srgbClr val="1A2755"/>
                    </a:solidFill>
                  </a:tcPr>
                </a:tc>
                <a:extLst>
                  <a:ext uri="{0D108BD9-81ED-4DB2-BD59-A6C34878D82A}">
                    <a16:rowId xmlns:a16="http://schemas.microsoft.com/office/drawing/2014/main" val="10003"/>
                  </a:ext>
                </a:extLst>
              </a:tr>
              <a:tr h="310896">
                <a:tc>
                  <a:txBody>
                    <a:bodyPr/>
                    <a:lstStyle/>
                    <a:p>
                      <a:pPr algn="l"/>
                      <a:r>
                        <a:rPr sz="950" b="0">
                          <a:solidFill>
                            <a:srgbClr val="FFFFFF"/>
                          </a:solidFill>
                          <a:latin typeface="Aptos"/>
                        </a:rPr>
                        <a:t>UCB</a:t>
                      </a:r>
                    </a:p>
                  </a:txBody>
                  <a:tcPr marL="64008" marR="45720" marT="0" marB="0" anchor="ctr">
                    <a:solidFill>
                      <a:srgbClr val="202E60"/>
                    </a:solidFill>
                  </a:tcPr>
                </a:tc>
                <a:tc>
                  <a:txBody>
                    <a:bodyPr/>
                    <a:lstStyle/>
                    <a:p>
                      <a:pPr algn="ctr"/>
                      <a:r>
                        <a:rPr sz="950" b="0">
                          <a:solidFill>
                            <a:srgbClr val="FFFFFF"/>
                          </a:solidFill>
                          <a:latin typeface="Aptos"/>
                        </a:rPr>
                        <a:t>A</a:t>
                      </a:r>
                    </a:p>
                  </a:txBody>
                  <a:tcPr marL="64008" marR="45720" marT="0" marB="0" anchor="ctr">
                    <a:solidFill>
                      <a:srgbClr val="202E60"/>
                    </a:solidFill>
                  </a:tcPr>
                </a:tc>
                <a:tc>
                  <a:txBody>
                    <a:bodyPr/>
                    <a:lstStyle/>
                    <a:p>
                      <a:pPr algn="r"/>
                      <a:r>
                        <a:rPr sz="950" b="0">
                          <a:solidFill>
                            <a:srgbClr val="FFFFFF"/>
                          </a:solidFill>
                          <a:latin typeface="Aptos"/>
                        </a:rPr>
                        <a:t>238.17</a:t>
                      </a:r>
                    </a:p>
                  </a:txBody>
                  <a:tcPr marL="64008" marR="45720" marT="0" marB="0" anchor="ctr">
                    <a:solidFill>
                      <a:srgbClr val="202E60"/>
                    </a:solidFill>
                  </a:tcPr>
                </a:tc>
                <a:tc>
                  <a:txBody>
                    <a:bodyPr/>
                    <a:lstStyle/>
                    <a:p>
                      <a:pPr algn="r"/>
                      <a:r>
                        <a:rPr sz="950" b="0">
                          <a:solidFill>
                            <a:srgbClr val="F4A623"/>
                          </a:solidFill>
                          <a:latin typeface="Aptos"/>
                        </a:rPr>
                        <a:t>238.1750</a:t>
                      </a:r>
                    </a:p>
                  </a:txBody>
                  <a:tcPr marL="64008" marR="45720" marT="0" marB="0" anchor="ctr">
                    <a:solidFill>
                      <a:srgbClr val="202E60"/>
                    </a:solidFill>
                  </a:tcPr>
                </a:tc>
                <a:tc>
                  <a:txBody>
                    <a:bodyPr/>
                    <a:lstStyle/>
                    <a:p>
                      <a:pPr algn="l"/>
                      <a:r>
                        <a:rPr sz="950" b="0">
                          <a:solidFill>
                            <a:srgbClr val="CDD6F1"/>
                          </a:solidFill>
                          <a:latin typeface="Consolas"/>
                        </a:rPr>
                        <a:t>UCB/default/average_results_800_900.csv</a:t>
                      </a:r>
                    </a:p>
                  </a:txBody>
                  <a:tcPr marL="64008" marR="45720" marT="0" marB="0" anchor="ctr">
                    <a:solidFill>
                      <a:srgbClr val="202E60"/>
                    </a:solidFill>
                  </a:tcPr>
                </a:tc>
                <a:extLst>
                  <a:ext uri="{0D108BD9-81ED-4DB2-BD59-A6C34878D82A}">
                    <a16:rowId xmlns:a16="http://schemas.microsoft.com/office/drawing/2014/main" val="10004"/>
                  </a:ext>
                </a:extLst>
              </a:tr>
              <a:tr h="310896">
                <a:tc>
                  <a:txBody>
                    <a:bodyPr/>
                    <a:lstStyle/>
                    <a:p>
                      <a:pPr algn="l"/>
                      <a:r>
                        <a:rPr sz="950" b="0">
                          <a:solidFill>
                            <a:srgbClr val="FFFFFF"/>
                          </a:solidFill>
                          <a:latin typeface="Aptos"/>
                        </a:rPr>
                        <a:t>UCB-Improved</a:t>
                      </a:r>
                    </a:p>
                  </a:txBody>
                  <a:tcPr marL="64008" marR="45720" marT="0" marB="0" anchor="ctr">
                    <a:solidFill>
                      <a:srgbClr val="1A2755"/>
                    </a:solidFill>
                  </a:tcPr>
                </a:tc>
                <a:tc>
                  <a:txBody>
                    <a:bodyPr/>
                    <a:lstStyle/>
                    <a:p>
                      <a:pPr algn="ctr"/>
                      <a:r>
                        <a:rPr sz="950" b="0">
                          <a:solidFill>
                            <a:srgbClr val="FFFFFF"/>
                          </a:solidFill>
                          <a:latin typeface="Aptos"/>
                        </a:rPr>
                        <a:t>A</a:t>
                      </a:r>
                    </a:p>
                  </a:txBody>
                  <a:tcPr marL="64008" marR="45720" marT="0" marB="0" anchor="ctr">
                    <a:solidFill>
                      <a:srgbClr val="1A2755"/>
                    </a:solidFill>
                  </a:tcPr>
                </a:tc>
                <a:tc>
                  <a:txBody>
                    <a:bodyPr/>
                    <a:lstStyle/>
                    <a:p>
                      <a:pPr algn="r"/>
                      <a:r>
                        <a:rPr sz="950" b="0">
                          <a:solidFill>
                            <a:srgbClr val="FFFFFF"/>
                          </a:solidFill>
                          <a:latin typeface="Aptos"/>
                        </a:rPr>
                        <a:t>32,500.11</a:t>
                      </a:r>
                    </a:p>
                  </a:txBody>
                  <a:tcPr marL="64008" marR="45720" marT="0" marB="0" anchor="ctr">
                    <a:solidFill>
                      <a:srgbClr val="1A2755"/>
                    </a:solidFill>
                  </a:tcPr>
                </a:tc>
                <a:tc>
                  <a:txBody>
                    <a:bodyPr/>
                    <a:lstStyle/>
                    <a:p>
                      <a:pPr algn="r"/>
                      <a:r>
                        <a:rPr sz="950" b="0">
                          <a:solidFill>
                            <a:srgbClr val="F4A623"/>
                          </a:solidFill>
                          <a:latin typeface="Aptos"/>
                        </a:rPr>
                        <a:t>32,500.1060</a:t>
                      </a:r>
                    </a:p>
                  </a:txBody>
                  <a:tcPr marL="64008" marR="45720" marT="0" marB="0" anchor="ctr">
                    <a:solidFill>
                      <a:srgbClr val="1A2755"/>
                    </a:solidFill>
                  </a:tcPr>
                </a:tc>
                <a:tc>
                  <a:txBody>
                    <a:bodyPr/>
                    <a:lstStyle/>
                    <a:p>
                      <a:pPr algn="l"/>
                      <a:r>
                        <a:rPr sz="950" b="0">
                          <a:solidFill>
                            <a:srgbClr val="CDD6F1"/>
                          </a:solidFill>
                          <a:latin typeface="Consolas"/>
                        </a:rPr>
                        <a:t>UCB-Improved/delta_1/average_results_800_900.csv</a:t>
                      </a:r>
                    </a:p>
                  </a:txBody>
                  <a:tcPr marL="64008" marR="45720" marT="0" marB="0" anchor="ctr">
                    <a:solidFill>
                      <a:srgbClr val="1A2755"/>
                    </a:solidFill>
                  </a:tcPr>
                </a:tc>
                <a:extLst>
                  <a:ext uri="{0D108BD9-81ED-4DB2-BD59-A6C34878D82A}">
                    <a16:rowId xmlns:a16="http://schemas.microsoft.com/office/drawing/2014/main" val="10005"/>
                  </a:ext>
                </a:extLst>
              </a:tr>
              <a:tr h="310896">
                <a:tc>
                  <a:txBody>
                    <a:bodyPr/>
                    <a:lstStyle/>
                    <a:p>
                      <a:pPr algn="l"/>
                      <a:r>
                        <a:rPr sz="950" b="0">
                          <a:solidFill>
                            <a:srgbClr val="FFFFFF"/>
                          </a:solidFill>
                          <a:latin typeface="Aptos"/>
                        </a:rPr>
                        <a:t>ETC (m=10,000)</a:t>
                      </a:r>
                    </a:p>
                  </a:txBody>
                  <a:tcPr marL="64008" marR="45720" marT="0" marB="0" anchor="ctr">
                    <a:solidFill>
                      <a:srgbClr val="202E60"/>
                    </a:solidFill>
                  </a:tcPr>
                </a:tc>
                <a:tc>
                  <a:txBody>
                    <a:bodyPr/>
                    <a:lstStyle/>
                    <a:p>
                      <a:pPr algn="ctr"/>
                      <a:r>
                        <a:rPr sz="950" b="0">
                          <a:solidFill>
                            <a:srgbClr val="FFFFFF"/>
                          </a:solidFill>
                          <a:latin typeface="Aptos"/>
                        </a:rPr>
                        <a:t>B</a:t>
                      </a:r>
                    </a:p>
                  </a:txBody>
                  <a:tcPr marL="64008" marR="45720" marT="0" marB="0" anchor="ctr">
                    <a:solidFill>
                      <a:srgbClr val="202E60"/>
                    </a:solidFill>
                  </a:tcPr>
                </a:tc>
                <a:tc>
                  <a:txBody>
                    <a:bodyPr/>
                    <a:lstStyle/>
                    <a:p>
                      <a:pPr algn="r"/>
                      <a:r>
                        <a:rPr sz="950" b="0">
                          <a:solidFill>
                            <a:srgbClr val="FFFFFF"/>
                          </a:solidFill>
                          <a:latin typeface="Aptos"/>
                        </a:rPr>
                        <a:t>150.66</a:t>
                      </a:r>
                    </a:p>
                  </a:txBody>
                  <a:tcPr marL="64008" marR="45720" marT="0" marB="0" anchor="ctr">
                    <a:solidFill>
                      <a:srgbClr val="202E60"/>
                    </a:solidFill>
                  </a:tcPr>
                </a:tc>
                <a:tc>
                  <a:txBody>
                    <a:bodyPr/>
                    <a:lstStyle/>
                    <a:p>
                      <a:pPr algn="r"/>
                      <a:r>
                        <a:rPr sz="950" b="0">
                          <a:solidFill>
                            <a:srgbClr val="F4A623"/>
                          </a:solidFill>
                          <a:latin typeface="Aptos"/>
                        </a:rPr>
                        <a:t>150.6631</a:t>
                      </a:r>
                    </a:p>
                  </a:txBody>
                  <a:tcPr marL="64008" marR="45720" marT="0" marB="0" anchor="ctr">
                    <a:solidFill>
                      <a:srgbClr val="202E60"/>
                    </a:solidFill>
                  </a:tcPr>
                </a:tc>
                <a:tc>
                  <a:txBody>
                    <a:bodyPr/>
                    <a:lstStyle/>
                    <a:p>
                      <a:pPr algn="l"/>
                      <a:r>
                        <a:rPr sz="950" b="0">
                          <a:solidFill>
                            <a:srgbClr val="CDD6F1"/>
                          </a:solidFill>
                          <a:latin typeface="Consolas"/>
                        </a:rPr>
                        <a:t>ETC/exploration_rounds_10000/average_results_895_900.csv</a:t>
                      </a:r>
                    </a:p>
                  </a:txBody>
                  <a:tcPr marL="64008" marR="45720" marT="0" marB="0" anchor="ctr">
                    <a:solidFill>
                      <a:srgbClr val="202E60"/>
                    </a:solidFill>
                  </a:tcPr>
                </a:tc>
                <a:extLst>
                  <a:ext uri="{0D108BD9-81ED-4DB2-BD59-A6C34878D82A}">
                    <a16:rowId xmlns:a16="http://schemas.microsoft.com/office/drawing/2014/main" val="10006"/>
                  </a:ext>
                </a:extLst>
              </a:tr>
              <a:tr h="310896">
                <a:tc>
                  <a:txBody>
                    <a:bodyPr/>
                    <a:lstStyle/>
                    <a:p>
                      <a:pPr algn="l"/>
                      <a:r>
                        <a:rPr sz="950" b="0">
                          <a:solidFill>
                            <a:srgbClr val="FFFFFF"/>
                          </a:solidFill>
                          <a:latin typeface="Aptos"/>
                        </a:rPr>
                        <a:t>UCB-Tuned</a:t>
                      </a:r>
                    </a:p>
                  </a:txBody>
                  <a:tcPr marL="64008" marR="45720" marT="0" marB="0" anchor="ctr">
                    <a:solidFill>
                      <a:srgbClr val="1A2755"/>
                    </a:solidFill>
                  </a:tcPr>
                </a:tc>
                <a:tc>
                  <a:txBody>
                    <a:bodyPr/>
                    <a:lstStyle/>
                    <a:p>
                      <a:pPr algn="ctr"/>
                      <a:r>
                        <a:rPr sz="950" b="0">
                          <a:solidFill>
                            <a:srgbClr val="FFFFFF"/>
                          </a:solidFill>
                          <a:latin typeface="Aptos"/>
                        </a:rPr>
                        <a:t>B</a:t>
                      </a:r>
                    </a:p>
                  </a:txBody>
                  <a:tcPr marL="64008" marR="45720" marT="0" marB="0" anchor="ctr">
                    <a:solidFill>
                      <a:srgbClr val="1A2755"/>
                    </a:solidFill>
                  </a:tcPr>
                </a:tc>
                <a:tc>
                  <a:txBody>
                    <a:bodyPr/>
                    <a:lstStyle/>
                    <a:p>
                      <a:pPr algn="r"/>
                      <a:r>
                        <a:rPr sz="950" b="0">
                          <a:solidFill>
                            <a:srgbClr val="FFFFFF"/>
                          </a:solidFill>
                          <a:latin typeface="Aptos"/>
                        </a:rPr>
                        <a:t>212.21</a:t>
                      </a:r>
                    </a:p>
                  </a:txBody>
                  <a:tcPr marL="64008" marR="45720" marT="0" marB="0" anchor="ctr">
                    <a:solidFill>
                      <a:srgbClr val="1A2755"/>
                    </a:solidFill>
                  </a:tcPr>
                </a:tc>
                <a:tc>
                  <a:txBody>
                    <a:bodyPr/>
                    <a:lstStyle/>
                    <a:p>
                      <a:pPr algn="r"/>
                      <a:r>
                        <a:rPr sz="950" b="0">
                          <a:solidFill>
                            <a:srgbClr val="F4A623"/>
                          </a:solidFill>
                          <a:latin typeface="Aptos"/>
                        </a:rPr>
                        <a:t>212.2084</a:t>
                      </a:r>
                    </a:p>
                  </a:txBody>
                  <a:tcPr marL="64008" marR="45720" marT="0" marB="0" anchor="ctr">
                    <a:solidFill>
                      <a:srgbClr val="1A2755"/>
                    </a:solidFill>
                  </a:tcPr>
                </a:tc>
                <a:tc>
                  <a:txBody>
                    <a:bodyPr/>
                    <a:lstStyle/>
                    <a:p>
                      <a:pPr algn="l"/>
                      <a:r>
                        <a:rPr sz="950" b="0">
                          <a:solidFill>
                            <a:srgbClr val="CDD6F1"/>
                          </a:solidFill>
                          <a:latin typeface="Consolas"/>
                        </a:rPr>
                        <a:t>UCB-Tuned/default/average_results_895_900.csv</a:t>
                      </a:r>
                    </a:p>
                  </a:txBody>
                  <a:tcPr marL="64008" marR="45720" marT="0" marB="0" anchor="ctr">
                    <a:solidFill>
                      <a:srgbClr val="1A2755"/>
                    </a:solidFill>
                  </a:tcPr>
                </a:tc>
                <a:extLst>
                  <a:ext uri="{0D108BD9-81ED-4DB2-BD59-A6C34878D82A}">
                    <a16:rowId xmlns:a16="http://schemas.microsoft.com/office/drawing/2014/main" val="10007"/>
                  </a:ext>
                </a:extLst>
              </a:tr>
              <a:tr h="310896">
                <a:tc>
                  <a:txBody>
                    <a:bodyPr/>
                    <a:lstStyle/>
                    <a:p>
                      <a:pPr algn="l"/>
                      <a:r>
                        <a:rPr sz="950" b="0">
                          <a:solidFill>
                            <a:srgbClr val="FFFFFF"/>
                          </a:solidFill>
                          <a:latin typeface="Aptos"/>
                        </a:rPr>
                        <a:t>UCB</a:t>
                      </a:r>
                    </a:p>
                  </a:txBody>
                  <a:tcPr marL="64008" marR="45720" marT="0" marB="0" anchor="ctr">
                    <a:solidFill>
                      <a:srgbClr val="202E60"/>
                    </a:solidFill>
                  </a:tcPr>
                </a:tc>
                <a:tc>
                  <a:txBody>
                    <a:bodyPr/>
                    <a:lstStyle/>
                    <a:p>
                      <a:pPr algn="ctr"/>
                      <a:r>
                        <a:rPr sz="950" b="0">
                          <a:solidFill>
                            <a:srgbClr val="FFFFFF"/>
                          </a:solidFill>
                          <a:latin typeface="Aptos"/>
                        </a:rPr>
                        <a:t>B</a:t>
                      </a:r>
                    </a:p>
                  </a:txBody>
                  <a:tcPr marL="64008" marR="45720" marT="0" marB="0" anchor="ctr">
                    <a:solidFill>
                      <a:srgbClr val="202E60"/>
                    </a:solidFill>
                  </a:tcPr>
                </a:tc>
                <a:tc>
                  <a:txBody>
                    <a:bodyPr/>
                    <a:lstStyle/>
                    <a:p>
                      <a:pPr algn="r"/>
                      <a:r>
                        <a:rPr sz="950" b="0">
                          <a:solidFill>
                            <a:srgbClr val="FFFFFF"/>
                          </a:solidFill>
                          <a:latin typeface="Aptos"/>
                        </a:rPr>
                        <a:t>1,127.17</a:t>
                      </a:r>
                    </a:p>
                  </a:txBody>
                  <a:tcPr marL="64008" marR="45720" marT="0" marB="0" anchor="ctr">
                    <a:solidFill>
                      <a:srgbClr val="202E60"/>
                    </a:solidFill>
                  </a:tcPr>
                </a:tc>
                <a:tc>
                  <a:txBody>
                    <a:bodyPr/>
                    <a:lstStyle/>
                    <a:p>
                      <a:pPr algn="r"/>
                      <a:r>
                        <a:rPr sz="950" b="0">
                          <a:solidFill>
                            <a:srgbClr val="F4A623"/>
                          </a:solidFill>
                          <a:latin typeface="Aptos"/>
                        </a:rPr>
                        <a:t>1,127.1738</a:t>
                      </a:r>
                    </a:p>
                  </a:txBody>
                  <a:tcPr marL="64008" marR="45720" marT="0" marB="0" anchor="ctr">
                    <a:solidFill>
                      <a:srgbClr val="202E60"/>
                    </a:solidFill>
                  </a:tcPr>
                </a:tc>
                <a:tc>
                  <a:txBody>
                    <a:bodyPr/>
                    <a:lstStyle/>
                    <a:p>
                      <a:pPr algn="l"/>
                      <a:r>
                        <a:rPr sz="950" b="0">
                          <a:solidFill>
                            <a:srgbClr val="CDD6F1"/>
                          </a:solidFill>
                          <a:latin typeface="Consolas"/>
                        </a:rPr>
                        <a:t>UCB/default/average_results_895_900.csv</a:t>
                      </a:r>
                    </a:p>
                  </a:txBody>
                  <a:tcPr marL="64008" marR="45720" marT="0" marB="0" anchor="ctr">
                    <a:solidFill>
                      <a:srgbClr val="202E60"/>
                    </a:solidFill>
                  </a:tcPr>
                </a:tc>
                <a:extLst>
                  <a:ext uri="{0D108BD9-81ED-4DB2-BD59-A6C34878D82A}">
                    <a16:rowId xmlns:a16="http://schemas.microsoft.com/office/drawing/2014/main" val="10008"/>
                  </a:ext>
                </a:extLst>
              </a:tr>
              <a:tr h="310896">
                <a:tc>
                  <a:txBody>
                    <a:bodyPr/>
                    <a:lstStyle/>
                    <a:p>
                      <a:pPr algn="l"/>
                      <a:r>
                        <a:rPr sz="950" b="0">
                          <a:solidFill>
                            <a:srgbClr val="FFFFFF"/>
                          </a:solidFill>
                          <a:latin typeface="Aptos"/>
                        </a:rPr>
                        <a:t>ETC (m=10,000)</a:t>
                      </a:r>
                    </a:p>
                  </a:txBody>
                  <a:tcPr marL="64008" marR="45720" marT="0" marB="0" anchor="ctr">
                    <a:solidFill>
                      <a:srgbClr val="1A2755"/>
                    </a:solidFill>
                  </a:tcPr>
                </a:tc>
                <a:tc>
                  <a:txBody>
                    <a:bodyPr/>
                    <a:lstStyle/>
                    <a:p>
                      <a:pPr algn="ctr"/>
                      <a:r>
                        <a:rPr sz="950" b="0">
                          <a:solidFill>
                            <a:srgbClr val="FFFFFF"/>
                          </a:solidFill>
                          <a:latin typeface="Aptos"/>
                        </a:rPr>
                        <a:t>C</a:t>
                      </a:r>
                    </a:p>
                  </a:txBody>
                  <a:tcPr marL="64008" marR="45720" marT="0" marB="0" anchor="ctr">
                    <a:solidFill>
                      <a:srgbClr val="1A2755"/>
                    </a:solidFill>
                  </a:tcPr>
                </a:tc>
                <a:tc>
                  <a:txBody>
                    <a:bodyPr/>
                    <a:lstStyle/>
                    <a:p>
                      <a:pPr algn="r"/>
                      <a:r>
                        <a:rPr sz="950" b="0">
                          <a:solidFill>
                            <a:srgbClr val="FFFFFF"/>
                          </a:solidFill>
                          <a:latin typeface="Aptos"/>
                        </a:rPr>
                        <a:t>170.53</a:t>
                      </a:r>
                    </a:p>
                  </a:txBody>
                  <a:tcPr marL="64008" marR="45720" marT="0" marB="0" anchor="ctr">
                    <a:solidFill>
                      <a:srgbClr val="1A2755"/>
                    </a:solidFill>
                  </a:tcPr>
                </a:tc>
                <a:tc>
                  <a:txBody>
                    <a:bodyPr/>
                    <a:lstStyle/>
                    <a:p>
                      <a:pPr algn="r"/>
                      <a:r>
                        <a:rPr sz="950" b="0">
                          <a:solidFill>
                            <a:srgbClr val="F4A623"/>
                          </a:solidFill>
                          <a:latin typeface="Aptos"/>
                        </a:rPr>
                        <a:t>170.5346</a:t>
                      </a:r>
                    </a:p>
                  </a:txBody>
                  <a:tcPr marL="64008" marR="45720" marT="0" marB="0" anchor="ctr">
                    <a:solidFill>
                      <a:srgbClr val="1A2755"/>
                    </a:solidFill>
                  </a:tcPr>
                </a:tc>
                <a:tc>
                  <a:txBody>
                    <a:bodyPr/>
                    <a:lstStyle/>
                    <a:p>
                      <a:pPr algn="l"/>
                      <a:r>
                        <a:rPr sz="950" b="0">
                          <a:solidFill>
                            <a:srgbClr val="CDD6F1"/>
                          </a:solidFill>
                          <a:latin typeface="Consolas"/>
                        </a:rPr>
                        <a:t>ETC/exploration_rounds_10000/average_results_890_895.csv</a:t>
                      </a:r>
                    </a:p>
                  </a:txBody>
                  <a:tcPr marL="64008" marR="45720" marT="0" marB="0" anchor="ctr">
                    <a:solidFill>
                      <a:srgbClr val="1A2755"/>
                    </a:solidFill>
                  </a:tcPr>
                </a:tc>
                <a:extLst>
                  <a:ext uri="{0D108BD9-81ED-4DB2-BD59-A6C34878D82A}">
                    <a16:rowId xmlns:a16="http://schemas.microsoft.com/office/drawing/2014/main" val="10009"/>
                  </a:ext>
                </a:extLst>
              </a:tr>
              <a:tr h="310896">
                <a:tc>
                  <a:txBody>
                    <a:bodyPr/>
                    <a:lstStyle/>
                    <a:p>
                      <a:pPr algn="l"/>
                      <a:r>
                        <a:rPr sz="950" b="0">
                          <a:solidFill>
                            <a:srgbClr val="FFFFFF"/>
                          </a:solidFill>
                          <a:latin typeface="Aptos"/>
                        </a:rPr>
                        <a:t>UCB-Tuned</a:t>
                      </a:r>
                    </a:p>
                  </a:txBody>
                  <a:tcPr marL="64008" marR="45720" marT="0" marB="0" anchor="ctr">
                    <a:solidFill>
                      <a:srgbClr val="202E60"/>
                    </a:solidFill>
                  </a:tcPr>
                </a:tc>
                <a:tc>
                  <a:txBody>
                    <a:bodyPr/>
                    <a:lstStyle/>
                    <a:p>
                      <a:pPr algn="ctr"/>
                      <a:r>
                        <a:rPr sz="950" b="0">
                          <a:solidFill>
                            <a:srgbClr val="FFFFFF"/>
                          </a:solidFill>
                          <a:latin typeface="Aptos"/>
                        </a:rPr>
                        <a:t>C</a:t>
                      </a:r>
                    </a:p>
                  </a:txBody>
                  <a:tcPr marL="64008" marR="45720" marT="0" marB="0" anchor="ctr">
                    <a:solidFill>
                      <a:srgbClr val="202E60"/>
                    </a:solidFill>
                  </a:tcPr>
                </a:tc>
                <a:tc>
                  <a:txBody>
                    <a:bodyPr/>
                    <a:lstStyle/>
                    <a:p>
                      <a:pPr algn="r"/>
                      <a:r>
                        <a:rPr sz="950" b="0">
                          <a:solidFill>
                            <a:srgbClr val="FFFFFF"/>
                          </a:solidFill>
                          <a:latin typeface="Aptos"/>
                        </a:rPr>
                        <a:t>226.09</a:t>
                      </a:r>
                    </a:p>
                  </a:txBody>
                  <a:tcPr marL="64008" marR="45720" marT="0" marB="0" anchor="ctr">
                    <a:solidFill>
                      <a:srgbClr val="202E60"/>
                    </a:solidFill>
                  </a:tcPr>
                </a:tc>
                <a:tc>
                  <a:txBody>
                    <a:bodyPr/>
                    <a:lstStyle/>
                    <a:p>
                      <a:pPr algn="r"/>
                      <a:r>
                        <a:rPr sz="950" b="0">
                          <a:solidFill>
                            <a:srgbClr val="F4A623"/>
                          </a:solidFill>
                          <a:latin typeface="Aptos"/>
                        </a:rPr>
                        <a:t>226.0870</a:t>
                      </a:r>
                    </a:p>
                  </a:txBody>
                  <a:tcPr marL="64008" marR="45720" marT="0" marB="0" anchor="ctr">
                    <a:solidFill>
                      <a:srgbClr val="202E60"/>
                    </a:solidFill>
                  </a:tcPr>
                </a:tc>
                <a:tc>
                  <a:txBody>
                    <a:bodyPr/>
                    <a:lstStyle/>
                    <a:p>
                      <a:pPr algn="l"/>
                      <a:r>
                        <a:rPr sz="950" b="0">
                          <a:solidFill>
                            <a:srgbClr val="CDD6F1"/>
                          </a:solidFill>
                          <a:latin typeface="Consolas"/>
                        </a:rPr>
                        <a:t>UCB-Tuned/default/average_results_890_895.csv</a:t>
                      </a:r>
                    </a:p>
                  </a:txBody>
                  <a:tcPr marL="64008" marR="45720" marT="0" marB="0" anchor="ctr">
                    <a:solidFill>
                      <a:srgbClr val="202E60"/>
                    </a:solidFill>
                  </a:tcPr>
                </a:tc>
                <a:extLst>
                  <a:ext uri="{0D108BD9-81ED-4DB2-BD59-A6C34878D82A}">
                    <a16:rowId xmlns:a16="http://schemas.microsoft.com/office/drawing/2014/main" val="10010"/>
                  </a:ext>
                </a:extLst>
              </a:tr>
              <a:tr h="310896">
                <a:tc>
                  <a:txBody>
                    <a:bodyPr/>
                    <a:lstStyle/>
                    <a:p>
                      <a:pPr algn="l"/>
                      <a:r>
                        <a:rPr sz="950" b="0">
                          <a:solidFill>
                            <a:srgbClr val="FFFFFF"/>
                          </a:solidFill>
                          <a:latin typeface="Aptos"/>
                        </a:rPr>
                        <a:t>UCB</a:t>
                      </a:r>
                    </a:p>
                  </a:txBody>
                  <a:tcPr marL="64008" marR="45720" marT="0" marB="0" anchor="ctr">
                    <a:solidFill>
                      <a:srgbClr val="1A2755"/>
                    </a:solidFill>
                  </a:tcPr>
                </a:tc>
                <a:tc>
                  <a:txBody>
                    <a:bodyPr/>
                    <a:lstStyle/>
                    <a:p>
                      <a:pPr algn="ctr"/>
                      <a:r>
                        <a:rPr sz="950" b="0">
                          <a:solidFill>
                            <a:srgbClr val="FFFFFF"/>
                          </a:solidFill>
                          <a:latin typeface="Aptos"/>
                        </a:rPr>
                        <a:t>C</a:t>
                      </a:r>
                    </a:p>
                  </a:txBody>
                  <a:tcPr marL="64008" marR="45720" marT="0" marB="0" anchor="ctr">
                    <a:solidFill>
                      <a:srgbClr val="1A2755"/>
                    </a:solidFill>
                  </a:tcPr>
                </a:tc>
                <a:tc>
                  <a:txBody>
                    <a:bodyPr/>
                    <a:lstStyle/>
                    <a:p>
                      <a:pPr algn="r"/>
                      <a:r>
                        <a:rPr sz="950" b="0">
                          <a:solidFill>
                            <a:srgbClr val="FFFFFF"/>
                          </a:solidFill>
                          <a:latin typeface="Aptos"/>
                        </a:rPr>
                        <a:t>1,172.57</a:t>
                      </a:r>
                    </a:p>
                  </a:txBody>
                  <a:tcPr marL="64008" marR="45720" marT="0" marB="0" anchor="ctr">
                    <a:solidFill>
                      <a:srgbClr val="1A2755"/>
                    </a:solidFill>
                  </a:tcPr>
                </a:tc>
                <a:tc>
                  <a:txBody>
                    <a:bodyPr/>
                    <a:lstStyle/>
                    <a:p>
                      <a:pPr algn="r"/>
                      <a:r>
                        <a:rPr sz="950" b="0">
                          <a:solidFill>
                            <a:srgbClr val="F4A623"/>
                          </a:solidFill>
                          <a:latin typeface="Aptos"/>
                        </a:rPr>
                        <a:t>1,172.5742</a:t>
                      </a:r>
                    </a:p>
                  </a:txBody>
                  <a:tcPr marL="64008" marR="45720" marT="0" marB="0" anchor="ctr">
                    <a:solidFill>
                      <a:srgbClr val="1A2755"/>
                    </a:solidFill>
                  </a:tcPr>
                </a:tc>
                <a:tc>
                  <a:txBody>
                    <a:bodyPr/>
                    <a:lstStyle/>
                    <a:p>
                      <a:pPr algn="l"/>
                      <a:r>
                        <a:rPr sz="950" b="0">
                          <a:solidFill>
                            <a:srgbClr val="CDD6F1"/>
                          </a:solidFill>
                          <a:latin typeface="Consolas"/>
                        </a:rPr>
                        <a:t>UCB/default/average_results_890_895.csv</a:t>
                      </a:r>
                    </a:p>
                  </a:txBody>
                  <a:tcPr marL="64008" marR="45720" marT="0" marB="0" anchor="ctr">
                    <a:solidFill>
                      <a:srgbClr val="1A2755"/>
                    </a:solidFill>
                  </a:tcPr>
                </a:tc>
                <a:extLst>
                  <a:ext uri="{0D108BD9-81ED-4DB2-BD59-A6C34878D82A}">
                    <a16:rowId xmlns:a16="http://schemas.microsoft.com/office/drawing/2014/main" val="10011"/>
                  </a:ext>
                </a:extLst>
              </a:tr>
            </a:tbl>
          </a:graphicData>
        </a:graphic>
      </p:graphicFrame>
      <p:sp>
        <p:nvSpPr>
          <p:cNvPr id="6" name="Rounded Rectangle 5"/>
          <p:cNvSpPr/>
          <p:nvPr/>
        </p:nvSpPr>
        <p:spPr>
          <a:xfrm>
            <a:off x="548640" y="5285232"/>
            <a:ext cx="11100816" cy="475488"/>
          </a:xfrm>
          <a:prstGeom prst="roundRect">
            <a:avLst/>
          </a:prstGeom>
          <a:solidFill>
            <a:srgbClr val="1F3570"/>
          </a:solid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lstStyle/>
          <a:p>
            <a:pPr algn="ctr"/>
            <a:r>
              <a:rPr sz="1100" b="1">
                <a:solidFill>
                  <a:srgbClr val="FFFFFF"/>
                </a:solidFill>
                <a:latin typeface="Aptos"/>
              </a:rPr>
              <a:t>11 of 11 values match.  File names encode the arm probabilities: 800_900 = Scenario A, 895_900 = Scenario B, 890_895 = Scenario C.</a:t>
            </a:r>
          </a:p>
        </p:txBody>
      </p:sp>
      <p:sp>
        <p:nvSpPr>
          <p:cNvPr id="7" name="TextBox 6"/>
          <p:cNvSpPr txBox="1"/>
          <p:nvPr/>
        </p:nvSpPr>
        <p:spPr>
          <a:xfrm>
            <a:off x="548640" y="5907024"/>
            <a:ext cx="11064240" cy="274320"/>
          </a:xfrm>
          <a:prstGeom prst="rect">
            <a:avLst/>
          </a:prstGeom>
          <a:noFill/>
        </p:spPr>
        <p:txBody>
          <a:bodyPr wrap="square" lIns="0" tIns="0" rIns="0" bIns="0">
            <a:spAutoFit/>
          </a:bodyPr>
          <a:lstStyle/>
          <a:p>
            <a:r>
              <a:rPr sz="850" i="0">
                <a:solidFill>
                  <a:srgbClr val="CDD6F1"/>
                </a:solidFill>
                <a:latin typeface="Aptos"/>
              </a:rPr>
              <a:t>Source: Wolf (2025), Tables 3-5  |  author's data: </a:t>
            </a:r>
            <a:r>
              <a:rPr sz="850" i="0">
                <a:solidFill>
                  <a:srgbClr val="CDD6F1"/>
                </a:solidFill>
                <a:latin typeface="Aptos"/>
                <a:hlinkClick r:id="rId3"/>
              </a:rPr>
              <a:t>github.com/eelisee/bandit_playground</a:t>
            </a:r>
            <a:r>
              <a:rPr sz="850" i="0">
                <a:solidFill>
                  <a:srgbClr val="CDD6F1"/>
                </a:solidFill>
                <a:latin typeface="Aptos"/>
              </a:rPr>
              <a:t> (v1.0-SKILL2025)  |  our check script: </a:t>
            </a:r>
            <a:r>
              <a:rPr sz="850" i="0">
                <a:solidFill>
                  <a:srgbClr val="CDD6F1"/>
                </a:solidFill>
                <a:latin typeface="Aptos"/>
                <a:hlinkClick r:id="rId4"/>
              </a:rPr>
              <a:t>github.com/CSB-sys/drl-group8-bandit-analysis</a:t>
            </a:r>
          </a:p>
        </p:txBody>
      </p:sp>
      <p:sp>
        <p:nvSpPr>
          <p:cNvPr id="9" name="TextBox 8"/>
          <p:cNvSpPr txBox="1"/>
          <p:nvPr/>
        </p:nvSpPr>
        <p:spPr>
          <a:xfrm>
            <a:off x="457200" y="6565392"/>
            <a:ext cx="8686800" cy="256032"/>
          </a:xfrm>
          <a:prstGeom prst="rect">
            <a:avLst/>
          </a:prstGeom>
          <a:noFill/>
        </p:spPr>
        <p:txBody>
          <a:bodyPr wrap="none">
            <a:spAutoFit/>
          </a:bodyPr>
          <a:lstStyle/>
          <a:p>
            <a:r>
              <a:rPr sz="900">
                <a:solidFill>
                  <a:srgbClr val="8894B0"/>
                </a:solidFill>
                <a:latin typeface="Calibri"/>
              </a:rPr>
              <a:t>Group 8 | DRL Assignment Problem 1 | Variance-Aware Bandits | Sec. 3/5: Evidence | Slide 13 of 23</a:t>
            </a:r>
          </a:p>
        </p:txBody>
      </p:sp>
      <p:sp>
        <p:nvSpPr>
          <p:cNvPr id="12" name="TextBox 11">
            <a:extLst>
              <a:ext uri="{FF2B5EF4-FFF2-40B4-BE49-F238E27FC236}">
                <a16:creationId xmlns:a16="http://schemas.microsoft.com/office/drawing/2014/main" id="{2C5C8D21-BF65-7CC7-CED8-7EA48B66FE10}"/>
              </a:ext>
            </a:extLst>
          </p:cNvPr>
          <p:cNvSpPr txBox="1"/>
          <p:nvPr/>
        </p:nvSpPr>
        <p:spPr>
          <a:xfrm>
            <a:off x="9652000" y="6462134"/>
            <a:ext cx="2540000" cy="374461"/>
          </a:xfrm>
          <a:prstGeom prst="rect">
            <a:avLst/>
          </a:prstGeom>
          <a:solidFill>
            <a:srgbClr val="223975"/>
          </a:solidFill>
        </p:spPr>
        <p:txBody>
          <a:bodyPr vert="horz" wrap="square" lIns="76200" tIns="25400" rIns="76200" bIns="12700" rtlCol="0">
            <a:noAutofit/>
          </a:bodyPr>
          <a:lstStyle/>
          <a:p>
            <a:pPr algn="ctr"/>
            <a:r>
              <a:rPr lang="en-US" sz="800" b="1" dirty="0">
                <a:solidFill>
                  <a:srgbClr val="FFFFFF"/>
                </a:solidFill>
                <a:latin typeface="Aptos" panose="020B0004020202020204" pitchFamily="34" charset="0"/>
              </a:rPr>
              <a:t>Contributor: Kurella Madhulatha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41E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10896"/>
            <a:ext cx="11100816" cy="475488"/>
          </a:xfrm>
          <a:prstGeom prst="rect">
            <a:avLst/>
          </a:prstGeom>
          <a:noFill/>
        </p:spPr>
        <p:txBody>
          <a:bodyPr wrap="square" lIns="0" tIns="0" rIns="0" bIns="0">
            <a:spAutoFit/>
          </a:bodyPr>
          <a:lstStyle/>
          <a:p>
            <a:pPr algn="l"/>
            <a:r>
              <a:rPr sz="2600" b="1" i="0">
                <a:solidFill>
                  <a:srgbClr val="FFFFFF"/>
                </a:solidFill>
                <a:latin typeface="Georgia"/>
              </a:rPr>
              <a:t>Kurella Madhulatha — Working and Source</a:t>
            </a:r>
          </a:p>
        </p:txBody>
      </p:sp>
      <p:sp>
        <p:nvSpPr>
          <p:cNvPr id="4" name="TextBox 3"/>
          <p:cNvSpPr txBox="1"/>
          <p:nvPr/>
        </p:nvSpPr>
        <p:spPr>
          <a:xfrm>
            <a:off x="548640" y="896112"/>
            <a:ext cx="11100816" cy="310896"/>
          </a:xfrm>
          <a:prstGeom prst="rect">
            <a:avLst/>
          </a:prstGeom>
          <a:noFill/>
        </p:spPr>
        <p:txBody>
          <a:bodyPr wrap="square" lIns="0" tIns="0" rIns="0" bIns="0">
            <a:spAutoFit/>
          </a:bodyPr>
          <a:lstStyle/>
          <a:p>
            <a:pPr algn="l"/>
            <a:r>
              <a:rPr sz="1150" b="0" i="0">
                <a:solidFill>
                  <a:srgbClr val="CDD6F1"/>
                </a:solidFill>
                <a:latin typeface="Aptos"/>
              </a:rPr>
              <a:t>Every regret value we quote, traced from the paper's table to the author's published simulation output.</a:t>
            </a:r>
          </a:p>
        </p:txBody>
      </p:sp>
      <p:sp>
        <p:nvSpPr>
          <p:cNvPr id="5" name="Rounded Rectangle 4"/>
          <p:cNvSpPr/>
          <p:nvPr/>
        </p:nvSpPr>
        <p:spPr>
          <a:xfrm>
            <a:off x="548640" y="1325880"/>
            <a:ext cx="6400800" cy="449884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463039"/>
            <a:ext cx="5998464" cy="237744"/>
          </a:xfrm>
          <a:prstGeom prst="rect">
            <a:avLst/>
          </a:prstGeom>
          <a:noFill/>
        </p:spPr>
        <p:txBody>
          <a:bodyPr wrap="square" lIns="0" tIns="0" rIns="0" bIns="0">
            <a:spAutoFit/>
          </a:bodyPr>
          <a:lstStyle/>
          <a:p>
            <a:pPr algn="l"/>
            <a:r>
              <a:rPr sz="1000" b="1" i="0">
                <a:solidFill>
                  <a:srgbClr val="1F3570"/>
                </a:solidFill>
                <a:latin typeface="Aptos"/>
              </a:rPr>
              <a:t>Data source — the author's repository, branch v1.0-SKILL2025</a:t>
            </a:r>
          </a:p>
        </p:txBody>
      </p:sp>
      <p:pic>
        <p:nvPicPr>
          <p:cNvPr id="7" name="Picture 6" descr="g_csv.png"/>
          <p:cNvPicPr>
            <a:picLocks noChangeAspect="1"/>
          </p:cNvPicPr>
          <p:nvPr/>
        </p:nvPicPr>
        <p:blipFill>
          <a:blip r:embed="rId3"/>
          <a:stretch>
            <a:fillRect/>
          </a:stretch>
        </p:blipFill>
        <p:spPr>
          <a:xfrm>
            <a:off x="1211580" y="1746504"/>
            <a:ext cx="5074920" cy="3517585"/>
          </a:xfrm>
          <a:prstGeom prst="rect">
            <a:avLst/>
          </a:prstGeom>
        </p:spPr>
      </p:pic>
      <p:sp>
        <p:nvSpPr>
          <p:cNvPr id="8" name="TextBox 7"/>
          <p:cNvSpPr txBox="1"/>
          <p:nvPr/>
        </p:nvSpPr>
        <p:spPr>
          <a:xfrm>
            <a:off x="749808" y="5410392"/>
            <a:ext cx="5998464" cy="274320"/>
          </a:xfrm>
          <a:prstGeom prst="rect">
            <a:avLst/>
          </a:prstGeom>
          <a:noFill/>
        </p:spPr>
        <p:txBody>
          <a:bodyPr wrap="square" lIns="0" tIns="0" rIns="0" bIns="0">
            <a:spAutoFit/>
          </a:bodyPr>
          <a:lstStyle/>
          <a:p>
            <a:pPr algn="l"/>
            <a:r>
              <a:rPr sz="950" b="1" i="0">
                <a:solidFill>
                  <a:srgbClr val="1F3570"/>
                </a:solidFill>
                <a:latin typeface="Aptos"/>
              </a:rPr>
              <a:t>Final row: Average Regret = 30.669   |   Paper Table 3 reports 30.67</a:t>
            </a:r>
          </a:p>
        </p:txBody>
      </p:sp>
      <p:sp>
        <p:nvSpPr>
          <p:cNvPr id="9" name="Rounded Rectangle 8"/>
          <p:cNvSpPr/>
          <p:nvPr/>
        </p:nvSpPr>
        <p:spPr>
          <a:xfrm>
            <a:off x="7251192" y="1325880"/>
            <a:ext cx="4389120" cy="4498848"/>
          </a:xfrm>
          <a:prstGeom prst="roundRect">
            <a:avLst/>
          </a:prstGeom>
          <a:solidFill>
            <a:srgbClr val="141E49"/>
          </a:solidFill>
          <a:ln w="15875">
            <a:solidFill>
              <a:srgbClr val="F4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6565392"/>
            <a:ext cx="8686800" cy="256032"/>
          </a:xfrm>
          <a:prstGeom prst="rect">
            <a:avLst/>
          </a:prstGeom>
          <a:noFill/>
        </p:spPr>
        <p:txBody>
          <a:bodyPr wrap="square" lIns="0" tIns="0" rIns="0" bIns="0">
            <a:spAutoFit/>
          </a:bodyPr>
          <a:lstStyle/>
          <a:p>
            <a:pPr algn="l"/>
            <a:r>
              <a:rPr sz="900" b="0" i="0">
                <a:solidFill>
                  <a:srgbClr val="8894B0"/>
                </a:solidFill>
                <a:latin typeface="Calibri"/>
              </a:rPr>
              <a:t>Group 8 | DRL Assignment Problem 1 | Variance-Aware Bandits | Sec. 4/5: Results | Slide 14 of 23</a:t>
            </a:r>
          </a:p>
        </p:txBody>
      </p:sp>
      <p:sp>
        <p:nvSpPr>
          <p:cNvPr id="15" name="TextBox 14">
            <a:extLst>
              <a:ext uri="{FF2B5EF4-FFF2-40B4-BE49-F238E27FC236}">
                <a16:creationId xmlns:a16="http://schemas.microsoft.com/office/drawing/2014/main" id="{5F426F80-CB91-C70E-A70D-F738100CF4C7}"/>
              </a:ext>
            </a:extLst>
          </p:cNvPr>
          <p:cNvSpPr txBox="1"/>
          <p:nvPr/>
        </p:nvSpPr>
        <p:spPr>
          <a:xfrm>
            <a:off x="9652000" y="6476590"/>
            <a:ext cx="2540000" cy="374461"/>
          </a:xfrm>
          <a:prstGeom prst="rect">
            <a:avLst/>
          </a:prstGeom>
          <a:solidFill>
            <a:srgbClr val="223975"/>
          </a:solidFill>
        </p:spPr>
        <p:txBody>
          <a:bodyPr vert="horz" wrap="square" lIns="76200" tIns="25400" rIns="76200" bIns="12700" rtlCol="0">
            <a:noAutofit/>
          </a:bodyPr>
          <a:lstStyle/>
          <a:p>
            <a:pPr algn="ctr"/>
            <a:r>
              <a:rPr lang="en-US" sz="800" b="1" dirty="0">
                <a:solidFill>
                  <a:srgbClr val="FFFFFF"/>
                </a:solidFill>
                <a:latin typeface="Aptos" panose="020B0004020202020204" pitchFamily="34" charset="0"/>
              </a:rPr>
              <a:t>Contributor: Kurella Madhulatha</a:t>
            </a:r>
          </a:p>
        </p:txBody>
      </p:sp>
      <p:pic>
        <p:nvPicPr>
          <p:cNvPr id="16" name="Picture 15" descr="madhulatha.jpg"/>
          <p:cNvPicPr>
            <a:picLocks noChangeAspect="1"/>
          </p:cNvPicPr>
          <p:nvPr/>
        </p:nvPicPr>
        <p:blipFill>
          <a:blip r:embed="rId4"/>
          <a:stretch>
            <a:fillRect/>
          </a:stretch>
        </p:blipFill>
        <p:spPr>
          <a:xfrm>
            <a:off x="7756265" y="1453895"/>
            <a:ext cx="3378973" cy="424281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Results — Scenario A (Baseline)</a:t>
            </a:r>
            <a:endParaRPr lang="en-US" sz="28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marL="0" indent="0" algn="l">
              <a:buNone/>
            </a:pPr>
            <a:r>
              <a:rPr lang="en-US" sz="1400" i="1" dirty="0">
                <a:solidFill>
                  <a:srgbClr val="3A4468"/>
                </a:solidFill>
                <a:latin typeface="Calibri" pitchFamily="34" charset="0"/>
                <a:ea typeface="Calibri" pitchFamily="34" charset="-122"/>
                <a:cs typeface="Calibri" pitchFamily="34" charset="-120"/>
              </a:rPr>
              <a:t>Large reward gap: exploitation efficiency dominates</a:t>
            </a:r>
            <a:endParaRPr lang="en-US" sz="1400" dirty="0"/>
          </a:p>
        </p:txBody>
      </p:sp>
      <p:sp>
        <p:nvSpPr>
          <p:cNvPr id="4" name="Text 2"/>
          <p:cNvSpPr txBox="1"/>
          <p:nvPr/>
        </p:nvSpPr>
        <p:spPr>
          <a:xfrm>
            <a:off x="457200" y="6565392"/>
            <a:ext cx="8686800" cy="256032"/>
          </a:xfrm>
          <a:prstGeom prst="rect">
            <a:avLst/>
          </a:prstGeom>
          <a:noFill/>
          <a:ln/>
        </p:spPr>
        <p:txBody>
          <a:bodyPr wrap="square" lIns="0" tIns="0" rIns="0" bIns="0" rtlCol="0" anchor="ctr"/>
          <a:lstStyle/>
          <a:p>
            <a:r>
              <a:rPr lang="en-US" sz="900">
                <a:solidFill>
                  <a:srgbClr val="8A93B8"/>
                </a:solidFill>
                <a:latin typeface="Calibri" pitchFamily="34" charset="0"/>
                <a:ea typeface="Calibri" pitchFamily="34" charset="-122"/>
                <a:cs typeface="Calibri" pitchFamily="34" charset="-120"/>
              </a:rPr>
              <a:t>Group 8 | DRL Assignment Problem 1 | Variance-Aware Bandits | Sec. 4/5: Results | Slide 15 of 23</a:t>
            </a:r>
            <a:endParaRPr lang="en-US" sz="900" dirty="0"/>
          </a:p>
        </p:txBody>
      </p:sp>
      <p:graphicFrame>
        <p:nvGraphicFramePr>
          <p:cNvPr id="5" name="Chart 0"/>
          <p:cNvGraphicFramePr/>
          <p:nvPr/>
        </p:nvGraphicFramePr>
        <p:xfrm>
          <a:off x="457200" y="1508760"/>
          <a:ext cx="6858000" cy="48920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452360" y="1508760"/>
            <a:ext cx="4160520" cy="4892040"/>
          </a:xfrm>
          <a:prstGeom prst="rect">
            <a:avLst/>
          </a:prstGeom>
          <a:solidFill>
            <a:srgbClr val="F4F6FB"/>
          </a:solidFill>
          <a:ln w="9525">
            <a:solidFill>
              <a:srgbClr val="D5DAE8"/>
            </a:solidFill>
            <a:prstDash val="solid"/>
          </a:ln>
        </p:spPr>
        <p:txBody>
          <a:bodyPr/>
          <a:lstStyle/>
          <a:p>
            <a:endParaRPr lang="en-US"/>
          </a:p>
        </p:txBody>
      </p:sp>
      <p:sp>
        <p:nvSpPr>
          <p:cNvPr id="7" name="Text 4"/>
          <p:cNvSpPr txBox="1"/>
          <p:nvPr/>
        </p:nvSpPr>
        <p:spPr>
          <a:xfrm>
            <a:off x="7680960" y="1645920"/>
            <a:ext cx="3657600" cy="365760"/>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What happened</a:t>
            </a:r>
            <a:endParaRPr lang="en-US" sz="1400" dirty="0"/>
          </a:p>
        </p:txBody>
      </p:sp>
      <p:sp>
        <p:nvSpPr>
          <p:cNvPr id="8" name="Text 5"/>
          <p:cNvSpPr txBox="1"/>
          <p:nvPr/>
        </p:nvSpPr>
        <p:spPr>
          <a:xfrm>
            <a:off x="7680960" y="2011680"/>
            <a:ext cx="3703320" cy="2468880"/>
          </a:xfrm>
          <a:prstGeom prst="rect">
            <a:avLst/>
          </a:prstGeom>
          <a:noFill/>
          <a:ln/>
        </p:spPr>
        <p:txBody>
          <a:bodyPr wrap="square" lIns="0" tIns="0" rIns="0" bIns="0" rtlCol="0" anchor="t"/>
          <a:lstStyle/>
          <a:p>
            <a:pPr marL="342900" indent="-342900">
              <a:spcAft>
                <a:spcPts val="800"/>
              </a:spcAft>
              <a:buSzPct val="100000"/>
              <a:buChar char="–"/>
            </a:pPr>
            <a:r>
              <a:rPr lang="en-US" sz="1050">
                <a:solidFill>
                  <a:srgbClr val="1B1F33"/>
                </a:solidFill>
                <a:latin typeface="Calibri" pitchFamily="34" charset="0"/>
                <a:ea typeface="Calibri" pitchFamily="34" charset="-122"/>
                <a:cs typeface="Calibri" pitchFamily="34" charset="-120"/>
              </a:rPr>
              <a:t>ETC (m=100) has the lowest regret (10.1, p=1.00), but relies on selecting an effective exploration length.</a:t>
            </a:r>
          </a:p>
          <a:p>
            <a:pPr marL="342900" indent="-342900">
              <a:spcAft>
                <a:spcPts val="800"/>
              </a:spcAft>
              <a:buSzPct val="100000"/>
              <a:buChar char="–"/>
            </a:pPr>
            <a:r>
              <a:rPr lang="en-US" sz="1050">
                <a:solidFill>
                  <a:srgbClr val="1B1F33"/>
                </a:solidFill>
                <a:latin typeface="Calibri" pitchFamily="34" charset="0"/>
                <a:ea typeface="Calibri" pitchFamily="34" charset="-122"/>
                <a:cs typeface="Calibri" pitchFamily="34" charset="-120"/>
              </a:rPr>
              <a:t>UCB-Tuned and EUCBV perform nearly as well (30.7 / 47.7); for both, the test does not detect a variance difference from the reference (p=1.00), and the reported configurations are not scenario-specific.</a:t>
            </a:r>
          </a:p>
          <a:p>
            <a:pPr marL="342900" indent="-342900">
              <a:spcAft>
                <a:spcPts val="800"/>
              </a:spcAft>
              <a:buSzPct val="100000"/>
              <a:buChar char="–"/>
            </a:pPr>
            <a:r>
              <a:rPr lang="en-US" sz="1050">
                <a:solidFill>
                  <a:srgbClr val="1B1F33"/>
                </a:solidFill>
                <a:latin typeface="Calibri" pitchFamily="34" charset="0"/>
                <a:ea typeface="Calibri" pitchFamily="34" charset="-122"/>
                <a:cs typeface="Calibri" pitchFamily="34" charset="-120"/>
              </a:rPr>
              <a:t>UCB-Improved performs worst — regret 32,500.11 and p=0.00; its observed reward variance differs significantly from the optimal-arm reference.</a:t>
            </a:r>
            <a:endParaRPr lang="en-US" sz="1050" dirty="0"/>
          </a:p>
        </p:txBody>
      </p:sp>
      <p:pic>
        <p:nvPicPr>
          <p:cNvPr id="9" name="Image 0" descr="Table 3 from the source paper"/>
          <p:cNvPicPr>
            <a:picLocks noChangeAspect="1"/>
          </p:cNvPicPr>
          <p:nvPr/>
        </p:nvPicPr>
        <p:blipFill>
          <a:blip r:embed="rId4"/>
          <a:stretch>
            <a:fillRect/>
          </a:stretch>
        </p:blipFill>
        <p:spPr>
          <a:xfrm>
            <a:off x="7680960" y="4434840"/>
            <a:ext cx="3611880" cy="1271016"/>
          </a:xfrm>
          <a:prstGeom prst="rect">
            <a:avLst/>
          </a:prstGeom>
        </p:spPr>
      </p:pic>
      <p:sp>
        <p:nvSpPr>
          <p:cNvPr id="10" name="Text 6"/>
          <p:cNvSpPr txBox="1"/>
          <p:nvPr/>
        </p:nvSpPr>
        <p:spPr>
          <a:xfrm>
            <a:off x="7680960" y="5742432"/>
            <a:ext cx="3657600" cy="502920"/>
          </a:xfrm>
          <a:prstGeom prst="rect">
            <a:avLst/>
          </a:prstGeom>
          <a:noFill/>
          <a:ln/>
        </p:spPr>
        <p:txBody>
          <a:bodyPr wrap="square" lIns="0" tIns="0" rIns="0" bIns="0" rtlCol="0" anchor="ctr"/>
          <a:lstStyle/>
          <a:p>
            <a:pPr marL="0" indent="0">
              <a:lnSpc>
                <a:spcPct val="115000"/>
              </a:lnSpc>
              <a:buNone/>
            </a:pPr>
            <a:r>
              <a:rPr lang="en-US" sz="800" i="1">
                <a:solidFill>
                  <a:srgbClr val="8894B0"/>
                </a:solidFill>
                <a:latin typeface="Calibri" pitchFamily="34" charset="0"/>
                <a:ea typeface="Calibri" pitchFamily="34" charset="-122"/>
                <a:cs typeface="Calibri" pitchFamily="34" charset="-120"/>
              </a:rPr>
              <a:t>Source: Table 3, p.9 of the paper (11 reported configurations across 8 algorithm classes). Cross-checked against data/UCB-Tuned/default/average_results_800_900.csv (regret 30.6690).</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Results — Scenario B (Low-Variance Micro-Gap)</a:t>
            </a:r>
            <a:endParaRPr lang="en-US" sz="28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marL="0" indent="0" algn="l">
              <a:buNone/>
            </a:pPr>
            <a:r>
              <a:rPr lang="en-US" sz="1400" i="1" dirty="0">
                <a:solidFill>
                  <a:srgbClr val="3A4468"/>
                </a:solidFill>
                <a:latin typeface="Calibri" pitchFamily="34" charset="0"/>
                <a:ea typeface="Calibri" pitchFamily="34" charset="-122"/>
                <a:cs typeface="Calibri" pitchFamily="34" charset="-120"/>
              </a:rPr>
              <a:t>Tiny reward gap (Δ=0.005), low variance</a:t>
            </a:r>
            <a:endParaRPr lang="en-US" sz="1400" dirty="0"/>
          </a:p>
        </p:txBody>
      </p:sp>
      <p:sp>
        <p:nvSpPr>
          <p:cNvPr id="4" name="Text 2"/>
          <p:cNvSpPr txBox="1"/>
          <p:nvPr/>
        </p:nvSpPr>
        <p:spPr>
          <a:xfrm>
            <a:off x="457200" y="6565392"/>
            <a:ext cx="8686800" cy="256032"/>
          </a:xfrm>
          <a:prstGeom prst="rect">
            <a:avLst/>
          </a:prstGeom>
          <a:noFill/>
          <a:ln/>
        </p:spPr>
        <p:txBody>
          <a:bodyPr wrap="square" lIns="0" tIns="0" rIns="0" bIns="0" rtlCol="0" anchor="ctr"/>
          <a:lstStyle/>
          <a:p>
            <a:r>
              <a:rPr lang="en-US" sz="900">
                <a:solidFill>
                  <a:srgbClr val="8A93B8"/>
                </a:solidFill>
                <a:latin typeface="Calibri" pitchFamily="34" charset="0"/>
                <a:ea typeface="Calibri" pitchFamily="34" charset="-122"/>
                <a:cs typeface="Calibri" pitchFamily="34" charset="-120"/>
              </a:rPr>
              <a:t>Group 8 | DRL Assignment Problem 1 | Variance-Aware Bandits | Sec. 4/5: Results | Slide 16 of 23</a:t>
            </a:r>
            <a:endParaRPr lang="en-US" sz="900" dirty="0"/>
          </a:p>
        </p:txBody>
      </p:sp>
      <p:graphicFrame>
        <p:nvGraphicFramePr>
          <p:cNvPr id="5" name="Chart 0"/>
          <p:cNvGraphicFramePr/>
          <p:nvPr/>
        </p:nvGraphicFramePr>
        <p:xfrm>
          <a:off x="548640" y="1600200"/>
          <a:ext cx="694944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680960" y="1600200"/>
            <a:ext cx="3931920" cy="4023360"/>
          </a:xfrm>
          <a:prstGeom prst="rect">
            <a:avLst/>
          </a:prstGeom>
          <a:solidFill>
            <a:srgbClr val="F4F6FB"/>
          </a:solidFill>
          <a:ln w="9525">
            <a:solidFill>
              <a:srgbClr val="D5DAE8"/>
            </a:solidFill>
            <a:prstDash val="solid"/>
          </a:ln>
        </p:spPr>
        <p:txBody>
          <a:bodyPr/>
          <a:lstStyle/>
          <a:p>
            <a:endParaRPr lang="en-US"/>
          </a:p>
        </p:txBody>
      </p:sp>
      <p:sp>
        <p:nvSpPr>
          <p:cNvPr id="7" name="Text 4"/>
          <p:cNvSpPr txBox="1"/>
          <p:nvPr/>
        </p:nvSpPr>
        <p:spPr>
          <a:xfrm>
            <a:off x="7909560" y="1783080"/>
            <a:ext cx="3474720" cy="365760"/>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What happened</a:t>
            </a:r>
            <a:endParaRPr lang="en-US" sz="1400" dirty="0"/>
          </a:p>
        </p:txBody>
      </p:sp>
      <p:sp>
        <p:nvSpPr>
          <p:cNvPr id="8" name="Text 5"/>
          <p:cNvSpPr txBox="1"/>
          <p:nvPr/>
        </p:nvSpPr>
        <p:spPr>
          <a:xfrm>
            <a:off x="7909560" y="2194560"/>
            <a:ext cx="3657600" cy="4114800"/>
          </a:xfrm>
          <a:prstGeom prst="rect">
            <a:avLst/>
          </a:prstGeom>
          <a:noFill/>
          <a:ln/>
        </p:spPr>
        <p:txBody>
          <a:bodyPr wrap="square" lIns="0" tIns="0" rIns="0" bIns="0" rtlCol="0" anchor="t"/>
          <a:lstStyle/>
          <a:p>
            <a:pPr marL="342900" indent="-342900">
              <a:spcAft>
                <a:spcPts val="900"/>
              </a:spcAft>
              <a:buSzPct val="100000"/>
              <a:buChar char="–"/>
            </a:pPr>
            <a:r>
              <a:rPr lang="en-US" sz="1050">
                <a:solidFill>
                  <a:srgbClr val="1B1F33"/>
                </a:solidFill>
                <a:latin typeface="Calibri" pitchFamily="34" charset="0"/>
                <a:ea typeface="Calibri" pitchFamily="34" charset="-122"/>
                <a:cs typeface="Calibri" pitchFamily="34" charset="-120"/>
              </a:rPr>
              <a:t>ETC (m=10,000) has the lowest regret (150.66), but its observed reward variance differs significantly from the optimal-arm reference (p=0.00), and the result relies on ideal calibration of m.</a:t>
            </a:r>
          </a:p>
          <a:p>
            <a:pPr marL="342900" indent="-342900">
              <a:spcAft>
                <a:spcPts val="900"/>
              </a:spcAft>
              <a:buSzPct val="100000"/>
              <a:buChar char="–"/>
            </a:pPr>
            <a:r>
              <a:rPr lang="en-US" sz="1050">
                <a:solidFill>
                  <a:srgbClr val="1B1F33"/>
                </a:solidFill>
                <a:latin typeface="Calibri" pitchFamily="34" charset="0"/>
                <a:ea typeface="Calibri" pitchFamily="34" charset="-122"/>
                <a:cs typeface="Calibri" pitchFamily="34" charset="-120"/>
              </a:rPr>
              <a:t>UCB-Tuned is the best untuned performer (regret 212.21); the test does not detect a variance difference from the reference (p=1.00).</a:t>
            </a:r>
          </a:p>
          <a:p>
            <a:pPr marL="342900" indent="-342900">
              <a:spcAft>
                <a:spcPts val="900"/>
              </a:spcAft>
              <a:buSzPct val="100000"/>
              <a:buChar char="–"/>
            </a:pPr>
            <a:r>
              <a:rPr lang="en-US" sz="1050">
                <a:solidFill>
                  <a:srgbClr val="1B1F33"/>
                </a:solidFill>
                <a:latin typeface="Calibri" pitchFamily="34" charset="0"/>
                <a:ea typeface="Calibri" pitchFamily="34" charset="-122"/>
                <a:cs typeface="Calibri" pitchFamily="34" charset="-120"/>
              </a:rPr>
              <a:t>Plain UCB underperforms badly (regret 1,127.17), consistent with difficulty separating the micro-gap arms without variance adaptation.</a:t>
            </a:r>
          </a:p>
          <a:p>
            <a:pPr marL="342900" indent="-342900">
              <a:spcAft>
                <a:spcPts val="900"/>
              </a:spcAft>
              <a:buSzPct val="100000"/>
              <a:buChar char="–"/>
            </a:pPr>
            <a:r>
              <a:rPr lang="en-US" sz="1050">
                <a:solidFill>
                  <a:srgbClr val="1B1F33"/>
                </a:solidFill>
                <a:latin typeface="Calibri" pitchFamily="34" charset="0"/>
                <a:ea typeface="Calibri" pitchFamily="34" charset="-122"/>
                <a:cs typeface="Calibri" pitchFamily="34" charset="-120"/>
              </a:rPr>
              <a:t>Excluded from chart for scale: Greedy(ε=0.005)=1,428.70 and UCB-Improved=2,525.00, both far worse.</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lIns="0" tIns="0" rIns="0" bIns="0" rtlCol="0" anchor="ctr"/>
          <a:lstStyle/>
          <a:p>
            <a:pPr marL="0" indent="0" algn="l">
              <a:buNone/>
            </a:pPr>
            <a:r>
              <a:rPr lang="it-IT" sz="2800" b="1">
                <a:solidFill>
                  <a:srgbClr val="1E2761"/>
                </a:solidFill>
                <a:latin typeface="Cambria" pitchFamily="34" charset="0"/>
                <a:ea typeface="Cambria" pitchFamily="34" charset="-122"/>
                <a:cs typeface="Cambria" pitchFamily="34" charset="-120"/>
              </a:rPr>
              <a:t>Results — Scenario C (Micro-Gap 2)</a:t>
            </a:r>
            <a:endParaRPr lang="en-US" sz="28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marL="0" indent="0" algn="l">
              <a:buNone/>
            </a:pPr>
            <a:r>
              <a:rPr lang="en-US" sz="1400" i="1">
                <a:solidFill>
                  <a:srgbClr val="3A4468"/>
                </a:solidFill>
                <a:latin typeface="Calibri" pitchFamily="34" charset="0"/>
                <a:ea typeface="Calibri" pitchFamily="34" charset="-122"/>
                <a:cs typeface="Calibri" pitchFamily="34" charset="-120"/>
              </a:rPr>
              <a:t>Same tiny gap (Δ=0.005), with slightly shifted Bernoulli means and variances</a:t>
            </a:r>
            <a:endParaRPr lang="en-US" sz="1400" dirty="0"/>
          </a:p>
        </p:txBody>
      </p:sp>
      <p:sp>
        <p:nvSpPr>
          <p:cNvPr id="4" name="Text 2"/>
          <p:cNvSpPr txBox="1"/>
          <p:nvPr/>
        </p:nvSpPr>
        <p:spPr>
          <a:xfrm>
            <a:off x="457200" y="6565392"/>
            <a:ext cx="8686800" cy="256032"/>
          </a:xfrm>
          <a:prstGeom prst="rect">
            <a:avLst/>
          </a:prstGeom>
          <a:noFill/>
          <a:ln/>
        </p:spPr>
        <p:txBody>
          <a:bodyPr wrap="square" lIns="0" tIns="0" rIns="0" bIns="0" rtlCol="0" anchor="ctr"/>
          <a:lstStyle/>
          <a:p>
            <a:r>
              <a:rPr lang="en-US" sz="900">
                <a:solidFill>
                  <a:srgbClr val="8A93B8"/>
                </a:solidFill>
                <a:latin typeface="Calibri" pitchFamily="34" charset="0"/>
                <a:ea typeface="Calibri" pitchFamily="34" charset="-122"/>
                <a:cs typeface="Calibri" pitchFamily="34" charset="-120"/>
              </a:rPr>
              <a:t>Group 8 | DRL Assignment Problem 1 | Variance-Aware Bandits | Sec. 4/5: Results | Slide 17 of 23</a:t>
            </a:r>
            <a:endParaRPr lang="en-US" sz="900" dirty="0"/>
          </a:p>
        </p:txBody>
      </p:sp>
      <p:graphicFrame>
        <p:nvGraphicFramePr>
          <p:cNvPr id="5" name="Chart 0"/>
          <p:cNvGraphicFramePr/>
          <p:nvPr/>
        </p:nvGraphicFramePr>
        <p:xfrm>
          <a:off x="548640" y="1600200"/>
          <a:ext cx="694944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680960" y="1600200"/>
            <a:ext cx="3931920" cy="4023360"/>
          </a:xfrm>
          <a:prstGeom prst="rect">
            <a:avLst/>
          </a:prstGeom>
          <a:solidFill>
            <a:srgbClr val="F4F6FB"/>
          </a:solidFill>
          <a:ln w="9525">
            <a:solidFill>
              <a:srgbClr val="D5DAE8"/>
            </a:solidFill>
            <a:prstDash val="solid"/>
          </a:ln>
        </p:spPr>
        <p:txBody>
          <a:bodyPr/>
          <a:lstStyle/>
          <a:p>
            <a:endParaRPr lang="en-US"/>
          </a:p>
        </p:txBody>
      </p:sp>
      <p:sp>
        <p:nvSpPr>
          <p:cNvPr id="7" name="Text 4"/>
          <p:cNvSpPr txBox="1"/>
          <p:nvPr/>
        </p:nvSpPr>
        <p:spPr>
          <a:xfrm>
            <a:off x="7909560" y="1783080"/>
            <a:ext cx="3474720" cy="365760"/>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What happened</a:t>
            </a:r>
            <a:endParaRPr lang="en-US" sz="1400" dirty="0"/>
          </a:p>
        </p:txBody>
      </p:sp>
      <p:sp>
        <p:nvSpPr>
          <p:cNvPr id="8" name="Text 5"/>
          <p:cNvSpPr txBox="1"/>
          <p:nvPr/>
        </p:nvSpPr>
        <p:spPr>
          <a:xfrm>
            <a:off x="7909560" y="2194560"/>
            <a:ext cx="3657600" cy="4114800"/>
          </a:xfrm>
          <a:prstGeom prst="rect">
            <a:avLst/>
          </a:prstGeom>
          <a:noFill/>
          <a:ln/>
        </p:spPr>
        <p:txBody>
          <a:bodyPr wrap="square" lIns="0" tIns="0" rIns="0" bIns="0" rtlCol="0" anchor="t"/>
          <a:lstStyle/>
          <a:p>
            <a:pPr marL="342900" indent="-342900">
              <a:spcAft>
                <a:spcPts val="900"/>
              </a:spcAft>
              <a:buSzPct val="100000"/>
              <a:buChar char="–"/>
            </a:pPr>
            <a:r>
              <a:rPr lang="en-US" sz="1050">
                <a:solidFill>
                  <a:srgbClr val="1B1F33"/>
                </a:solidFill>
                <a:latin typeface="Calibri" pitchFamily="34" charset="0"/>
                <a:ea typeface="Calibri" pitchFamily="34" charset="-122"/>
                <a:cs typeface="Calibri" pitchFamily="34" charset="-120"/>
              </a:rPr>
              <a:t>ETC (m=10,000) again edges out everyone (170.53), but relies on knowing the ideal exploration length in advance. UCB-Tuned substantially beats plain UCB (226.09 vs. 1,172.57), the largest gap between these two methods in the paper. Because Bernoulli mean and variance change together, this result does not isolate variance as the cause. EUCBV reaches 476.31, while UCB-Improved again performs poorly at 2,450.00.</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Cross-Scenario Trend &amp; Key Takeaways</a:t>
            </a:r>
            <a:endParaRPr lang="en-US" sz="28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marL="0" indent="0" algn="l">
              <a:buNone/>
            </a:pPr>
            <a:r>
              <a:rPr lang="en-US" sz="1400" i="1" dirty="0">
                <a:solidFill>
                  <a:srgbClr val="3A4468"/>
                </a:solidFill>
                <a:latin typeface="Calibri" pitchFamily="34" charset="0"/>
                <a:ea typeface="Calibri" pitchFamily="34" charset="-122"/>
                <a:cs typeface="Calibri" pitchFamily="34" charset="-120"/>
              </a:rPr>
              <a:t>The gap between UCB and UCB-Tuned widens as the problem gets harder</a:t>
            </a:r>
            <a:endParaRPr lang="en-US" sz="1400" dirty="0"/>
          </a:p>
        </p:txBody>
      </p:sp>
      <p:sp>
        <p:nvSpPr>
          <p:cNvPr id="4" name="Text 2"/>
          <p:cNvSpPr txBox="1"/>
          <p:nvPr/>
        </p:nvSpPr>
        <p:spPr>
          <a:xfrm>
            <a:off x="457200" y="6565392"/>
            <a:ext cx="8686800" cy="256032"/>
          </a:xfrm>
          <a:prstGeom prst="rect">
            <a:avLst/>
          </a:prstGeom>
          <a:noFill/>
          <a:ln/>
        </p:spPr>
        <p:txBody>
          <a:bodyPr wrap="square" lIns="0" tIns="0" rIns="0" bIns="0" rtlCol="0" anchor="ctr"/>
          <a:lstStyle/>
          <a:p>
            <a:r>
              <a:rPr lang="en-US" sz="900">
                <a:solidFill>
                  <a:srgbClr val="8A93B8"/>
                </a:solidFill>
                <a:latin typeface="Calibri" pitchFamily="34" charset="0"/>
                <a:ea typeface="Calibri" pitchFamily="34" charset="-122"/>
                <a:cs typeface="Calibri" pitchFamily="34" charset="-120"/>
              </a:rPr>
              <a:t>Group 8 | DRL Assignment Problem 1 | Variance-Aware Bandits | Sec. 4/5: Results | Slide 18 of 23</a:t>
            </a:r>
            <a:endParaRPr lang="en-US" sz="900" dirty="0"/>
          </a:p>
        </p:txBody>
      </p:sp>
      <p:graphicFrame>
        <p:nvGraphicFramePr>
          <p:cNvPr id="5" name="Chart 0"/>
          <p:cNvGraphicFramePr/>
          <p:nvPr/>
        </p:nvGraphicFramePr>
        <p:xfrm>
          <a:off x="548640" y="1417320"/>
          <a:ext cx="6949440" cy="28803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680960" y="1417320"/>
            <a:ext cx="3931920" cy="2880360"/>
          </a:xfrm>
          <a:prstGeom prst="rect">
            <a:avLst/>
          </a:prstGeom>
          <a:solidFill>
            <a:srgbClr val="141B45"/>
          </a:solidFill>
          <a:ln/>
        </p:spPr>
        <p:txBody>
          <a:bodyPr/>
          <a:lstStyle/>
          <a:p>
            <a:endParaRPr lang="en-US"/>
          </a:p>
        </p:txBody>
      </p:sp>
      <p:sp>
        <p:nvSpPr>
          <p:cNvPr id="7" name="Text 4"/>
          <p:cNvSpPr txBox="1"/>
          <p:nvPr/>
        </p:nvSpPr>
        <p:spPr>
          <a:xfrm>
            <a:off x="7909560" y="1554480"/>
            <a:ext cx="3474720" cy="320040"/>
          </a:xfrm>
          <a:prstGeom prst="rect">
            <a:avLst/>
          </a:prstGeom>
          <a:noFill/>
          <a:ln/>
        </p:spPr>
        <p:txBody>
          <a:bodyPr wrap="square" lIns="0" tIns="0" rIns="0" bIns="0" rtlCol="0" anchor="ctr"/>
          <a:lstStyle/>
          <a:p>
            <a:pPr marL="0" indent="0">
              <a:buNone/>
            </a:pPr>
            <a:r>
              <a:rPr lang="en-US" sz="1300" b="1" dirty="0">
                <a:solidFill>
                  <a:srgbClr val="F2A93B"/>
                </a:solidFill>
                <a:latin typeface="Cambria" pitchFamily="34" charset="0"/>
                <a:ea typeface="Cambria" pitchFamily="34" charset="-122"/>
                <a:cs typeface="Cambria" pitchFamily="34" charset="-120"/>
              </a:rPr>
              <a:t>Core insight</a:t>
            </a:r>
            <a:endParaRPr lang="en-US" sz="1300" dirty="0"/>
          </a:p>
        </p:txBody>
      </p:sp>
      <p:sp>
        <p:nvSpPr>
          <p:cNvPr id="8" name="Text 5"/>
          <p:cNvSpPr txBox="1"/>
          <p:nvPr/>
        </p:nvSpPr>
        <p:spPr>
          <a:xfrm>
            <a:off x="7909560" y="1920240"/>
            <a:ext cx="3520440" cy="2286000"/>
          </a:xfrm>
          <a:prstGeom prst="rect">
            <a:avLst/>
          </a:prstGeom>
          <a:noFill/>
          <a:ln/>
        </p:spPr>
        <p:txBody>
          <a:bodyPr wrap="square" lIns="0" tIns="0" rIns="0" bIns="0" rtlCol="0" anchor="ctr"/>
          <a:lstStyle/>
          <a:p>
            <a:pPr marL="0" indent="0">
              <a:lnSpc>
                <a:spcPct val="125000"/>
              </a:lnSpc>
              <a:buNone/>
            </a:pPr>
            <a:r>
              <a:rPr lang="en-US" sz="1100">
                <a:solidFill>
                  <a:srgbClr val="FFFFFF"/>
                </a:solidFill>
                <a:latin typeface="Calibri" pitchFamily="34" charset="0"/>
                <a:ea typeface="Calibri" pitchFamily="34" charset="-122"/>
                <a:cs typeface="Calibri" pitchFamily="34" charset="-120"/>
              </a:rPr>
              <a:t>When the gap shrinks, both methods have higher regret than in Scenario A. The stronger comparison is within each micro-gap scenario: UCB-Tuned reduces regret versus plain UCB by 81.2% in B and 80.7% in C. Tuned ETC is lower still, but only with an exploration length selected for the environment.
Computed by Group 8 from Tables 4-5; both inputs cross-checked against the author's published CSV output (full verification table on slide 13).</a:t>
            </a:r>
            <a:endParaRPr lang="en-US" sz="1150" dirty="0"/>
          </a:p>
        </p:txBody>
      </p:sp>
      <p:graphicFrame>
        <p:nvGraphicFramePr>
          <p:cNvPr id="17" name="Table 0"/>
          <p:cNvGraphicFramePr>
            <a:graphicFrameLocks noGrp="1"/>
          </p:cNvGraphicFramePr>
          <p:nvPr>
            <p:extLst>
              <p:ext uri="{D42A27DB-BD31-4B8C-83A1-F6EECF244321}">
                <p14:modId xmlns:p14="http://schemas.microsoft.com/office/powerpoint/2010/main" val="3032063682"/>
              </p:ext>
            </p:extLst>
          </p:nvPr>
        </p:nvGraphicFramePr>
        <p:xfrm>
          <a:off x="548640" y="4526280"/>
          <a:ext cx="11064240" cy="1901952"/>
        </p:xfrm>
        <a:graphic>
          <a:graphicData uri="http://schemas.openxmlformats.org/drawingml/2006/table">
            <a:tbl>
              <a:tblPr/>
              <a:tblGrid>
                <a:gridCol w="237744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5303520">
                  <a:extLst>
                    <a:ext uri="{9D8B030D-6E8A-4147-A177-3AD203B41FA5}">
                      <a16:colId xmlns:a16="http://schemas.microsoft.com/office/drawing/2014/main" val="20002"/>
                    </a:ext>
                  </a:extLst>
                </a:gridCol>
              </a:tblGrid>
              <a:tr h="475488">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E2761"/>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Best performer</a:t>
                      </a:r>
                      <a:endParaRPr lang="en-US" sz="100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E2761"/>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Why it matters</a:t>
                      </a:r>
                      <a:endParaRPr lang="en-US" sz="100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75488">
                <a:tc>
                  <a:txBody>
                    <a:bodyPr/>
                    <a:lstStyle/>
                    <a:p>
                      <a:pPr marL="0" indent="0" algn="l">
                        <a:buNone/>
                      </a:pPr>
                      <a:r>
                        <a:rPr lang="en-US" sz="1000" dirty="0">
                          <a:solidFill>
                            <a:srgbClr val="1B1F33"/>
                          </a:solidFill>
                          <a:latin typeface="Calibri" pitchFamily="34" charset="0"/>
                          <a:ea typeface="Calibri" pitchFamily="34" charset="-122"/>
                          <a:cs typeface="Calibri" pitchFamily="34" charset="-120"/>
                        </a:rPr>
                        <a:t>A — Baseline (large gap)</a:t>
                      </a:r>
                      <a:endParaRPr lang="en-US" sz="100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33"/>
                          </a:solidFill>
                          <a:latin typeface="Calibri" pitchFamily="34" charset="0"/>
                          <a:ea typeface="Calibri" pitchFamily="34" charset="-122"/>
                          <a:cs typeface="Calibri" pitchFamily="34" charset="-120"/>
                        </a:rPr>
                        <a:t>ETC (m=100), then UCB-Tuned / EUCBV</a:t>
                      </a:r>
                      <a:endParaRPr lang="en-US" sz="100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B1F33"/>
                          </a:solidFill>
                          <a:latin typeface="Calibri" pitchFamily="34" charset="0"/>
                          <a:ea typeface="Calibri" pitchFamily="34" charset="-122"/>
                          <a:cs typeface="Calibri" pitchFamily="34" charset="-120"/>
                        </a:rPr>
                        <a:t>Easy-to-tell-apart arms — simple exploitation wins.</a:t>
                      </a:r>
                      <a:endParaRPr lang="en-US" sz="100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000">
                          <a:solidFill>
                            <a:srgbClr val="1B1F33"/>
                          </a:solidFill>
                          <a:latin typeface="Calibri" pitchFamily="34" charset="0"/>
                          <a:ea typeface="Calibri" pitchFamily="34" charset="-122"/>
                          <a:cs typeface="Calibri" pitchFamily="34" charset="-120"/>
                        </a:rPr>
                        <a:t>B — Micro-Gap 1</a:t>
                      </a:r>
                      <a:endParaRPr lang="en-US" sz="100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4F6FB"/>
                    </a:solidFill>
                  </a:tcPr>
                </a:tc>
                <a:tc>
                  <a:txBody>
                    <a:bodyPr/>
                    <a:lstStyle/>
                    <a:p>
                      <a:pPr marL="0" indent="0" algn="l">
                        <a:buNone/>
                      </a:pPr>
                      <a:r>
                        <a:rPr lang="en-US" sz="1000" dirty="0">
                          <a:solidFill>
                            <a:srgbClr val="1B1F33"/>
                          </a:solidFill>
                          <a:latin typeface="Calibri" pitchFamily="34" charset="0"/>
                          <a:ea typeface="Calibri" pitchFamily="34" charset="-122"/>
                          <a:cs typeface="Calibri" pitchFamily="34" charset="-120"/>
                        </a:rPr>
                        <a:t>Heavily-tuned ETC, then UCB-Tuned</a:t>
                      </a:r>
                      <a:endParaRPr lang="en-US" sz="100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4F6FB"/>
                    </a:solidFill>
                  </a:tcPr>
                </a:tc>
                <a:tc>
                  <a:txBody>
                    <a:bodyPr/>
                    <a:lstStyle/>
                    <a:p>
                      <a:pPr marL="0" indent="0" algn="l">
                        <a:buNone/>
                      </a:pPr>
                      <a:r>
                        <a:rPr lang="en-US" sz="1000" dirty="0">
                          <a:solidFill>
                            <a:srgbClr val="1B1F33"/>
                          </a:solidFill>
                          <a:latin typeface="Calibri" pitchFamily="34" charset="0"/>
                          <a:ea typeface="Calibri" pitchFamily="34" charset="-122"/>
                          <a:cs typeface="Calibri" pitchFamily="34" charset="-120"/>
                        </a:rPr>
                        <a:t>Well-tuned brute force can still win, but needs prior knowledge.</a:t>
                      </a:r>
                      <a:endParaRPr lang="en-US" sz="100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475488">
                <a:tc>
                  <a:txBody>
                    <a:bodyPr/>
                    <a:lstStyle/>
                    <a:p>
                      <a:pPr marL="0" indent="0" algn="l">
                        <a:buNone/>
                      </a:pPr>
                      <a:r>
                        <a:rPr lang="en-US" sz="1000">
                          <a:solidFill>
                            <a:srgbClr val="1B1F33"/>
                          </a:solidFill>
                          <a:latin typeface="Calibri" pitchFamily="34" charset="0"/>
                          <a:ea typeface="Calibri" pitchFamily="34" charset="-122"/>
                          <a:cs typeface="Calibri" pitchFamily="34" charset="-120"/>
                        </a:rPr>
                        <a:t>C — Micro-Gap 2</a:t>
                      </a:r>
                      <a:endParaRPr lang="en-US" sz="100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1B1F33"/>
                          </a:solidFill>
                          <a:latin typeface="Calibri" pitchFamily="34" charset="0"/>
                          <a:ea typeface="Calibri" pitchFamily="34" charset="-122"/>
                          <a:cs typeface="Calibri" pitchFamily="34" charset="-120"/>
                        </a:rPr>
                        <a:t>ETC (m=10,000), then UCB-Tuned</a:t>
                      </a:r>
                      <a:endParaRPr lang="en-US" sz="100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marL="0" indent="0" algn="l">
                        <a:buNone/>
                      </a:pPr>
                      <a:r>
                        <a:rPr lang="en-US" sz="1000">
                          <a:solidFill>
                            <a:srgbClr val="1B1F33"/>
                          </a:solidFill>
                          <a:latin typeface="Calibri" pitchFamily="34" charset="0"/>
                          <a:ea typeface="Calibri" pitchFamily="34" charset="-122"/>
                          <a:cs typeface="Calibri" pitchFamily="34" charset="-120"/>
                        </a:rPr>
                        <a:t>UCB-Tuned is strong here, but variance is not independently controlled.</a:t>
                      </a:r>
                      <a:endParaRPr lang="en-US" sz="1000" dirty="0">
                        <a:latin typeface="Calibri" charset="0"/>
                        <a:ea typeface="Calibri" charset="0"/>
                        <a:cs typeface="Calibri" charset="0"/>
                      </a:endParaRPr>
                    </a:p>
                  </a:txBody>
                  <a:tcPr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Limitations &amp; Open Questions</a:t>
            </a:r>
            <a:endParaRPr lang="en-US" sz="28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marL="0" indent="0" algn="l">
              <a:buNone/>
            </a:pPr>
            <a:r>
              <a:rPr lang="en-US" sz="1400" i="1" dirty="0">
                <a:solidFill>
                  <a:srgbClr val="3A4468"/>
                </a:solidFill>
                <a:latin typeface="Calibri" pitchFamily="34" charset="0"/>
                <a:ea typeface="Calibri" pitchFamily="34" charset="-122"/>
                <a:cs typeface="Calibri" pitchFamily="34" charset="-120"/>
              </a:rPr>
              <a:t>As acknowledged by the authors (Section 5)</a:t>
            </a:r>
            <a:endParaRPr lang="en-US" sz="1400" dirty="0"/>
          </a:p>
        </p:txBody>
      </p:sp>
      <p:sp>
        <p:nvSpPr>
          <p:cNvPr id="4" name="Text 2"/>
          <p:cNvSpPr txBox="1"/>
          <p:nvPr/>
        </p:nvSpPr>
        <p:spPr>
          <a:xfrm>
            <a:off x="457200" y="6565392"/>
            <a:ext cx="8686800" cy="256032"/>
          </a:xfrm>
          <a:prstGeom prst="rect">
            <a:avLst/>
          </a:prstGeom>
          <a:noFill/>
          <a:ln/>
        </p:spPr>
        <p:txBody>
          <a:bodyPr wrap="square" lIns="0" tIns="0" rIns="0" bIns="0" rtlCol="0" anchor="ctr"/>
          <a:lstStyle/>
          <a:p>
            <a:r>
              <a:rPr lang="en-US" sz="900">
                <a:solidFill>
                  <a:srgbClr val="8A93B8"/>
                </a:solidFill>
                <a:latin typeface="Calibri" pitchFamily="34" charset="0"/>
                <a:ea typeface="Calibri" pitchFamily="34" charset="-122"/>
                <a:cs typeface="Calibri" pitchFamily="34" charset="-120"/>
              </a:rPr>
              <a:t>Group 8 | DRL Assignment Problem 1 | Variance-Aware Bandits | Sec. 5/5: Analysis | Slide 19 of 23</a:t>
            </a:r>
            <a:endParaRPr lang="en-US" sz="900" dirty="0"/>
          </a:p>
        </p:txBody>
      </p:sp>
      <p:sp>
        <p:nvSpPr>
          <p:cNvPr id="5" name="Text 3"/>
          <p:cNvSpPr txBox="1"/>
          <p:nvPr/>
        </p:nvSpPr>
        <p:spPr>
          <a:xfrm>
            <a:off x="731520" y="1691640"/>
            <a:ext cx="10607040" cy="4114800"/>
          </a:xfrm>
          <a:prstGeom prst="rect">
            <a:avLst/>
          </a:prstGeom>
          <a:noFill/>
          <a:ln/>
        </p:spPr>
        <p:txBody>
          <a:bodyPr wrap="square" lIns="0" tIns="0" rIns="0" bIns="0" rtlCol="0" anchor="t"/>
          <a:lstStyle/>
          <a:p>
            <a:pPr marL="342900" indent="-342900">
              <a:spcAft>
                <a:spcPts val="2000"/>
              </a:spcAft>
              <a:buSzPct val="100000"/>
              <a:buChar char="■"/>
            </a:pPr>
            <a:r>
              <a:rPr lang="en-US" sz="1400" dirty="0">
                <a:solidFill>
                  <a:srgbClr val="1B1F33"/>
                </a:solidFill>
                <a:latin typeface="Calibri" pitchFamily="34" charset="0"/>
                <a:ea typeface="Calibri" pitchFamily="34" charset="-122"/>
                <a:cs typeface="Calibri" pitchFamily="34" charset="-120"/>
              </a:rPr>
              <a:t>Two-armed focus — the framework supports up to three arms, but only two-armed settings were actually tested.</a:t>
            </a:r>
            <a:endParaRPr lang="en-US" sz="1400" dirty="0"/>
          </a:p>
          <a:p>
            <a:pPr marL="342900" indent="-342900">
              <a:spcAft>
                <a:spcPts val="2000"/>
              </a:spcAft>
              <a:buSzPct val="100000"/>
              <a:buChar char="■"/>
            </a:pPr>
            <a:r>
              <a:rPr lang="en-US" sz="1400" dirty="0">
                <a:solidFill>
                  <a:srgbClr val="1B1F33"/>
                </a:solidFill>
                <a:latin typeface="Calibri" pitchFamily="34" charset="0"/>
                <a:ea typeface="Calibri" pitchFamily="34" charset="-122"/>
                <a:cs typeface="Calibri" pitchFamily="34" charset="-120"/>
              </a:rPr>
              <a:t>Stationary, binary rewards only — all experiments use i.i.d. Bernoulli rewards; no non-stationarity or richer reward types.</a:t>
            </a:r>
            <a:endParaRPr lang="en-US" sz="1400" dirty="0"/>
          </a:p>
          <a:p>
            <a:pPr marL="342900" indent="-342900">
              <a:spcAft>
                <a:spcPts val="2000"/>
              </a:spcAft>
              <a:buSzPct val="100000"/>
              <a:buChar char="■"/>
            </a:pPr>
            <a:r>
              <a:rPr lang="en-US" sz="1400" dirty="0">
                <a:solidFill>
                  <a:srgbClr val="1B1F33"/>
                </a:solidFill>
                <a:latin typeface="Calibri" pitchFamily="34" charset="0"/>
                <a:ea typeface="Calibri" pitchFamily="34" charset="-122"/>
                <a:cs typeface="Calibri" pitchFamily="34" charset="-120"/>
              </a:rPr>
              <a:t>No delayed or contextual rewards — real-world settings often involve delayed feedback or context-dependent arms, both untested here.</a:t>
            </a:r>
            <a:endParaRPr lang="en-US" sz="1400" dirty="0"/>
          </a:p>
          <a:p>
            <a:pPr marL="342900" indent="-342900">
              <a:spcAft>
                <a:spcPts val="2000"/>
              </a:spcAft>
              <a:buSzPct val="100000"/>
              <a:buChar char="■"/>
            </a:pPr>
            <a:r>
              <a:rPr lang="en-US" sz="1400" dirty="0">
                <a:solidFill>
                  <a:srgbClr val="1B1F33"/>
                </a:solidFill>
                <a:latin typeface="Calibri" pitchFamily="34" charset="0"/>
                <a:ea typeface="Calibri" pitchFamily="34" charset="-122"/>
                <a:cs typeface="Calibri" pitchFamily="34" charset="-120"/>
              </a:rPr>
              <a:t>Limited hyperparameter search — compute and data-volume constraints ruled out large-scale tuning sweeps.</a:t>
            </a:r>
            <a:endParaRPr lang="en-US" sz="1400" dirty="0"/>
          </a:p>
          <a:p>
            <a:pPr marL="342900" indent="-342900">
              <a:spcAft>
                <a:spcPts val="2000"/>
              </a:spcAft>
              <a:buSzPct val="100000"/>
              <a:buChar char="■"/>
            </a:pPr>
            <a:r>
              <a:rPr lang="en-US" sz="1400" dirty="0">
                <a:solidFill>
                  <a:srgbClr val="1B1F33"/>
                </a:solidFill>
                <a:latin typeface="Calibri" pitchFamily="34" charset="0"/>
                <a:ea typeface="Calibri" pitchFamily="34" charset="-122"/>
                <a:cs typeface="Calibri" pitchFamily="34" charset="-120"/>
              </a:rPr>
              <a:t>Runtime / sample-complexity trade-offs unexamined — the paper does not analyze computational cost versus sample efficiency in depth.</a:t>
            </a:r>
            <a:endParaRPr lang="en-US" sz="1400" dirty="0"/>
          </a:p>
          <a:p>
            <a:pPr marL="342900" indent="-342900">
              <a:spcAft>
                <a:spcPts val="2000"/>
              </a:spcAft>
              <a:buSzPct val="100000"/>
              <a:buChar char="■"/>
            </a:pPr>
            <a:r>
              <a:rPr lang="en-US" sz="1400" dirty="0">
                <a:solidFill>
                  <a:srgbClr val="1B1F33"/>
                </a:solidFill>
                <a:latin typeface="Calibri" pitchFamily="34" charset="0"/>
                <a:ea typeface="Calibri" pitchFamily="34" charset="-122"/>
                <a:cs typeface="Calibri" pitchFamily="34" charset="-120"/>
              </a:rPr>
              <a:t>No applied-domain validation — all results are on synthetic Bernoulli environments; no real-world deployment tested.</a:t>
            </a:r>
            <a:endParaRPr lang="en-US" sz="1400" dirty="0"/>
          </a:p>
        </p:txBody>
      </p:sp>
      <p:sp>
        <p:nvSpPr>
          <p:cNvPr id="6" name="Text 4"/>
          <p:cNvSpPr txBox="1"/>
          <p:nvPr/>
        </p:nvSpPr>
        <p:spPr>
          <a:xfrm>
            <a:off x="731520" y="5989320"/>
            <a:ext cx="10607040" cy="457200"/>
          </a:xfrm>
          <a:prstGeom prst="rect">
            <a:avLst/>
          </a:prstGeom>
          <a:noFill/>
          <a:ln/>
        </p:spPr>
        <p:txBody>
          <a:bodyPr wrap="square" lIns="0" tIns="0" rIns="0" bIns="0" rtlCol="0" anchor="ctr"/>
          <a:lstStyle/>
          <a:p>
            <a:pPr marL="0" indent="0">
              <a:buNone/>
            </a:pPr>
            <a:r>
              <a:rPr lang="en-US" sz="1150" i="1" dirty="0">
                <a:solidFill>
                  <a:srgbClr val="3A4468"/>
                </a:solidFill>
                <a:latin typeface="Calibri" pitchFamily="34" charset="0"/>
                <a:ea typeface="Calibri" pitchFamily="34" charset="-122"/>
                <a:cs typeface="Calibri" pitchFamily="34" charset="-120"/>
              </a:rPr>
              <a:t>The authors frame these as threats to external generalizability rather than internal consistency of their findings.</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41E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10896"/>
            <a:ext cx="11100816" cy="475488"/>
          </a:xfrm>
          <a:prstGeom prst="rect">
            <a:avLst/>
          </a:prstGeom>
          <a:noFill/>
        </p:spPr>
        <p:txBody>
          <a:bodyPr wrap="square" lIns="0" tIns="0" rIns="0" bIns="0">
            <a:spAutoFit/>
          </a:bodyPr>
          <a:lstStyle/>
          <a:p>
            <a:pPr algn="l"/>
            <a:r>
              <a:rPr sz="2600" b="1" i="0">
                <a:solidFill>
                  <a:srgbClr val="FFFFFF"/>
                </a:solidFill>
                <a:latin typeface="Georgia"/>
              </a:rPr>
              <a:t>Akash Choudhury — Working and Source</a:t>
            </a:r>
          </a:p>
        </p:txBody>
      </p:sp>
      <p:sp>
        <p:nvSpPr>
          <p:cNvPr id="4" name="TextBox 3"/>
          <p:cNvSpPr txBox="1"/>
          <p:nvPr/>
        </p:nvSpPr>
        <p:spPr>
          <a:xfrm>
            <a:off x="548640" y="896112"/>
            <a:ext cx="11100816" cy="310896"/>
          </a:xfrm>
          <a:prstGeom prst="rect">
            <a:avLst/>
          </a:prstGeom>
          <a:noFill/>
        </p:spPr>
        <p:txBody>
          <a:bodyPr wrap="square" lIns="0" tIns="0" rIns="0" bIns="0">
            <a:spAutoFit/>
          </a:bodyPr>
          <a:lstStyle/>
          <a:p>
            <a:pPr algn="l"/>
            <a:r>
              <a:rPr sz="1150" b="0" i="0">
                <a:solidFill>
                  <a:srgbClr val="CDD6F1"/>
                </a:solidFill>
                <a:latin typeface="Aptos"/>
              </a:rPr>
              <a:t>Bernoulli mean and variance are coupled — and our hand calculation reproduces the paper's own printed figure.</a:t>
            </a:r>
          </a:p>
        </p:txBody>
      </p:sp>
      <p:sp>
        <p:nvSpPr>
          <p:cNvPr id="5" name="Rounded Rectangle 4"/>
          <p:cNvSpPr/>
          <p:nvPr/>
        </p:nvSpPr>
        <p:spPr>
          <a:xfrm>
            <a:off x="548640" y="1325880"/>
            <a:ext cx="6400800" cy="449884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463039"/>
            <a:ext cx="5998464" cy="237744"/>
          </a:xfrm>
          <a:prstGeom prst="rect">
            <a:avLst/>
          </a:prstGeom>
          <a:noFill/>
        </p:spPr>
        <p:txBody>
          <a:bodyPr wrap="square" lIns="0" tIns="0" rIns="0" bIns="0">
            <a:spAutoFit/>
          </a:bodyPr>
          <a:lstStyle/>
          <a:p>
            <a:pPr algn="l"/>
            <a:r>
              <a:rPr sz="1000" b="1" i="0">
                <a:solidFill>
                  <a:srgbClr val="1F3570"/>
                </a:solidFill>
                <a:latin typeface="Aptos"/>
              </a:rPr>
              <a:t>Paper source — Wolf (2025), Section 4.3, p.10</a:t>
            </a:r>
          </a:p>
        </p:txBody>
      </p:sp>
      <p:pic>
        <p:nvPicPr>
          <p:cNvPr id="7" name="Picture 6" descr="s43.png"/>
          <p:cNvPicPr>
            <a:picLocks noChangeAspect="1"/>
          </p:cNvPicPr>
          <p:nvPr/>
        </p:nvPicPr>
        <p:blipFill>
          <a:blip r:embed="rId3"/>
          <a:stretch>
            <a:fillRect/>
          </a:stretch>
        </p:blipFill>
        <p:spPr>
          <a:xfrm>
            <a:off x="731520" y="1746504"/>
            <a:ext cx="6035040" cy="1322284"/>
          </a:xfrm>
          <a:prstGeom prst="rect">
            <a:avLst/>
          </a:prstGeom>
        </p:spPr>
      </p:pic>
      <p:sp>
        <p:nvSpPr>
          <p:cNvPr id="8" name="TextBox 7"/>
          <p:cNvSpPr txBox="1"/>
          <p:nvPr/>
        </p:nvSpPr>
        <p:spPr>
          <a:xfrm>
            <a:off x="749808" y="3215092"/>
            <a:ext cx="5998464" cy="274320"/>
          </a:xfrm>
          <a:prstGeom prst="rect">
            <a:avLst/>
          </a:prstGeom>
          <a:noFill/>
        </p:spPr>
        <p:txBody>
          <a:bodyPr wrap="square" lIns="0" tIns="0" rIns="0" bIns="0">
            <a:spAutoFit/>
          </a:bodyPr>
          <a:lstStyle/>
          <a:p>
            <a:pPr algn="l"/>
            <a:r>
              <a:rPr sz="950" b="1" i="0">
                <a:solidFill>
                  <a:srgbClr val="1F3570"/>
                </a:solidFill>
                <a:latin typeface="Aptos"/>
              </a:rPr>
              <a:t>Baseline reward variance 93,975 — reproduced by hand on the right.</a:t>
            </a:r>
          </a:p>
        </p:txBody>
      </p:sp>
      <p:sp>
        <p:nvSpPr>
          <p:cNvPr id="9" name="Rounded Rectangle 8"/>
          <p:cNvSpPr/>
          <p:nvPr/>
        </p:nvSpPr>
        <p:spPr>
          <a:xfrm>
            <a:off x="7251192" y="1325880"/>
            <a:ext cx="4389120" cy="4498848"/>
          </a:xfrm>
          <a:prstGeom prst="roundRect">
            <a:avLst/>
          </a:prstGeom>
          <a:solidFill>
            <a:srgbClr val="141E49"/>
          </a:solidFill>
          <a:ln w="15875">
            <a:solidFill>
              <a:srgbClr val="F4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6565392"/>
            <a:ext cx="8686800" cy="256032"/>
          </a:xfrm>
          <a:prstGeom prst="rect">
            <a:avLst/>
          </a:prstGeom>
          <a:noFill/>
        </p:spPr>
        <p:txBody>
          <a:bodyPr wrap="square" lIns="0" tIns="0" rIns="0" bIns="0">
            <a:spAutoFit/>
          </a:bodyPr>
          <a:lstStyle/>
          <a:p>
            <a:pPr algn="l"/>
            <a:r>
              <a:rPr sz="900" b="0" i="0">
                <a:solidFill>
                  <a:srgbClr val="8894B0"/>
                </a:solidFill>
                <a:latin typeface="Calibri"/>
              </a:rPr>
              <a:t>Group 8 | DRL Assignment Problem 1 | Variance-Aware Bandits | Sec. 5/5: Analysis | Slide 20 of 23</a:t>
            </a:r>
          </a:p>
        </p:txBody>
      </p:sp>
      <p:sp>
        <p:nvSpPr>
          <p:cNvPr id="15" name="TextBox 14">
            <a:extLst>
              <a:ext uri="{FF2B5EF4-FFF2-40B4-BE49-F238E27FC236}">
                <a16:creationId xmlns:a16="http://schemas.microsoft.com/office/drawing/2014/main" id="{D136EF04-6A76-BFAB-AEDC-CF93697540F4}"/>
              </a:ext>
            </a:extLst>
          </p:cNvPr>
          <p:cNvSpPr txBox="1"/>
          <p:nvPr/>
        </p:nvSpPr>
        <p:spPr>
          <a:xfrm>
            <a:off x="9652000" y="6454073"/>
            <a:ext cx="2540000" cy="374461"/>
          </a:xfrm>
          <a:prstGeom prst="rect">
            <a:avLst/>
          </a:prstGeom>
          <a:solidFill>
            <a:srgbClr val="223975"/>
          </a:solidFill>
        </p:spPr>
        <p:txBody>
          <a:bodyPr vert="horz" wrap="square" lIns="76200" tIns="25400" rIns="76200" bIns="12700" rtlCol="0">
            <a:noAutofit/>
          </a:bodyPr>
          <a:lstStyle/>
          <a:p>
            <a:pPr algn="ctr"/>
            <a:r>
              <a:rPr lang="en-US" sz="800" b="1" dirty="0">
                <a:solidFill>
                  <a:srgbClr val="FFFFFF"/>
                </a:solidFill>
                <a:latin typeface="Aptos" panose="020B0004020202020204" pitchFamily="34" charset="0"/>
              </a:rPr>
              <a:t>Contributor: Akash Choudhury</a:t>
            </a:r>
          </a:p>
        </p:txBody>
      </p:sp>
      <p:pic>
        <p:nvPicPr>
          <p:cNvPr id="16" name="Picture 15" descr="akash.jpg"/>
          <p:cNvPicPr>
            <a:picLocks noChangeAspect="1"/>
          </p:cNvPicPr>
          <p:nvPr/>
        </p:nvPicPr>
        <p:blipFill>
          <a:blip r:embed="rId4"/>
          <a:stretch>
            <a:fillRect/>
          </a:stretch>
        </p:blipFill>
        <p:spPr>
          <a:xfrm>
            <a:off x="7883895" y="1453895"/>
            <a:ext cx="3123712" cy="424281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141B45"/>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Critical Reflection &amp; Future Work</a:t>
            </a:r>
            <a:endParaRPr lang="en-US" sz="28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marL="0" indent="0" algn="l">
              <a:buNone/>
            </a:pPr>
            <a:r>
              <a:rPr lang="en-US" sz="1400" i="1" dirty="0">
                <a:solidFill>
                  <a:srgbClr val="CADCFC"/>
                </a:solidFill>
                <a:latin typeface="Calibri" pitchFamily="34" charset="0"/>
                <a:ea typeface="Calibri" pitchFamily="34" charset="-122"/>
                <a:cs typeface="Calibri" pitchFamily="34" charset="-120"/>
              </a:rPr>
              <a:t>Our group's assessment of impact, and where this research could go next</a:t>
            </a:r>
            <a:endParaRPr lang="en-US" sz="1400" dirty="0"/>
          </a:p>
        </p:txBody>
      </p:sp>
      <p:sp>
        <p:nvSpPr>
          <p:cNvPr id="4" name="Text 2"/>
          <p:cNvSpPr txBox="1"/>
          <p:nvPr/>
        </p:nvSpPr>
        <p:spPr>
          <a:xfrm>
            <a:off x="457200" y="6565392"/>
            <a:ext cx="8686800" cy="256032"/>
          </a:xfrm>
          <a:prstGeom prst="rect">
            <a:avLst/>
          </a:prstGeom>
          <a:noFill/>
          <a:ln/>
        </p:spPr>
        <p:txBody>
          <a:bodyPr wrap="square" lIns="0" tIns="0" rIns="0" bIns="0" rtlCol="0" anchor="ctr"/>
          <a:lstStyle/>
          <a:p>
            <a:r>
              <a:rPr lang="en-US" sz="900">
                <a:solidFill>
                  <a:srgbClr val="8A93B8"/>
                </a:solidFill>
                <a:latin typeface="Calibri" pitchFamily="34" charset="0"/>
                <a:ea typeface="Calibri" pitchFamily="34" charset="-122"/>
                <a:cs typeface="Calibri" pitchFamily="34" charset="-120"/>
              </a:rPr>
              <a:t>Group 8 | DRL Assignment Problem 1 | Variance-Aware Bandits | Sec. 5/5: Analysis | Slide 21 of 23</a:t>
            </a:r>
            <a:endParaRPr lang="en-US" sz="900" dirty="0"/>
          </a:p>
        </p:txBody>
      </p:sp>
      <p:sp>
        <p:nvSpPr>
          <p:cNvPr id="5" name="Text 3"/>
          <p:cNvSpPr txBox="1"/>
          <p:nvPr/>
        </p:nvSpPr>
        <p:spPr>
          <a:xfrm>
            <a:off x="640080" y="1600200"/>
            <a:ext cx="5212080" cy="365760"/>
          </a:xfrm>
          <a:prstGeom prst="rect">
            <a:avLst/>
          </a:prstGeom>
          <a:noFill/>
          <a:ln/>
        </p:spPr>
        <p:txBody>
          <a:bodyPr wrap="square" lIns="0" tIns="0" rIns="0" bIns="0" rtlCol="0" anchor="ctr"/>
          <a:lstStyle/>
          <a:p>
            <a:pPr marL="0" indent="0">
              <a:buNone/>
            </a:pPr>
            <a:r>
              <a:rPr lang="en-US" sz="1500" b="1" dirty="0">
                <a:solidFill>
                  <a:srgbClr val="F2A93B"/>
                </a:solidFill>
                <a:latin typeface="Cambria" pitchFamily="34" charset="0"/>
                <a:ea typeface="Cambria" pitchFamily="34" charset="-122"/>
                <a:cs typeface="Cambria" pitchFamily="34" charset="-120"/>
              </a:rPr>
              <a:t>Our Critique</a:t>
            </a:r>
            <a:endParaRPr lang="en-US" sz="1500" dirty="0"/>
          </a:p>
        </p:txBody>
      </p:sp>
      <p:sp>
        <p:nvSpPr>
          <p:cNvPr id="6" name="Text 4"/>
          <p:cNvSpPr txBox="1"/>
          <p:nvPr/>
        </p:nvSpPr>
        <p:spPr>
          <a:xfrm>
            <a:off x="640080" y="2011680"/>
            <a:ext cx="5212080" cy="4114800"/>
          </a:xfrm>
          <a:prstGeom prst="rect">
            <a:avLst/>
          </a:prstGeom>
          <a:noFill/>
          <a:ln/>
        </p:spPr>
        <p:txBody>
          <a:bodyPr wrap="square" lIns="0" tIns="0" rIns="0" bIns="0" rtlCol="0" anchor="t"/>
          <a:lstStyle/>
          <a:p>
            <a:pPr marL="342900" indent="-342900">
              <a:spcAft>
                <a:spcPts val="1400"/>
              </a:spcAft>
              <a:buSzPct val="100000"/>
              <a:buChar char="→"/>
            </a:pPr>
            <a:r>
              <a:rPr lang="en-US" sz="1150" dirty="0">
                <a:solidFill>
                  <a:srgbClr val="FFFFFF"/>
                </a:solidFill>
                <a:latin typeface="Calibri" pitchFamily="34" charset="0"/>
                <a:ea typeface="Calibri" pitchFamily="34" charset="-122"/>
                <a:cs typeface="Calibri" pitchFamily="34" charset="-120"/>
              </a:rPr>
              <a:t>The paper's real contribution is methodological, not algorithmic — a fair-comparison protocol matters more for the field's credibility than one more bandit variant.</a:t>
            </a:r>
            <a:endParaRPr lang="en-US" sz="1150" dirty="0"/>
          </a:p>
          <a:p>
            <a:pPr marL="342900" indent="-342900">
              <a:spcAft>
                <a:spcPts val="1400"/>
              </a:spcAft>
              <a:buSzPct val="100000"/>
              <a:buChar char="→"/>
            </a:pPr>
            <a:r>
              <a:rPr lang="en-US" sz="1150" dirty="0">
                <a:solidFill>
                  <a:srgbClr val="FFFFFF"/>
                </a:solidFill>
                <a:latin typeface="Calibri" pitchFamily="34" charset="0"/>
                <a:ea typeface="Calibri" pitchFamily="34" charset="-122"/>
                <a:cs typeface="Calibri" pitchFamily="34" charset="-120"/>
              </a:rPr>
              <a:t>“Best-tuned ETC wins” is a fragile headline: it depends on knowing parameters unavailable in real deployments, so untuned methods like UCB-Tuned are arguably more meaningful winners.</a:t>
            </a:r>
            <a:endParaRPr lang="en-US" sz="1150" dirty="0"/>
          </a:p>
          <a:p>
            <a:pPr marL="342900" indent="-342900">
              <a:spcAft>
                <a:spcPts val="1400"/>
              </a:spcAft>
              <a:buSzPct val="100000"/>
              <a:buChar char="→"/>
            </a:pPr>
            <a:r>
              <a:rPr lang="en-US" sz="1150" dirty="0">
                <a:solidFill>
                  <a:srgbClr val="FFFFFF"/>
                </a:solidFill>
                <a:latin typeface="Calibri" pitchFamily="34" charset="0"/>
                <a:ea typeface="Calibri" pitchFamily="34" charset="-122"/>
                <a:cs typeface="Calibri" pitchFamily="34" charset="-120"/>
              </a:rPr>
              <a:t>The three-armed capability is built into the framework but never evaluated — a missed chance to demonstrate it scales beyond two arms.</a:t>
            </a:r>
            <a:endParaRPr lang="en-US" sz="1150" dirty="0"/>
          </a:p>
          <a:p>
            <a:pPr marL="342900" indent="-342900">
              <a:spcAft>
                <a:spcPts val="1400"/>
              </a:spcAft>
              <a:buSzPct val="100000"/>
              <a:buChar char="→"/>
            </a:pPr>
            <a:r>
              <a:rPr lang="en-US" sz="1150" dirty="0">
                <a:solidFill>
                  <a:srgbClr val="FFFFFF"/>
                </a:solidFill>
                <a:latin typeface="Calibri" pitchFamily="34" charset="0"/>
                <a:ea typeface="Calibri" pitchFamily="34" charset="-122"/>
                <a:cs typeface="Calibri" pitchFamily="34" charset="-120"/>
              </a:rPr>
              <a:t>The chi-square variance test is a nice rigor touch, but the paper doesn't report confidence intervals on regret itself.</a:t>
            </a:r>
            <a:endParaRPr lang="en-US" sz="1150" dirty="0"/>
          </a:p>
        </p:txBody>
      </p:sp>
      <p:sp>
        <p:nvSpPr>
          <p:cNvPr id="7" name="Shape 5"/>
          <p:cNvSpPr/>
          <p:nvPr/>
        </p:nvSpPr>
        <p:spPr>
          <a:xfrm>
            <a:off x="6080760" y="1600200"/>
            <a:ext cx="15240" cy="2827449"/>
          </a:xfrm>
          <a:prstGeom prst="line">
            <a:avLst/>
          </a:prstGeom>
          <a:noFill/>
          <a:ln w="12700">
            <a:solidFill>
              <a:srgbClr val="3A447A"/>
            </a:solidFill>
            <a:prstDash val="solid"/>
          </a:ln>
        </p:spPr>
        <p:txBody>
          <a:bodyPr/>
          <a:lstStyle/>
          <a:p>
            <a:endParaRPr lang="en-US"/>
          </a:p>
        </p:txBody>
      </p:sp>
      <p:sp>
        <p:nvSpPr>
          <p:cNvPr id="8" name="Text 6"/>
          <p:cNvSpPr txBox="1"/>
          <p:nvPr/>
        </p:nvSpPr>
        <p:spPr>
          <a:xfrm>
            <a:off x="6309360" y="1600200"/>
            <a:ext cx="5212080" cy="365760"/>
          </a:xfrm>
          <a:prstGeom prst="rect">
            <a:avLst/>
          </a:prstGeom>
          <a:noFill/>
          <a:ln/>
        </p:spPr>
        <p:txBody>
          <a:bodyPr wrap="square" lIns="0" tIns="0" rIns="0" bIns="0" rtlCol="0" anchor="ctr"/>
          <a:lstStyle/>
          <a:p>
            <a:pPr marL="0" indent="0">
              <a:buNone/>
            </a:pPr>
            <a:r>
              <a:rPr lang="en-US" sz="1500" b="1" dirty="0">
                <a:solidFill>
                  <a:srgbClr val="F2A93B"/>
                </a:solidFill>
                <a:latin typeface="Cambria" pitchFamily="34" charset="0"/>
                <a:ea typeface="Cambria" pitchFamily="34" charset="-122"/>
                <a:cs typeface="Cambria" pitchFamily="34" charset="-120"/>
              </a:rPr>
              <a:t>Future Work</a:t>
            </a:r>
            <a:endParaRPr lang="en-US" sz="1500" dirty="0"/>
          </a:p>
        </p:txBody>
      </p:sp>
      <p:sp>
        <p:nvSpPr>
          <p:cNvPr id="9" name="Text 7"/>
          <p:cNvSpPr txBox="1"/>
          <p:nvPr/>
        </p:nvSpPr>
        <p:spPr>
          <a:xfrm>
            <a:off x="6309360" y="2011680"/>
            <a:ext cx="5212080" cy="4114800"/>
          </a:xfrm>
          <a:prstGeom prst="rect">
            <a:avLst/>
          </a:prstGeom>
          <a:noFill/>
          <a:ln/>
        </p:spPr>
        <p:txBody>
          <a:bodyPr wrap="square" lIns="0" tIns="0" rIns="0" bIns="0" rtlCol="0" anchor="t"/>
          <a:lstStyle/>
          <a:p>
            <a:pPr marL="342900" indent="-342900">
              <a:spcAft>
                <a:spcPts val="1400"/>
              </a:spcAft>
              <a:buSzPct val="100000"/>
              <a:buChar char="→"/>
            </a:pPr>
            <a:r>
              <a:rPr lang="en-US" sz="1150" dirty="0">
                <a:solidFill>
                  <a:srgbClr val="FFFFFF"/>
                </a:solidFill>
                <a:latin typeface="Calibri" pitchFamily="34" charset="0"/>
                <a:ea typeface="Calibri" pitchFamily="34" charset="-122"/>
                <a:cs typeface="Calibri" pitchFamily="34" charset="-120"/>
              </a:rPr>
              <a:t>Non-stationary &amp; contextual bandits — real applications (recommenders, clinical trials) rarely have fixed, context-free reward distributions.</a:t>
            </a:r>
            <a:endParaRPr lang="en-US" sz="1150" dirty="0"/>
          </a:p>
          <a:p>
            <a:pPr marL="342900" indent="-342900">
              <a:spcAft>
                <a:spcPts val="1400"/>
              </a:spcAft>
              <a:buSzPct val="100000"/>
              <a:buChar char="→"/>
            </a:pPr>
            <a:r>
              <a:rPr lang="en-US" sz="1150" dirty="0">
                <a:solidFill>
                  <a:srgbClr val="FFFFFF"/>
                </a:solidFill>
                <a:latin typeface="Calibri" pitchFamily="34" charset="0"/>
                <a:ea typeface="Calibri" pitchFamily="34" charset="-122"/>
                <a:cs typeface="Calibri" pitchFamily="34" charset="-120"/>
              </a:rPr>
              <a:t>Runtime &amp; sample-complexity analysis — practitioners need to weigh compute cost against regret reduction, not just final regret.</a:t>
            </a:r>
            <a:endParaRPr lang="en-US" sz="1150" dirty="0"/>
          </a:p>
          <a:p>
            <a:pPr marL="342900" indent="-342900">
              <a:spcAft>
                <a:spcPts val="1400"/>
              </a:spcAft>
              <a:buSzPct val="100000"/>
              <a:buChar char="→"/>
            </a:pPr>
            <a:r>
              <a:rPr lang="en-US" sz="1150" dirty="0">
                <a:solidFill>
                  <a:srgbClr val="FFFFFF"/>
                </a:solidFill>
                <a:latin typeface="Calibri" pitchFamily="34" charset="0"/>
                <a:ea typeface="Calibri" pitchFamily="34" charset="-122"/>
                <a:cs typeface="Calibri" pitchFamily="34" charset="-120"/>
              </a:rPr>
              <a:t>Applied-domain validation — testing on a real dataset would establish external validity beyond synthetic Bernoulli arms.</a:t>
            </a:r>
            <a:endParaRPr lang="en-US" sz="1150" dirty="0"/>
          </a:p>
          <a:p>
            <a:pPr marL="342900" indent="-342900">
              <a:spcAft>
                <a:spcPts val="1400"/>
              </a:spcAft>
              <a:buSzPct val="100000"/>
              <a:buChar char="→"/>
            </a:pPr>
            <a:r>
              <a:rPr lang="en-US" sz="1150" dirty="0">
                <a:solidFill>
                  <a:srgbClr val="FFFFFF"/>
                </a:solidFill>
                <a:latin typeface="Calibri" pitchFamily="34" charset="0"/>
                <a:ea typeface="Calibri" pitchFamily="34" charset="-122"/>
                <a:cs typeface="Calibri" pitchFamily="34" charset="-120"/>
              </a:rPr>
              <a:t>Full three-armed (or K-armed) evaluation — would demonstrate the framework's claimed scalability in practice.</a:t>
            </a:r>
            <a:endParaRPr lang="en-US" sz="1150" dirty="0"/>
          </a:p>
        </p:txBody>
      </p:sp>
      <p:sp>
        <p:nvSpPr>
          <p:cNvPr id="11" name="TextBox 10">
            <a:extLst>
              <a:ext uri="{FF2B5EF4-FFF2-40B4-BE49-F238E27FC236}">
                <a16:creationId xmlns:a16="http://schemas.microsoft.com/office/drawing/2014/main" id="{40717039-F73E-A196-C59F-45E995B693C7}"/>
              </a:ext>
            </a:extLst>
          </p:cNvPr>
          <p:cNvSpPr txBox="1"/>
          <p:nvPr/>
        </p:nvSpPr>
        <p:spPr>
          <a:xfrm>
            <a:off x="9652000" y="6475603"/>
            <a:ext cx="2540000" cy="374461"/>
          </a:xfrm>
          <a:prstGeom prst="rect">
            <a:avLst/>
          </a:prstGeom>
          <a:solidFill>
            <a:srgbClr val="223975"/>
          </a:solidFill>
        </p:spPr>
        <p:txBody>
          <a:bodyPr vert="horz" wrap="square" lIns="76200" tIns="25400" rIns="76200" bIns="12700" rtlCol="0">
            <a:noAutofit/>
          </a:bodyPr>
          <a:lstStyle/>
          <a:p>
            <a:pPr algn="ctr"/>
            <a:r>
              <a:rPr lang="en-US" sz="800" b="1">
                <a:solidFill>
                  <a:srgbClr val="FFFFFF"/>
                </a:solidFill>
                <a:latin typeface="Aptos" panose="020B0004020202020204" pitchFamily="34" charset="0"/>
              </a:rPr>
              <a:t>Contributor: Akash Choudhury</a:t>
            </a:r>
          </a:p>
        </p:txBody>
      </p:sp>
      <p:sp>
        <p:nvSpPr>
          <p:cNvPr id="13" name="Text 0">
            <a:extLst>
              <a:ext uri="{FF2B5EF4-FFF2-40B4-BE49-F238E27FC236}">
                <a16:creationId xmlns:a16="http://schemas.microsoft.com/office/drawing/2014/main" id="{73AA4FC6-24F3-4431-7B2A-43F54AD60D0D}"/>
              </a:ext>
            </a:extLst>
          </p:cNvPr>
          <p:cNvSpPr txBox="1"/>
          <p:nvPr/>
        </p:nvSpPr>
        <p:spPr>
          <a:xfrm>
            <a:off x="457200" y="4427649"/>
            <a:ext cx="11064240" cy="640080"/>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Conclusion </a:t>
            </a:r>
            <a:endParaRPr lang="en-US" sz="2800" dirty="0"/>
          </a:p>
        </p:txBody>
      </p:sp>
      <p:sp>
        <p:nvSpPr>
          <p:cNvPr id="15" name="Text 2">
            <a:extLst>
              <a:ext uri="{FF2B5EF4-FFF2-40B4-BE49-F238E27FC236}">
                <a16:creationId xmlns:a16="http://schemas.microsoft.com/office/drawing/2014/main" id="{6AEE61EE-D18B-B061-3C49-CCFF8E7FC4EC}"/>
              </a:ext>
            </a:extLst>
          </p:cNvPr>
          <p:cNvSpPr txBox="1"/>
          <p:nvPr/>
        </p:nvSpPr>
        <p:spPr>
          <a:xfrm>
            <a:off x="457200" y="4950174"/>
            <a:ext cx="11064240" cy="1051560"/>
          </a:xfrm>
          <a:prstGeom prst="rect">
            <a:avLst/>
          </a:prstGeom>
          <a:noFill/>
          <a:ln/>
        </p:spPr>
        <p:txBody>
          <a:bodyPr wrap="square" lIns="0" tIns="0" rIns="0" bIns="0" rtlCol="0" anchor="ctr"/>
          <a:lstStyle/>
          <a:p>
            <a:pPr marL="0" indent="0">
              <a:lnSpc>
                <a:spcPct val="130000"/>
              </a:lnSpc>
              <a:buNone/>
            </a:pPr>
            <a:r>
              <a:rPr lang="en-US" sz="1350" dirty="0">
                <a:solidFill>
                  <a:srgbClr val="FFFFFF"/>
                </a:solidFill>
                <a:latin typeface="Calibri" pitchFamily="34" charset="0"/>
                <a:ea typeface="Calibri" pitchFamily="34" charset="-122"/>
                <a:cs typeface="Calibri" pitchFamily="34" charset="-120"/>
              </a:rPr>
              <a:t>The Bandit Playground shows that UCB-Tuned is a strong untuned choice in the tested low-gap Bernoulli settings, while correctly tuned ETC achieves the lowest regret. Because Bernoulli means and variances are coupled, the results do not establish variance as the causal driver. The paper's lasting contribution is a reproducible framework for making such comparisons fairly.</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141B45"/>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References</a:t>
            </a:r>
            <a:endParaRPr lang="en-US" sz="2800" dirty="0"/>
          </a:p>
        </p:txBody>
      </p:sp>
      <p:sp>
        <p:nvSpPr>
          <p:cNvPr id="3" name="Text 1"/>
          <p:cNvSpPr txBox="1"/>
          <p:nvPr/>
        </p:nvSpPr>
        <p:spPr>
          <a:xfrm>
            <a:off x="457200" y="6565392"/>
            <a:ext cx="8686800" cy="256032"/>
          </a:xfrm>
          <a:prstGeom prst="rect">
            <a:avLst/>
          </a:prstGeom>
          <a:noFill/>
          <a:ln/>
        </p:spPr>
        <p:txBody>
          <a:bodyPr wrap="square" lIns="0" tIns="0" rIns="0" bIns="0" rtlCol="0" anchor="ctr"/>
          <a:lstStyle/>
          <a:p>
            <a:r>
              <a:rPr lang="en-US" sz="900">
                <a:solidFill>
                  <a:srgbClr val="8A93B8"/>
                </a:solidFill>
                <a:latin typeface="Calibri" pitchFamily="34" charset="0"/>
                <a:ea typeface="Calibri" pitchFamily="34" charset="-122"/>
                <a:cs typeface="Calibri" pitchFamily="34" charset="-120"/>
              </a:rPr>
              <a:t>Group 8 | DRL Assignment Problem 1 | Variance-Aware Bandits | Sec. 5/5: Analysis | Slide 22 of 23</a:t>
            </a:r>
            <a:endParaRPr lang="en-US" sz="900" dirty="0"/>
          </a:p>
        </p:txBody>
      </p:sp>
      <p:sp>
        <p:nvSpPr>
          <p:cNvPr id="5" name="Shape 3"/>
          <p:cNvSpPr/>
          <p:nvPr/>
        </p:nvSpPr>
        <p:spPr>
          <a:xfrm>
            <a:off x="457200" y="5736566"/>
            <a:ext cx="11064240" cy="0"/>
          </a:xfrm>
          <a:prstGeom prst="line">
            <a:avLst/>
          </a:prstGeom>
          <a:noFill/>
          <a:ln w="12700">
            <a:solidFill>
              <a:srgbClr val="3A447A"/>
            </a:solidFill>
            <a:prstDash val="solid"/>
          </a:ln>
        </p:spPr>
        <p:txBody>
          <a:bodyPr/>
          <a:lstStyle/>
          <a:p>
            <a:endParaRPr lang="en-US"/>
          </a:p>
        </p:txBody>
      </p:sp>
      <p:sp>
        <p:nvSpPr>
          <p:cNvPr id="6" name="Text 4"/>
          <p:cNvSpPr txBox="1"/>
          <p:nvPr/>
        </p:nvSpPr>
        <p:spPr>
          <a:xfrm>
            <a:off x="548640" y="2926080"/>
            <a:ext cx="5486400" cy="320040"/>
          </a:xfrm>
          <a:prstGeom prst="rect">
            <a:avLst/>
          </a:prstGeom>
          <a:noFill/>
          <a:ln/>
        </p:spPr>
        <p:txBody>
          <a:bodyPr wrap="square" lIns="0" tIns="0" rIns="0" bIns="0" rtlCol="0" anchor="ctr"/>
          <a:lstStyle/>
          <a:p>
            <a:pPr marL="0" indent="0">
              <a:buNone/>
            </a:pPr>
            <a:endParaRPr lang="en-US" sz="1400" dirty="0"/>
          </a:p>
        </p:txBody>
      </p:sp>
      <p:sp>
        <p:nvSpPr>
          <p:cNvPr id="7" name="Text 5"/>
          <p:cNvSpPr txBox="1"/>
          <p:nvPr/>
        </p:nvSpPr>
        <p:spPr>
          <a:xfrm>
            <a:off x="548640" y="1097289"/>
            <a:ext cx="10698480" cy="36576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  Wolf, E. (2025). A Framework for Fair Evaluation of Variance-Aware Bandit Algorithms. </a:t>
            </a:r>
            <a:r>
              <a:rPr lang="en-US" sz="1200" dirty="0">
                <a:solidFill>
                  <a:srgbClr val="CADCFC"/>
                </a:solidFill>
                <a:latin typeface="Calibri" pitchFamily="34" charset="0"/>
                <a:ea typeface="Calibri" pitchFamily="34" charset="-122"/>
                <a:cs typeface="Calibri" pitchFamily="34" charset="-120"/>
                <a:hlinkClick r:id="rId3"/>
              </a:rPr>
              <a:t>arXiv:2510.27001</a:t>
            </a:r>
            <a:r>
              <a:rPr lang="en-US" sz="1200" dirty="0">
                <a:solidFill>
                  <a:srgbClr val="CADCFC"/>
                </a:solidFill>
                <a:latin typeface="Calibri" pitchFamily="34" charset="0"/>
                <a:ea typeface="Calibri" pitchFamily="34" charset="-122"/>
                <a:cs typeface="Calibri" pitchFamily="34" charset="-120"/>
              </a:rPr>
              <a:t>.</a:t>
            </a:r>
            <a:endParaRPr lang="en-US" sz="1200" dirty="0"/>
          </a:p>
        </p:txBody>
      </p:sp>
      <p:sp>
        <p:nvSpPr>
          <p:cNvPr id="8" name="Text 6"/>
          <p:cNvSpPr txBox="1"/>
          <p:nvPr/>
        </p:nvSpPr>
        <p:spPr>
          <a:xfrm>
            <a:off x="548640" y="1589607"/>
            <a:ext cx="10698480" cy="36576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  Auer, Cesa-Bianchi &amp; Fischer (2002). Finite-time analysis of the multi-armed bandit problem.</a:t>
            </a:r>
            <a:endParaRPr lang="en-US" sz="1200" dirty="0"/>
          </a:p>
        </p:txBody>
      </p:sp>
      <p:sp>
        <p:nvSpPr>
          <p:cNvPr id="9" name="Text 7"/>
          <p:cNvSpPr txBox="1"/>
          <p:nvPr/>
        </p:nvSpPr>
        <p:spPr>
          <a:xfrm>
            <a:off x="548640" y="2137628"/>
            <a:ext cx="10698480" cy="36576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  Audibert, Munos &amp; Szepesvári (2009). Exploration–exploitation tradeoff using variance estimates.</a:t>
            </a:r>
            <a:endParaRPr lang="en-US" sz="1200" dirty="0"/>
          </a:p>
        </p:txBody>
      </p:sp>
      <p:sp>
        <p:nvSpPr>
          <p:cNvPr id="10" name="Text 8"/>
          <p:cNvSpPr txBox="1"/>
          <p:nvPr/>
        </p:nvSpPr>
        <p:spPr>
          <a:xfrm>
            <a:off x="548640" y="2692824"/>
            <a:ext cx="10698480" cy="36576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  Mukherjee et al. (2017). Efficient-UCBV: An almost optimal algorithm using variance estimates.</a:t>
            </a:r>
            <a:endParaRPr lang="en-US" sz="1200" dirty="0"/>
          </a:p>
        </p:txBody>
      </p:sp>
      <p:sp>
        <p:nvSpPr>
          <p:cNvPr id="11" name="Text 9"/>
          <p:cNvSpPr txBox="1"/>
          <p:nvPr/>
        </p:nvSpPr>
        <p:spPr>
          <a:xfrm>
            <a:off x="548640" y="3211183"/>
            <a:ext cx="10698480" cy="36576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  Lattimore &amp; Szepesvári (2020). Bandit Algorithms. Cambridge University Press.</a:t>
            </a:r>
            <a:endParaRPr lang="en-US" sz="1200" dirty="0"/>
          </a:p>
        </p:txBody>
      </p:sp>
      <p:sp>
        <p:nvSpPr>
          <p:cNvPr id="12" name="Text 10"/>
          <p:cNvSpPr txBox="1"/>
          <p:nvPr/>
        </p:nvSpPr>
        <p:spPr>
          <a:xfrm>
            <a:off x="548640" y="3757356"/>
            <a:ext cx="10698480" cy="36576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  Sutton &amp; Barto (2018). Reinforcement Learning: An Introduction. MIT Press.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41E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10896"/>
            <a:ext cx="11100816" cy="475488"/>
          </a:xfrm>
          <a:prstGeom prst="rect">
            <a:avLst/>
          </a:prstGeom>
          <a:noFill/>
        </p:spPr>
        <p:txBody>
          <a:bodyPr wrap="square" lIns="0" tIns="0" rIns="0" bIns="0">
            <a:spAutoFit/>
          </a:bodyPr>
          <a:lstStyle/>
          <a:p>
            <a:pPr algn="l"/>
            <a:r>
              <a:rPr sz="2600" b="1" i="0">
                <a:solidFill>
                  <a:srgbClr val="FFFFFF"/>
                </a:solidFill>
                <a:latin typeface="Georgia"/>
              </a:rPr>
              <a:t>Proof of Work — Sources and Links</a:t>
            </a:r>
          </a:p>
        </p:txBody>
      </p:sp>
      <p:sp>
        <p:nvSpPr>
          <p:cNvPr id="4" name="TextBox 3"/>
          <p:cNvSpPr txBox="1"/>
          <p:nvPr/>
        </p:nvSpPr>
        <p:spPr>
          <a:xfrm>
            <a:off x="548640" y="896112"/>
            <a:ext cx="11100816" cy="310896"/>
          </a:xfrm>
          <a:prstGeom prst="rect">
            <a:avLst/>
          </a:prstGeom>
          <a:noFill/>
        </p:spPr>
        <p:txBody>
          <a:bodyPr wrap="square" lIns="0" tIns="0" rIns="0" bIns="0">
            <a:spAutoFit/>
          </a:bodyPr>
          <a:lstStyle/>
          <a:p>
            <a:pPr algn="l"/>
            <a:r>
              <a:rPr sz="1200" b="0" i="0">
                <a:solidFill>
                  <a:srgbClr val="CDD6F1"/>
                </a:solidFill>
                <a:latin typeface="Aptos"/>
              </a:rPr>
              <a:t>Everything behind this analysis, in one place, so any figure in this deck can be checked at source.</a:t>
            </a:r>
          </a:p>
        </p:txBody>
      </p:sp>
      <p:sp>
        <p:nvSpPr>
          <p:cNvPr id="5" name="Rounded Rectangle 4"/>
          <p:cNvSpPr/>
          <p:nvPr/>
        </p:nvSpPr>
        <p:spPr>
          <a:xfrm>
            <a:off x="548640" y="1444752"/>
            <a:ext cx="11091672" cy="694944"/>
          </a:xfrm>
          <a:prstGeom prst="roundRect">
            <a:avLst/>
          </a:prstGeom>
          <a:solidFill>
            <a:srgbClr val="1F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545336"/>
            <a:ext cx="2377440" cy="237744"/>
          </a:xfrm>
          <a:prstGeom prst="rect">
            <a:avLst/>
          </a:prstGeom>
          <a:noFill/>
        </p:spPr>
        <p:txBody>
          <a:bodyPr wrap="square" lIns="0" tIns="0" rIns="0" bIns="0">
            <a:spAutoFit/>
          </a:bodyPr>
          <a:lstStyle/>
          <a:p>
            <a:pPr algn="l"/>
            <a:r>
              <a:rPr sz="1100" b="1" i="0">
                <a:solidFill>
                  <a:srgbClr val="F4A623"/>
                </a:solidFill>
                <a:latin typeface="Aptos"/>
              </a:rPr>
              <a:t>Research paper</a:t>
            </a:r>
          </a:p>
        </p:txBody>
      </p:sp>
      <p:sp>
        <p:nvSpPr>
          <p:cNvPr id="7" name="TextBox 6"/>
          <p:cNvSpPr txBox="1"/>
          <p:nvPr/>
        </p:nvSpPr>
        <p:spPr>
          <a:xfrm>
            <a:off x="3154680" y="1545336"/>
            <a:ext cx="8229600" cy="237744"/>
          </a:xfrm>
          <a:prstGeom prst="rect">
            <a:avLst/>
          </a:prstGeom>
          <a:noFill/>
        </p:spPr>
        <p:txBody>
          <a:bodyPr wrap="square" lIns="0" tIns="0" rIns="0" bIns="0">
            <a:spAutoFit/>
          </a:bodyPr>
          <a:lstStyle/>
          <a:p>
            <a:pPr algn="l"/>
            <a:r>
              <a:rPr sz="1000" b="0" i="0">
                <a:solidFill>
                  <a:srgbClr val="CDD6F1"/>
                </a:solidFill>
                <a:latin typeface="Aptos"/>
              </a:rPr>
              <a:t>Wolf, E. (2025). A Framework for Fair Evaluation of Variance-Aware Bandit Algorithms</a:t>
            </a:r>
          </a:p>
        </p:txBody>
      </p:sp>
      <p:sp>
        <p:nvSpPr>
          <p:cNvPr id="8" name="TextBox 7"/>
          <p:cNvSpPr txBox="1"/>
          <p:nvPr/>
        </p:nvSpPr>
        <p:spPr>
          <a:xfrm>
            <a:off x="3154680" y="1810512"/>
            <a:ext cx="8229600" cy="256032"/>
          </a:xfrm>
          <a:prstGeom prst="rect">
            <a:avLst/>
          </a:prstGeom>
          <a:noFill/>
        </p:spPr>
        <p:txBody>
          <a:bodyPr wrap="square" lIns="0" tIns="0" rIns="0" bIns="0">
            <a:spAutoFit/>
          </a:bodyPr>
          <a:lstStyle/>
          <a:p>
            <a:pPr algn="l"/>
            <a:r>
              <a:rPr sz="1050" b="0" i="0">
                <a:solidFill>
                  <a:srgbClr val="FFFFFF"/>
                </a:solidFill>
                <a:latin typeface="Consolas"/>
                <a:hlinkClick r:id="rId3"/>
              </a:rPr>
              <a:t>arxiv.org/abs/2510.27001</a:t>
            </a:r>
          </a:p>
        </p:txBody>
      </p:sp>
      <p:sp>
        <p:nvSpPr>
          <p:cNvPr id="9" name="Rounded Rectangle 8"/>
          <p:cNvSpPr/>
          <p:nvPr/>
        </p:nvSpPr>
        <p:spPr>
          <a:xfrm>
            <a:off x="548640" y="2240280"/>
            <a:ext cx="11091672" cy="694944"/>
          </a:xfrm>
          <a:prstGeom prst="roundRect">
            <a:avLst/>
          </a:prstGeom>
          <a:solidFill>
            <a:srgbClr val="1F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2340864"/>
            <a:ext cx="2377440" cy="237744"/>
          </a:xfrm>
          <a:prstGeom prst="rect">
            <a:avLst/>
          </a:prstGeom>
          <a:noFill/>
        </p:spPr>
        <p:txBody>
          <a:bodyPr wrap="square" lIns="0" tIns="0" rIns="0" bIns="0">
            <a:spAutoFit/>
          </a:bodyPr>
          <a:lstStyle/>
          <a:p>
            <a:pPr algn="l"/>
            <a:r>
              <a:rPr sz="1100" b="1" i="0">
                <a:solidFill>
                  <a:srgbClr val="F4A623"/>
                </a:solidFill>
                <a:latin typeface="Aptos"/>
              </a:rPr>
              <a:t>Author's codebase</a:t>
            </a:r>
          </a:p>
        </p:txBody>
      </p:sp>
      <p:sp>
        <p:nvSpPr>
          <p:cNvPr id="11" name="TextBox 10"/>
          <p:cNvSpPr txBox="1"/>
          <p:nvPr/>
        </p:nvSpPr>
        <p:spPr>
          <a:xfrm>
            <a:off x="3154680" y="2340864"/>
            <a:ext cx="8229600" cy="237744"/>
          </a:xfrm>
          <a:prstGeom prst="rect">
            <a:avLst/>
          </a:prstGeom>
          <a:noFill/>
        </p:spPr>
        <p:txBody>
          <a:bodyPr wrap="square" lIns="0" tIns="0" rIns="0" bIns="0">
            <a:spAutoFit/>
          </a:bodyPr>
          <a:lstStyle/>
          <a:p>
            <a:pPr algn="l"/>
            <a:r>
              <a:rPr sz="1000" b="0" i="0">
                <a:solidFill>
                  <a:srgbClr val="CDD6F1"/>
                </a:solidFill>
                <a:latin typeface="Aptos"/>
              </a:rPr>
              <a:t>The Bandit Playground — algorithms, configuration and all simulation output</a:t>
            </a:r>
          </a:p>
        </p:txBody>
      </p:sp>
      <p:sp>
        <p:nvSpPr>
          <p:cNvPr id="12" name="TextBox 11"/>
          <p:cNvSpPr txBox="1"/>
          <p:nvPr/>
        </p:nvSpPr>
        <p:spPr>
          <a:xfrm>
            <a:off x="3154680" y="2606040"/>
            <a:ext cx="8229600" cy="256032"/>
          </a:xfrm>
          <a:prstGeom prst="rect">
            <a:avLst/>
          </a:prstGeom>
          <a:noFill/>
        </p:spPr>
        <p:txBody>
          <a:bodyPr wrap="square" lIns="0" tIns="0" rIns="0" bIns="0">
            <a:spAutoFit/>
          </a:bodyPr>
          <a:lstStyle/>
          <a:p>
            <a:pPr algn="l"/>
            <a:r>
              <a:rPr sz="1050" b="0" i="0">
                <a:solidFill>
                  <a:srgbClr val="FFFFFF"/>
                </a:solidFill>
                <a:latin typeface="Consolas"/>
                <a:hlinkClick r:id="rId4"/>
              </a:rPr>
              <a:t>github.com/eelisee/bandit_playground</a:t>
            </a:r>
            <a:r>
              <a:rPr sz="1050" b="0" i="0">
                <a:solidFill>
                  <a:srgbClr val="FFFFFF"/>
                </a:solidFill>
                <a:latin typeface="Consolas"/>
              </a:rPr>
              <a:t>  (branch v1.0-SKILL2025)</a:t>
            </a:r>
          </a:p>
        </p:txBody>
      </p:sp>
      <p:sp>
        <p:nvSpPr>
          <p:cNvPr id="13" name="Rounded Rectangle 12"/>
          <p:cNvSpPr/>
          <p:nvPr/>
        </p:nvSpPr>
        <p:spPr>
          <a:xfrm>
            <a:off x="548640" y="3035808"/>
            <a:ext cx="11091672" cy="694944"/>
          </a:xfrm>
          <a:prstGeom prst="roundRect">
            <a:avLst/>
          </a:prstGeom>
          <a:solidFill>
            <a:srgbClr val="1F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3136392"/>
            <a:ext cx="2377440" cy="237744"/>
          </a:xfrm>
          <a:prstGeom prst="rect">
            <a:avLst/>
          </a:prstGeom>
          <a:noFill/>
        </p:spPr>
        <p:txBody>
          <a:bodyPr wrap="square" lIns="0" tIns="0" rIns="0" bIns="0">
            <a:spAutoFit/>
          </a:bodyPr>
          <a:lstStyle/>
          <a:p>
            <a:pPr algn="l"/>
            <a:r>
              <a:rPr sz="1100" b="1" i="0">
                <a:solidFill>
                  <a:srgbClr val="F4A623"/>
                </a:solidFill>
                <a:latin typeface="Aptos"/>
              </a:rPr>
              <a:t>Our verification repo</a:t>
            </a:r>
          </a:p>
        </p:txBody>
      </p:sp>
      <p:sp>
        <p:nvSpPr>
          <p:cNvPr id="15" name="TextBox 14"/>
          <p:cNvSpPr txBox="1"/>
          <p:nvPr/>
        </p:nvSpPr>
        <p:spPr>
          <a:xfrm>
            <a:off x="3154680" y="3136392"/>
            <a:ext cx="8229600" cy="237744"/>
          </a:xfrm>
          <a:prstGeom prst="rect">
            <a:avLst/>
          </a:prstGeom>
          <a:noFill/>
        </p:spPr>
        <p:txBody>
          <a:bodyPr wrap="square" lIns="0" tIns="0" rIns="0" bIns="0">
            <a:spAutoFit/>
          </a:bodyPr>
          <a:lstStyle/>
          <a:p>
            <a:pPr algn="l"/>
            <a:r>
              <a:rPr sz="1000" b="0" i="0">
                <a:solidFill>
                  <a:srgbClr val="CDD6F1"/>
                </a:solidFill>
                <a:latin typeface="Aptos"/>
              </a:rPr>
              <a:t>Our check script, notebook, generated output and handwritten working</a:t>
            </a:r>
          </a:p>
        </p:txBody>
      </p:sp>
      <p:sp>
        <p:nvSpPr>
          <p:cNvPr id="16" name="TextBox 15"/>
          <p:cNvSpPr txBox="1"/>
          <p:nvPr/>
        </p:nvSpPr>
        <p:spPr>
          <a:xfrm>
            <a:off x="3154680" y="3401568"/>
            <a:ext cx="8229600" cy="256032"/>
          </a:xfrm>
          <a:prstGeom prst="rect">
            <a:avLst/>
          </a:prstGeom>
          <a:noFill/>
        </p:spPr>
        <p:txBody>
          <a:bodyPr wrap="square" lIns="0" tIns="0" rIns="0" bIns="0">
            <a:spAutoFit/>
          </a:bodyPr>
          <a:lstStyle/>
          <a:p>
            <a:pPr algn="l"/>
            <a:r>
              <a:rPr sz="1050" b="0" i="0" dirty="0">
                <a:solidFill>
                  <a:srgbClr val="FFFFFF"/>
                </a:solidFill>
                <a:latin typeface="Consolas"/>
                <a:hlinkClick r:id="rId5"/>
              </a:rPr>
              <a:t>github.com/CSB-sys/drl-group8-bandit-analysis</a:t>
            </a:r>
          </a:p>
        </p:txBody>
      </p:sp>
      <p:sp>
        <p:nvSpPr>
          <p:cNvPr id="17" name="Rounded Rectangle 16"/>
          <p:cNvSpPr/>
          <p:nvPr/>
        </p:nvSpPr>
        <p:spPr>
          <a:xfrm>
            <a:off x="548640" y="3831336"/>
            <a:ext cx="11091672" cy="694944"/>
          </a:xfrm>
          <a:prstGeom prst="roundRect">
            <a:avLst/>
          </a:prstGeom>
          <a:solidFill>
            <a:srgbClr val="1F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3931920"/>
            <a:ext cx="2377440" cy="237744"/>
          </a:xfrm>
          <a:prstGeom prst="rect">
            <a:avLst/>
          </a:prstGeom>
          <a:noFill/>
        </p:spPr>
        <p:txBody>
          <a:bodyPr wrap="square" lIns="0" tIns="0" rIns="0" bIns="0">
            <a:spAutoFit/>
          </a:bodyPr>
          <a:lstStyle/>
          <a:p>
            <a:pPr algn="l"/>
            <a:r>
              <a:rPr sz="1100" b="1" i="0">
                <a:solidFill>
                  <a:srgbClr val="F4A623"/>
                </a:solidFill>
                <a:latin typeface="Aptos"/>
              </a:rPr>
              <a:t>Executable verification</a:t>
            </a:r>
          </a:p>
        </p:txBody>
      </p:sp>
      <p:sp>
        <p:nvSpPr>
          <p:cNvPr id="19" name="TextBox 18"/>
          <p:cNvSpPr txBox="1"/>
          <p:nvPr/>
        </p:nvSpPr>
        <p:spPr>
          <a:xfrm>
            <a:off x="3154680" y="3931920"/>
            <a:ext cx="8229600" cy="237744"/>
          </a:xfrm>
          <a:prstGeom prst="rect">
            <a:avLst/>
          </a:prstGeom>
          <a:noFill/>
        </p:spPr>
        <p:txBody>
          <a:bodyPr wrap="square" lIns="0" tIns="0" rIns="0" bIns="0">
            <a:spAutoFit/>
          </a:bodyPr>
          <a:lstStyle/>
          <a:p>
            <a:pPr algn="l"/>
            <a:r>
              <a:rPr sz="1000" b="0" i="0">
                <a:solidFill>
                  <a:srgbClr val="CDD6F1"/>
                </a:solidFill>
                <a:latin typeface="Aptos"/>
              </a:rPr>
              <a:t>Group 8 notebook, run in Google Colab — all checks passed, 11/11 values matched</a:t>
            </a:r>
          </a:p>
        </p:txBody>
      </p:sp>
      <p:sp>
        <p:nvSpPr>
          <p:cNvPr id="20" name="TextBox 19"/>
          <p:cNvSpPr txBox="1"/>
          <p:nvPr/>
        </p:nvSpPr>
        <p:spPr>
          <a:xfrm>
            <a:off x="3154680" y="4197096"/>
            <a:ext cx="8229600" cy="256032"/>
          </a:xfrm>
          <a:prstGeom prst="rect">
            <a:avLst/>
          </a:prstGeom>
          <a:noFill/>
        </p:spPr>
        <p:txBody>
          <a:bodyPr wrap="square" lIns="0" tIns="0" rIns="0" bIns="0">
            <a:spAutoFit/>
          </a:bodyPr>
          <a:lstStyle/>
          <a:p>
            <a:pPr algn="l"/>
            <a:r>
              <a:rPr sz="1050" b="0" i="0">
                <a:solidFill>
                  <a:srgbClr val="FFFFFF"/>
                </a:solidFill>
                <a:latin typeface="Consolas"/>
                <a:hlinkClick r:id="rId6"/>
              </a:rPr>
              <a:t>https://colab.research.google.com/drive/12wYpQO9rKBayrKtyaUzfeYI8mZ7LpP2X?usp=sharing</a:t>
            </a:r>
          </a:p>
        </p:txBody>
      </p:sp>
      <p:sp>
        <p:nvSpPr>
          <p:cNvPr id="21" name="Rounded Rectangle 20"/>
          <p:cNvSpPr/>
          <p:nvPr/>
        </p:nvSpPr>
        <p:spPr>
          <a:xfrm>
            <a:off x="548640" y="4626864"/>
            <a:ext cx="11091672" cy="694944"/>
          </a:xfrm>
          <a:prstGeom prst="roundRect">
            <a:avLst/>
          </a:prstGeom>
          <a:solidFill>
            <a:srgbClr val="1F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7240" y="4727448"/>
            <a:ext cx="2377440" cy="237744"/>
          </a:xfrm>
          <a:prstGeom prst="rect">
            <a:avLst/>
          </a:prstGeom>
          <a:noFill/>
        </p:spPr>
        <p:txBody>
          <a:bodyPr wrap="square" lIns="0" tIns="0" rIns="0" bIns="0">
            <a:spAutoFit/>
          </a:bodyPr>
          <a:lstStyle/>
          <a:p>
            <a:pPr algn="l"/>
            <a:r>
              <a:rPr sz="1100" b="1" i="0">
                <a:solidFill>
                  <a:srgbClr val="F4A623"/>
                </a:solidFill>
                <a:latin typeface="Aptos"/>
              </a:rPr>
              <a:t>Handwritten working</a:t>
            </a:r>
          </a:p>
        </p:txBody>
      </p:sp>
      <p:sp>
        <p:nvSpPr>
          <p:cNvPr id="23" name="TextBox 22"/>
          <p:cNvSpPr txBox="1"/>
          <p:nvPr/>
        </p:nvSpPr>
        <p:spPr>
          <a:xfrm>
            <a:off x="3154680" y="4727448"/>
            <a:ext cx="8229600" cy="237744"/>
          </a:xfrm>
          <a:prstGeom prst="rect">
            <a:avLst/>
          </a:prstGeom>
          <a:noFill/>
        </p:spPr>
        <p:txBody>
          <a:bodyPr wrap="square" lIns="0" tIns="0" rIns="0" bIns="0">
            <a:spAutoFit/>
          </a:bodyPr>
          <a:lstStyle/>
          <a:p>
            <a:pPr algn="l"/>
            <a:r>
              <a:rPr sz="1000" b="0" i="0">
                <a:solidFill>
                  <a:srgbClr val="CDD6F1"/>
                </a:solidFill>
                <a:latin typeface="Aptos"/>
              </a:rPr>
              <a:t>One sheet per contributor, photographed — /handwritten in our repository</a:t>
            </a:r>
          </a:p>
        </p:txBody>
      </p:sp>
      <p:sp>
        <p:nvSpPr>
          <p:cNvPr id="24" name="TextBox 23"/>
          <p:cNvSpPr txBox="1"/>
          <p:nvPr/>
        </p:nvSpPr>
        <p:spPr>
          <a:xfrm>
            <a:off x="3154680" y="4992624"/>
            <a:ext cx="8229600" cy="256032"/>
          </a:xfrm>
          <a:prstGeom prst="rect">
            <a:avLst/>
          </a:prstGeom>
          <a:noFill/>
        </p:spPr>
        <p:txBody>
          <a:bodyPr wrap="square" lIns="0" tIns="0" rIns="0" bIns="0">
            <a:spAutoFit/>
          </a:bodyPr>
          <a:lstStyle/>
          <a:p>
            <a:pPr algn="l"/>
            <a:r>
              <a:rPr sz="1050" b="0" i="0">
                <a:solidFill>
                  <a:srgbClr val="FFFFFF"/>
                </a:solidFill>
                <a:latin typeface="Consolas"/>
                <a:hlinkClick r:id="rId7"/>
              </a:rPr>
              <a:t>github.com/CSB-sys/drl-group8-bandit-analysis/tree/main/handwritten</a:t>
            </a:r>
          </a:p>
        </p:txBody>
      </p:sp>
      <p:sp>
        <p:nvSpPr>
          <p:cNvPr id="25" name="Rounded Rectangle 24"/>
          <p:cNvSpPr/>
          <p:nvPr/>
        </p:nvSpPr>
        <p:spPr>
          <a:xfrm>
            <a:off x="548640" y="5422392"/>
            <a:ext cx="11091672" cy="694944"/>
          </a:xfrm>
          <a:prstGeom prst="roundRect">
            <a:avLst/>
          </a:prstGeom>
          <a:solidFill>
            <a:srgbClr val="1F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7240" y="5522976"/>
            <a:ext cx="2377440" cy="237744"/>
          </a:xfrm>
          <a:prstGeom prst="rect">
            <a:avLst/>
          </a:prstGeom>
          <a:noFill/>
        </p:spPr>
        <p:txBody>
          <a:bodyPr wrap="square" lIns="0" tIns="0" rIns="0" bIns="0">
            <a:spAutoFit/>
          </a:bodyPr>
          <a:lstStyle/>
          <a:p>
            <a:pPr algn="l"/>
            <a:r>
              <a:rPr sz="1100" b="1" i="0">
                <a:solidFill>
                  <a:srgbClr val="F4A623"/>
                </a:solidFill>
                <a:latin typeface="Aptos"/>
              </a:rPr>
              <a:t>Video recording</a:t>
            </a:r>
          </a:p>
        </p:txBody>
      </p:sp>
      <p:sp>
        <p:nvSpPr>
          <p:cNvPr id="27" name="TextBox 26"/>
          <p:cNvSpPr txBox="1"/>
          <p:nvPr/>
        </p:nvSpPr>
        <p:spPr>
          <a:xfrm>
            <a:off x="3154680" y="5522976"/>
            <a:ext cx="8229600" cy="237744"/>
          </a:xfrm>
          <a:prstGeom prst="rect">
            <a:avLst/>
          </a:prstGeom>
          <a:noFill/>
        </p:spPr>
        <p:txBody>
          <a:bodyPr wrap="square" lIns="0" tIns="0" rIns="0" bIns="0">
            <a:spAutoFit/>
          </a:bodyPr>
          <a:lstStyle/>
          <a:p>
            <a:pPr algn="l"/>
            <a:r>
              <a:rPr sz="1000" b="0" i="0">
                <a:solidFill>
                  <a:srgbClr val="CDD6F1"/>
                </a:solidFill>
                <a:latin typeface="Aptos"/>
              </a:rPr>
              <a:t>This presentation, recorded by all four contributors</a:t>
            </a:r>
          </a:p>
        </p:txBody>
      </p:sp>
      <p:sp>
        <p:nvSpPr>
          <p:cNvPr id="28" name="TextBox 27"/>
          <p:cNvSpPr txBox="1"/>
          <p:nvPr/>
        </p:nvSpPr>
        <p:spPr>
          <a:xfrm>
            <a:off x="3154680" y="5788152"/>
            <a:ext cx="8229600" cy="323165"/>
          </a:xfrm>
          <a:prstGeom prst="rect">
            <a:avLst/>
          </a:prstGeom>
          <a:noFill/>
        </p:spPr>
        <p:txBody>
          <a:bodyPr wrap="square" lIns="0" tIns="0" rIns="0" bIns="0">
            <a:spAutoFit/>
          </a:bodyPr>
          <a:lstStyle/>
          <a:p>
            <a:r>
              <a:rPr lang="en-IN" sz="1050" dirty="0">
                <a:hlinkClick r:id="rId8"/>
              </a:rPr>
              <a:t>https://drive.google.com/file/d/1SuPXFjT0oDmU_ZsAzD_fhdtOoxTqMz7e/view?usp=sharing</a:t>
            </a:r>
            <a:endParaRPr lang="en-IN" sz="1050" dirty="0"/>
          </a:p>
          <a:p>
            <a:endParaRPr sz="1050" b="0" i="0" dirty="0">
              <a:solidFill>
                <a:srgbClr val="FFFFFF"/>
              </a:solidFill>
              <a:latin typeface="Consolas"/>
            </a:endParaRPr>
          </a:p>
        </p:txBody>
      </p:sp>
      <p:sp>
        <p:nvSpPr>
          <p:cNvPr id="30" name="TextBox 29"/>
          <p:cNvSpPr txBox="1"/>
          <p:nvPr/>
        </p:nvSpPr>
        <p:spPr>
          <a:xfrm>
            <a:off x="457200" y="6565392"/>
            <a:ext cx="8686800" cy="256032"/>
          </a:xfrm>
          <a:prstGeom prst="rect">
            <a:avLst/>
          </a:prstGeom>
          <a:noFill/>
        </p:spPr>
        <p:txBody>
          <a:bodyPr wrap="square" lIns="0" tIns="0" rIns="0" bIns="0">
            <a:spAutoFit/>
          </a:bodyPr>
          <a:lstStyle/>
          <a:p>
            <a:pPr algn="l"/>
            <a:r>
              <a:rPr sz="900" b="0" i="0">
                <a:solidFill>
                  <a:srgbClr val="8894B0"/>
                </a:solidFill>
                <a:latin typeface="Calibri"/>
              </a:rPr>
              <a:t>Group 8 | DRL Assignment Problem 1 | Variance-Aware Bandits | Proof of work index | Slide 23 of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4A623"/>
      </a:hlink>
      <a:folHlink>
        <a:srgbClr val="F4A623"/>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4A623"/>
      </a:hlink>
      <a:folHlink>
        <a:srgbClr val="F4A62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TotalTime>
  <Words>3775</Words>
  <Application>Microsoft Office PowerPoint</Application>
  <PresentationFormat>Widescreen</PresentationFormat>
  <Paragraphs>347</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Aptos</vt:lpstr>
      <vt:lpstr>Arial</vt:lpstr>
      <vt:lpstr>Calibri</vt:lpstr>
      <vt:lpstr>Cambria</vt:lpstr>
      <vt:lpstr>Consolas</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Framework for Fair Evaluation of Variance-Aware Bandit Algorithms</dc:title>
  <dc:subject>DRL Assignment Problem I</dc:subject>
  <dc:creator>Group 8</dc:creator>
  <cp:keywords/>
  <dc:description/>
  <cp:lastModifiedBy>CHANDAN SINGH BAGHEL .</cp:lastModifiedBy>
  <cp:revision>12</cp:revision>
  <dcterms:created xsi:type="dcterms:W3CDTF">2026-10-06T19:32:23Z</dcterms:created>
  <dcterms:modified xsi:type="dcterms:W3CDTF">2026-10-10T18:05:50Z</dcterms:modified>
</cp:coreProperties>
</file>